
<file path=[Content_Types].xml><?xml version="1.0" encoding="utf-8"?>
<Types xmlns="http://schemas.openxmlformats.org/package/2006/content-types">
  <Default ContentType="image/png" Extension="png"/>
  <Default ContentType="application/vnd.openxmlformats-package.relationships+xml" Extension="rels"/>
  <Default ContentType="application/xml" Extension="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Master+xml" PartName="/ppt/slideMasters/slideMaster1.xml"/>
  <Override ContentType="application/vnd.openxmlformats-officedocument.presentationml.slideMaster+xml" PartName="/ppt/slideMasters/slideMaster2.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core.xml" Type="http://schemas.openxmlformats.org/package/2006/relationships/metadata/core-properties"/></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 id="2147483660" r:id="rId8"/>
  </p:sldMasterIdLst>
  <p:notesMasterIdLst>
    <p:notesMasterId r:id="rId6"/>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Lst>
  <p:sldSz cx="12192000" cy="6858000"/>
  <p:notesSz cx="6858000" cy="9144000"/>
  <p:defaultTextStyle>
    <a:defPPr lvl="0" marR="0" rtl="0" algn="l">
      <a:lnSpc>
        <a:spcPct val="100000"/>
      </a:lnSpc>
      <a:spcBef>
        <a:spcPts val="0"/>
      </a:spcBef>
      <a:spcAft>
        <a:spcPts val="0"/>
      </a:spcAft>
    </a:defPPr>
    <a:lvl1pPr lvl="0" marR="0" rtl="0" algn="l" marL="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marL="4572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marL="9144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marL="13716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marL="18288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marL="22860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marL="27432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marL="32004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marL="36576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Relationships xmlns="http://schemas.openxmlformats.org/package/2006/relationships"><Relationship Id="rId1" Target="theme/theme1.xml" Type="http://schemas.openxmlformats.org/officeDocument/2006/relationships/theme"/><Relationship Id="rId10" Target="slides/slide2.xml" Type="http://schemas.openxmlformats.org/officeDocument/2006/relationships/slide"/><Relationship Id="rId11" Target="slides/slide3.xml" Type="http://schemas.openxmlformats.org/officeDocument/2006/relationships/slide"/><Relationship Id="rId12" Target="slides/slide4.xml" Type="http://schemas.openxmlformats.org/officeDocument/2006/relationships/slide"/><Relationship Id="rId13" Target="slides/slide5.xml" Type="http://schemas.openxmlformats.org/officeDocument/2006/relationships/slide"/><Relationship Id="rId14" Target="slides/slide6.xml" Type="http://schemas.openxmlformats.org/officeDocument/2006/relationships/slide"/><Relationship Id="rId15" Target="slides/slide7.xml" Type="http://schemas.openxmlformats.org/officeDocument/2006/relationships/slide"/><Relationship Id="rId16" Target="slides/slide8.xml" Type="http://schemas.openxmlformats.org/officeDocument/2006/relationships/slide"/><Relationship Id="rId17" Target="slides/slide9.xml" Type="http://schemas.openxmlformats.org/officeDocument/2006/relationships/slide"/><Relationship Id="rId18" Target="slides/slide10.xml" Type="http://schemas.openxmlformats.org/officeDocument/2006/relationships/slide"/><Relationship Id="rId19" Target="slides/slide11.xml" Type="http://schemas.openxmlformats.org/officeDocument/2006/relationships/slide"/><Relationship Id="rId2" Target="viewProps.xml" Type="http://schemas.openxmlformats.org/officeDocument/2006/relationships/viewProps"/><Relationship Id="rId20" Target="slides/slide12.xml" Type="http://schemas.openxmlformats.org/officeDocument/2006/relationships/slide"/><Relationship Id="rId21" Target="slides/slide13.xml" Type="http://schemas.openxmlformats.org/officeDocument/2006/relationships/slide"/><Relationship Id="rId22" Target="slides/slide14.xml" Type="http://schemas.openxmlformats.org/officeDocument/2006/relationships/slide"/><Relationship Id="rId23" Target="slides/slide15.xml" Type="http://schemas.openxmlformats.org/officeDocument/2006/relationships/slide"/><Relationship Id="rId24" Target="slides/slide16.xml" Type="http://schemas.openxmlformats.org/officeDocument/2006/relationships/slide"/><Relationship Id="rId25" Target="slides/slide17.xml" Type="http://schemas.openxmlformats.org/officeDocument/2006/relationships/slide"/><Relationship Id="rId26" Target="notesSlides/notesSlide1.xml" Type="http://schemas.openxmlformats.org/officeDocument/2006/relationships/notesSlide"/><Relationship Id="rId27" Target="notesSlides/notesSlide2.xml" Type="http://schemas.openxmlformats.org/officeDocument/2006/relationships/notesSlide"/><Relationship Id="rId28" Target="notesSlides/notesSlide3.xml" Type="http://schemas.openxmlformats.org/officeDocument/2006/relationships/notesSlide"/><Relationship Id="rId29" Target="notesSlides/notesSlide4.xml" Type="http://schemas.openxmlformats.org/officeDocument/2006/relationships/notesSlide"/><Relationship Id="rId3" Target="presProps.xml" Type="http://schemas.openxmlformats.org/officeDocument/2006/relationships/presProps"/><Relationship Id="rId30" Target="notesSlides/notesSlide5.xml" Type="http://schemas.openxmlformats.org/officeDocument/2006/relationships/notesSlide"/><Relationship Id="rId31" Target="notesSlides/notesSlide6.xml" Type="http://schemas.openxmlformats.org/officeDocument/2006/relationships/notesSlide"/><Relationship Id="rId32" Target="notesSlides/notesSlide7.xml" Type="http://schemas.openxmlformats.org/officeDocument/2006/relationships/notesSlide"/><Relationship Id="rId33" Target="notesSlides/notesSlide8.xml" Type="http://schemas.openxmlformats.org/officeDocument/2006/relationships/notesSlide"/><Relationship Id="rId34" Target="notesSlides/notesSlide9.xml" Type="http://schemas.openxmlformats.org/officeDocument/2006/relationships/notesSlide"/><Relationship Id="rId35" Target="notesSlides/notesSlide10.xml" Type="http://schemas.openxmlformats.org/officeDocument/2006/relationships/notesSlide"/><Relationship Id="rId36" Target="notesSlides/notesSlide11.xml" Type="http://schemas.openxmlformats.org/officeDocument/2006/relationships/notesSlide"/><Relationship Id="rId37" Target="notesSlides/notesSlide12.xml" Type="http://schemas.openxmlformats.org/officeDocument/2006/relationships/notesSlide"/><Relationship Id="rId38" Target="notesSlides/notesSlide13.xml" Type="http://schemas.openxmlformats.org/officeDocument/2006/relationships/notesSlide"/><Relationship Id="rId39" Target="notesSlides/notesSlide14.xml" Type="http://schemas.openxmlformats.org/officeDocument/2006/relationships/notesSlide"/><Relationship Id="rId4" Target="slideMasters/slideMaster1.xml" Type="http://schemas.openxmlformats.org/officeDocument/2006/relationships/slideMaster"/><Relationship Id="rId40" Target="notesSlides/notesSlide15.xml" Type="http://schemas.openxmlformats.org/officeDocument/2006/relationships/notesSlide"/><Relationship Id="rId41" Target="notesSlides/notesSlide16.xml" Type="http://schemas.openxmlformats.org/officeDocument/2006/relationships/notesSlide"/><Relationship Id="rId42" Target="notesSlides/notesSlide17.xml" Type="http://schemas.openxmlformats.org/officeDocument/2006/relationships/notesSlide"/><Relationship Id="rId6" Target="notesMasters/notesMaster1.xml" Type="http://schemas.openxmlformats.org/officeDocument/2006/relationships/notesMaster"/><Relationship Id="rId7" Target="theme/theme2.xml" Type="http://schemas.openxmlformats.org/officeDocument/2006/relationships/theme"/><Relationship Id="rId8" Target="slideMasters/slideMaster2.xml" Type="http://schemas.openxmlformats.org/officeDocument/2006/relationships/slideMaster"/><Relationship Id="rId9" Target="slides/slide1.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各位老师、同学好，今天我汇报的是《开源软件与新技术》课程的实验01——开源个人博客系统二次开发。本实验基于成熟的开源博客平台Ghost 5.130.6，完成了一个具备注册、写作、评论、搜索功能的个人博客系统。接下来我将从实验背景、技术选型、系统架构、自定义主题、自主扩展功能、测试结果、Git管理等方面进行汇报。</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本次汇报分为六个部分：首先介绍实验背景与目标，然后是技术选型与路线选择，接着是系统架构设计，之后重点介绍自定义主题开发和两项自主扩展功能，最后汇报测试结果与Git版本管理。整个实验遵循不修改Ghost核心的原则，所有二次开发均在主题和配置层面完成。</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首先介绍实验背景。个人博客系统是观察开源软件生命周期的典型场景，包含身份认证、内容管理、分类标签、评论互动和搜索检索等Web子系统。本实验要求以成熟开源项目为基线，完成可辨识的二次开发。实验目标包括七个方面：判断开源方案适用边界、掌握Ghost部署运维、定位核心模块、实现自主扩展功能、完成18项测试、掌握Git协作流程、交付可运行系统。</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技术选型方面，我们对比了RealWorld规范路线和Ghost成品路线。RealWorld需要从零实现前后端，工作量大；而Ghost是成熟的开源博客平台，内置编辑器、会员、评论、搜索等功能，MIT许可证允许二次开发。最终选择Ghost路线，把精力集中在主题定制和功能扩展上。技术栈包括Ghost 5.130.6、Node.js v22.23.2、SQLite 3数据库、Handlebars主题引擎。</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系统架构采用分层设计。访客通过浏览器访问自定义主题oss-blog-theme，主题层包含我们开发的相关文章推荐和阅读进度条功能。请求经过Ghost前端服务路由解析和模板渲染，到达内容与会员服务层处理文章、标签、会员、评论和搜索业务，最终数据存储在SQLite数据库中。管理员通过/ghost/管理端操作，走Admin API通道。本实验严格遵循不修改Ghost核心的原则，所有二次开发均在主题和配置层面。辅助服务包括本地假SMTP服务器接收邮件，以及数据库备份恢复和内容导出功能。</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自定义主题oss-blog-theme基于Casper 5.9.0二次开发，版本v1.0.0。主要修改包括：default.hbs自定义导航栏和页脚，添加阅读进度条；post-card.hbs修改文章卡片样式，添加阅读更多链接和中文日期格式；post.hbs优化详情页元数据，显示所有标签，引入相关文章推荐；error-404.hbs自定义404页面。新增custom.css自定义样式文件和related-posts.hbs相关文章推荐partial。主题通过gscan校验，兼容Ghost 5.x，0致命错误。构建流程包括npm安装依赖、gulp构建、gscan校验、gulp zip打包。</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第一项自主扩展功能是相关文章推荐。用户故事是：作为博客读者，希望在阅读完一篇文章后看到相关文章推荐，继续深入阅读。验收条件包括：文章详情页底部显示推荐区域、基于标签匹配、排除当前文章最多3篇、无相关文章时不显示。实现方案分四步：第一步使用Ghost的{{#get}} helper查询posts资源；第二步通过filter参数按当前文章标签过滤，limit=3限制数量；第三步排除当前文章id，include=tags获取标签信息；第四步用自定义样式渲染推荐卡片列表。核心文件是新增的partials/related-posts.hbs和在post.hbs中引入。</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第二项自主扩展功能是阅读进度条。用户故事是：作为博客读者，希望在阅读长文章时看到当前阅读进度，了解还剩多少内容。验收条件包括：文章详情页顶部固定进度条、随滚动实时更新百分比、仅在详情页显示不在列表页显示。实现原理分三步：第一步用JavaScript的window.addEventListener监听scroll滚动事件；第二步计算进度百分比，公式是当前滚动位置除以文档总高度减去视口高度再乘以100；第三步通过DOM操作动态更新进度条的width样式。HTML结构放在default.hbs中，CSS样式在custom.css中定义，JavaScript代码内嵌在default.hbs的script标签中。进度条使用position:fixed固定在页面顶部，z-index设为较高值确保不被其他元素遮挡。</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演示数据包括8篇文章、3个标签（技术、生活、数据库）、2个会员（张三、李四）、5条评论。文章覆盖技术、生活、数据库等主题，每篇关联一个标签。边界情况覆盖包括：长标题、无封面图、代码块、中文搜索词、空评论等。会员账号通过数据库直接创建，Ghost会员默认使用魔法链接登录。评论数据分布在3篇文章上，由张三和李四各发表评论。这些演示数据足以支撑现场Live Demo的各项功能展示。</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测试结果方面，共执行18项测试，全部通过。测试分为四个维度：功能测试8项（首页文章列表、文章详情页、标签页、搜索功能、会员功能、评论功能、相关文章推荐、阅读进度条）、权限测试4项（管理员后台访问、未登录用户限制、文章访问控制、会员专属内容）、界面测试4项（自定义主题导航、文章卡片样式、404页面、自定义页脚）、恢复测试2项（数据库备份、主题切换恢复）。关键测试用例包括相关文章推荐显示3篇、阅读进度条随滚动实时更新、未登录访问管理API返回401、自定义404页面返回404状态码等。主题gscan校验通过，兼容Ghost 5.x。</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Git版本管理方面，项目使用Git进行版本控制，main分支为主分支，feature/blog-enhancement为功能分支。共10个非合并Commit，覆盖chore、docs、feat、test四种类型。2个Issue记录了自主扩展功能的用户故事和验收条件。1个Pull Request将feature分支合并到main，包含完整的变更清单和测试结果。1次Code Review覆盖功能正确性、代码质量、安全性、可维护性四个维度。版本标签v1.0-lab标记实验交付版本。分支策略遵循Git Flow规范，功能开发在feature分支完成，测试通过后合并到main。所有Commit信息清晰可追溯，符合实验要求的至少5个非合并Commit标准。</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实验过程中遇到了多个技术问题，都已逐一解决。主要问题包括：Ghost CLI安装失败，原因是CLI误检测到不存在的版本，解决方案是手动下载解压安装；sqlite3编译失败，原因是系统无Visual Studio，解决方案是下载预编译二进制；express-hbs路径问题，原因是Windows上路径比较失败，解决方案是改用path.resolve规范化；登录验证码问题，原因是Ghost 5.x默认启用设备验证，解决方案是在配置中禁用；邮件服务未配置，原因是本地无SMTP服务器，解决方案是启动假SMTP服务器；登录次数锁定，原因是暴力破解保护，解决方案是清除brute和sessions表。这些问题的解决过程体现了开源软件二次开发中常见的环境配置和兼容性挑战。</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最后进行总结与展望。实验成果方面：成功安装运行Ghost 5.130.6，开发了自定义主题oss-blog-theme，实现了相关文章推荐和阅读进度条两项自主扩展功能，18项测试全部通过，建立了完整的Git版本管理（10个非合并Commit、2个Issue、1个PR、1次Code Review、v1.0-lab标签）。收获与体会方面：掌握了开源项目获取与分析方法，理解了Ghost主题开发与扩展机制，提升了问题排查与解决能力，实践了Git协作流程，学会了编写完整测试与项目文档。后续改进方向包括：增加自动化测试、实现会员账号密码登录、补充多标签文章场景、推送GitHub远程仓库、深入RealWorld API规范、优化相关文章推荐缓存机制。感谢各位老师和同学的聆听，欢迎提问。</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这一页对比上游基线和本人修改。上游基线是Ghost 5.130.6，包含完整的核心功能和Casper默认主题。本人修改主要在四个方面：一是自定义主题oss-blog-theme，修改了导航、文章卡片、404页面和页脚；二是新增相关文章推荐功能，基于标签匹配显示3篇相关文章；三是新增阅读进度条，随页面滚动实时更新；四是安全配置优化，禁用登录设备验证，配置本地假SMTP服务器。核心代码完全未修改，遵循二次开发边界，保证了未来升级Ghost版本时的兼容性。项目文档方面新增了README、NOTICE、实验报告、测试报告等11份文档。</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这一页展示核心代码。左侧是相关文章推荐的Handlebars模板代码，核心是使用Ghost的{{#get}} helper查询posts资源，通过filter参数按当前文章标签过滤，用id:-{{id}}排除当前文章，limit=3限制数量，include=tags获取标签信息。右侧是阅读进度条的JavaScript代码，核心是监听window的scroll事件，计算当前滚动位置占文档总高度的百分比，然后动态更新进度条的width样式，并且只在post-template页面显示。底部是关键配置文件，包括禁用登录设备验证、配置本地假SMTP服务器、SQLite数据库配置。这些代码展示了二次开发的核心实现，都在主题层和配置层，未修改Ghost核心代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这一页说明5-10分钟Live Demo的演示流程，共5个步骤。第一步是会员登录与搜索，约1分钟，使用会员账号登录，搜索中文关键词"数据库"，展示搜索结果和文章跳转。第二步是管理员发布文章，约2分钟，切换到管理员发布一篇带标签的新文章，返回前台验证。第三步是会员评论与权限展示，约1分钟，会员发表评论，展示评论权限控制和匿名用户无法评论的错误状态。第四步是自主功能展示，约2分钟，触发相关文章推荐和阅读进度条，展示对应Issue、核心代码和测试结果。第五步是Git证据与备份说明，约1分钟，查看Git PR与个人贡献，说明数据库备份和内容导出恢复方法。整个Demo控制在5-10分钟内，覆盖登录、文章、标签、评论、搜索和自主功能的完整主流程。</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这一页说明技术取舍和未解决风险。左侧是关键技术取舍对比表，包括四个决策点：开发路线选择Ghost主题层而非修改核心，数据库选择SQLite本地而非MySQL远程，搜索实现选择Ghost原生搜索而非自建全文索引，邮件服务选择本地假SMTP而非真实SMTP服务。右侧是未解决风险与限制，包括五个方面：一是node_modules手动修改在重新安装依赖后会丢失；二是Ghost会员默认魔法链接登录，无传统用户名密码注册；三是Ghost原生搜索对中文分词支持有限；四是当前仅在本地开发环境验证，生产部署需额外配置；五是GitHub远程仓库尚未推送。底部是取舍理由说明，解释了为什么选择主题层开发和为什么选择SQLite。这些风险和取舍需要在演示时向老师说明，体现对项目的深入理解。</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 name="Shape 5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 name="Shape 11"/>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 name="Shape 1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9" name="Shape 37"/>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 name="Shape 3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1" name="Shape 39"/>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Shape 4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0" name="Shape 50"/>
        <p:cNvGrpSpPr/>
        <p:nvPr/>
      </p:nvGrpSpPr>
      <p:grpSpPr>
        <a:xfrm>
          <a:off x="0" y="0"/>
          <a:ext cx="0" cy="0"/>
          <a:chOff x="0" y="0"/>
          <a:chExt cx="0" cy="0"/>
        </a:xfrm>
      </p:grpSpPr>
      <p:sp>
        <p:nvSpPr>
          <p:cNvPr id="51" name="Shape 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57" name="Shape 45"/>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58" name="Shape 4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idx="2" type="pic"/>
          </p:nvPr>
        </p:nvSpPr>
        <p:spPr>
          <a:xfrm>
            <a:off x="3887391" y="740569"/>
            <a:ext cx="4629150" cy="3655219"/>
          </a:xfrm>
          <a:prstGeom prst="rect">
            <a:avLst/>
          </a:prstGeom>
          <a:noFill/>
          <a:ln>
            <a:noFill/>
          </a:ln>
        </p:spPr>
      </p:sp>
      <p:sp>
        <p:nvSpPr>
          <p:cNvPr id="64" name="Shape 26"/>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5" name="Shape 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1" name="Shape 5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Shape 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_rels/slideMaster2.xml.rels><?xml version="1.0" encoding="UTF-8" standalone="yes"?><Relationships xmlns="http://schemas.openxmlformats.org/package/2006/relationships"><Relationship Id="rId1" Target="../theme/theme3.xml" Type="http://schemas.openxmlformats.org/officeDocument/2006/relationships/theme"/><Relationship Id="rId2" Target="../slideLayouts/slideLayout12.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Shape 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9" name="Shape 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 name="Shape 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Arial"/>
                <a:ea typeface="Arial"/>
                <a:cs typeface="Arial"/>
                <a:sym typeface="Arial"/>
              </a:defRPr>
            </a:lvl1pPr>
            <a:lvl2pPr indent="0" lvl="1" marL="0" marR="0" rtl="0" algn="r">
              <a:spcBef>
                <a:spcPts val="0"/>
              </a:spcBef>
              <a:buNone/>
              <a:defRPr b="0" i="0" sz="900" u="none" cap="none" strike="noStrike">
                <a:solidFill>
                  <a:srgbClr val="888888"/>
                </a:solidFill>
                <a:latin typeface="Arial"/>
                <a:ea typeface="Arial"/>
                <a:cs typeface="Arial"/>
                <a:sym typeface="Arial"/>
              </a:defRPr>
            </a:lvl2pPr>
            <a:lvl3pPr indent="0" lvl="2" marL="0" marR="0" rtl="0" algn="r">
              <a:spcBef>
                <a:spcPts val="0"/>
              </a:spcBef>
              <a:buNone/>
              <a:defRPr b="0" i="0" sz="900" u="none" cap="none" strike="noStrike">
                <a:solidFill>
                  <a:srgbClr val="888888"/>
                </a:solidFill>
                <a:latin typeface="Arial"/>
                <a:ea typeface="Arial"/>
                <a:cs typeface="Arial"/>
                <a:sym typeface="Arial"/>
              </a:defRPr>
            </a:lvl3pPr>
            <a:lvl4pPr indent="0" lvl="3" marL="0" marR="0" rtl="0" algn="r">
              <a:spcBef>
                <a:spcPts val="0"/>
              </a:spcBef>
              <a:buNone/>
              <a:defRPr b="0" i="0" sz="900" u="none" cap="none" strike="noStrike">
                <a:solidFill>
                  <a:srgbClr val="888888"/>
                </a:solidFill>
                <a:latin typeface="Arial"/>
                <a:ea typeface="Arial"/>
                <a:cs typeface="Arial"/>
                <a:sym typeface="Arial"/>
              </a:defRPr>
            </a:lvl4pPr>
            <a:lvl5pPr indent="0" lvl="4" marL="0" marR="0" rtl="0" algn="r">
              <a:spcBef>
                <a:spcPts val="0"/>
              </a:spcBef>
              <a:buNone/>
              <a:defRPr b="0" i="0" sz="900" u="none" cap="none" strike="noStrike">
                <a:solidFill>
                  <a:srgbClr val="888888"/>
                </a:solidFill>
                <a:latin typeface="Arial"/>
                <a:ea typeface="Arial"/>
                <a:cs typeface="Arial"/>
                <a:sym typeface="Arial"/>
              </a:defRPr>
            </a:lvl5pPr>
            <a:lvl6pPr indent="0" lvl="5" marL="0" marR="0" rtl="0" algn="r">
              <a:spcBef>
                <a:spcPts val="0"/>
              </a:spcBef>
              <a:buNone/>
              <a:defRPr b="0" i="0" sz="900" u="none" cap="none" strike="noStrike">
                <a:solidFill>
                  <a:srgbClr val="888888"/>
                </a:solidFill>
                <a:latin typeface="Arial"/>
                <a:ea typeface="Arial"/>
                <a:cs typeface="Arial"/>
                <a:sym typeface="Arial"/>
              </a:defRPr>
            </a:lvl6pPr>
            <a:lvl7pPr indent="0" lvl="6" marL="0" marR="0" rtl="0" algn="r">
              <a:spcBef>
                <a:spcPts val="0"/>
              </a:spcBef>
              <a:buNone/>
              <a:defRPr b="0" i="0" sz="900" u="none" cap="none" strike="noStrike">
                <a:solidFill>
                  <a:srgbClr val="888888"/>
                </a:solidFill>
                <a:latin typeface="Arial"/>
                <a:ea typeface="Arial"/>
                <a:cs typeface="Arial"/>
                <a:sym typeface="Arial"/>
              </a:defRPr>
            </a:lvl7pPr>
            <a:lvl8pPr indent="0" lvl="7" marL="0" marR="0" rtl="0" algn="r">
              <a:spcBef>
                <a:spcPts val="0"/>
              </a:spcBef>
              <a:buNone/>
              <a:defRPr b="0" i="0" sz="900" u="none" cap="none" strike="noStrike">
                <a:solidFill>
                  <a:srgbClr val="888888"/>
                </a:solidFill>
                <a:latin typeface="Arial"/>
                <a:ea typeface="Arial"/>
                <a:cs typeface="Arial"/>
                <a:sym typeface="Arial"/>
              </a:defRPr>
            </a:lvl8pPr>
            <a:lvl9pPr indent="0" lvl="8" marL="0" marR="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默认主题">
    <p:bg>
      <p:bgPr>
        <a:solidFill>
          <a:srgbClr val="FFFFFF">
            <a:alpha val="100000"/>
          </a:srgbClr>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5748369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4.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5.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7.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8.xml" Type="http://schemas.openxmlformats.org/officeDocument/2006/relationships/notesSlide"/></Relationships>
</file>

<file path=ppt/slides/_rels/slide9.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9.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10.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11.xml" Type="http://schemas.openxmlformats.org/officeDocument/2006/relationships/notesSlide"/></Relationships>
</file>

<file path=ppt/slides/_rels/slide12.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12.xml" Type="http://schemas.openxmlformats.org/officeDocument/2006/relationships/notesSlide"/></Relationships>
</file>

<file path=ppt/slides/_rels/slide13.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13.xml" Type="http://schemas.openxmlformats.org/officeDocument/2006/relationships/notesSlide"/></Relationships>
</file>

<file path=ppt/slides/_rels/slide14.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14.xml" Type="http://schemas.openxmlformats.org/officeDocument/2006/relationships/notesSlide"/></Relationships>
</file>

<file path=ppt/slides/_rels/slide15.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15.xml" Type="http://schemas.openxmlformats.org/officeDocument/2006/relationships/notesSlide"/></Relationships>
</file>

<file path=ppt/slides/_rels/slide16.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16.xml" Type="http://schemas.openxmlformats.org/officeDocument/2006/relationships/notesSlide"/></Relationships>
</file>

<file path=ppt/slides/_rels/slide17.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17.xml" Type="http://schemas.openxmlformats.org/officeDocument/2006/relationships/notesSlide"/><Relationship Id="rId3" Target="../media/image1.png" Type="http://schemas.openxmlformats.org/officeDocument/2006/relationships/image"/></Relationships>
</file>

<file path=ppt/slides/slide1.xml><?xml version="1.0" encoding="utf-8"?>
<p:sld xmlns:p="http://schemas.openxmlformats.org/presentationml/2006/main" xmlns:a="http://schemas.openxmlformats.org/drawingml/2006/main">
  <p:cSld>
    <p:bg>
      <p:bgPr>
        <a:gradFill rotWithShape="true">
          <a:gsLst>
            <a:gs pos="0">
              <a:srgbClr val="0D1326">
                <a:alpha val="100000"/>
              </a:srgbClr>
            </a:gs>
            <a:gs pos="100000">
              <a:srgbClr val="2563EB">
                <a:alpha val="100000"/>
              </a:srgbClr>
            </a:gs>
          </a:gsLst>
          <a:lin ang="2700000"/>
        </a:gra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76200"/>
          </a:xfrm>
          <a:prstGeom prst="roundRect">
            <a:avLst>
              <a:gd name="adj" fmla="val 0"/>
            </a:avLst>
          </a:prstGeom>
          <a:solidFill>
            <a:srgbClr val="BFD7F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1016000" y="1524000"/>
            <a:ext cx="10160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800">
                <a:solidFill>
                  <a:srgbClr val="BFD7FF"/>
                </a:solidFill>
                <a:latin typeface="Noto Sans SC"/>
                <a:ea typeface="Noto Sans SC"/>
                <a:cs typeface="Noto Sans SC"/>
                <a:sym typeface="Noto Sans SC"/>
              </a:rPr>
              <a:t>《开源软件与新技术》课程实验</a:t>
            </a:r>
            <a:endParaRPr lang="en-US" sz="1100"/>
          </a:p>
        </p:txBody>
      </p:sp>
      <p:sp>
        <p:nvSpPr>
          <p:cNvPr name="AutoShape 4" id="4"/>
          <p:cNvSpPr/>
          <p:nvPr/>
        </p:nvSpPr>
        <p:spPr>
          <a:xfrm rot="0" flipH="false" flipV="false">
            <a:off x="1016000" y="2286000"/>
            <a:ext cx="10160000" cy="152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4800">
                <a:solidFill>
                  <a:srgbClr val="FFFFFF"/>
                </a:solidFill>
                <a:latin typeface="Noto Sans SC"/>
                <a:ea typeface="Noto Sans SC"/>
                <a:cs typeface="Noto Sans SC"/>
                <a:sym typeface="Noto Sans SC"/>
              </a:rPr>
              <a:t>实验01</a:t>
            </a:r>
            <a:endParaRPr lang="en-US" sz="1100"/>
          </a:p>
          <a:p>
            <a:pPr algn="l" marL="0" indent="0">
              <a:lnSpc>
                <a:spcPct val="125000"/>
              </a:lnSpc>
            </a:pPr>
            <a:r>
              <a:rPr lang="en-US" b="true" i="false" strike="noStrike" u="none" sz="4800">
                <a:solidFill>
                  <a:srgbClr val="FFFFFF"/>
                </a:solidFill>
                <a:latin typeface="Noto Sans SC"/>
                <a:ea typeface="Noto Sans SC"/>
                <a:cs typeface="Noto Sans SC"/>
                <a:sym typeface="Noto Sans SC"/>
              </a:rPr>
              <a:t>开源个人博客系统二次开发</a:t>
            </a:r>
          </a:p>
        </p:txBody>
      </p:sp>
      <p:sp>
        <p:nvSpPr>
          <p:cNvPr name="AutoShape 5" id="5"/>
          <p:cNvSpPr/>
          <p:nvPr/>
        </p:nvSpPr>
        <p:spPr>
          <a:xfrm rot="0" flipH="false" flipV="false">
            <a:off x="1016000" y="4318000"/>
            <a:ext cx="8890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800">
                <a:solidFill>
                  <a:srgbClr val="BFD7FF"/>
                </a:solidFill>
                <a:latin typeface="Noto Sans SC"/>
                <a:ea typeface="Noto Sans SC"/>
                <a:cs typeface="Noto Sans SC"/>
                <a:sym typeface="Noto Sans SC"/>
              </a:rPr>
              <a:t>基于 Ghost 5.130.6 · 可注册 · 可写作 · 可评论 · 可搜索</a:t>
            </a:r>
            <a:endParaRPr lang="en-US" sz="1100"/>
          </a:p>
        </p:txBody>
      </p:sp>
      <p:cxnSp>
        <p:nvCxnSpPr>
          <p:cNvPr name="Connector 6" id="6"/>
          <p:cNvCxnSpPr/>
          <p:nvPr/>
        </p:nvCxnSpPr>
        <p:spPr>
          <a:xfrm rot="-28647" flipH="false" flipV="false">
            <a:off x="1016026" y="5454650"/>
            <a:ext cx="1524000" cy="12700"/>
          </a:xfrm>
          <a:prstGeom prst="straightConnector1">
            <a:avLst/>
          </a:prstGeom>
          <a:solidFill>
            <a:srgbClr val="DEE0E3">
              <a:alpha val="100000"/>
            </a:srgbClr>
          </a:solidFill>
          <a:ln w="25400" cmpd="sng" cap="flat">
            <a:solidFill>
              <a:srgbClr val="BFD7FF">
                <a:alpha val="100000"/>
              </a:srgbClr>
            </a:solidFill>
            <a:prstDash val="solid"/>
            <a:round/>
            <a:headEnd type="none" w="lg" len="lg"/>
            <a:tailEnd type="none" w="lg" len="lg"/>
          </a:ln>
        </p:spPr>
      </p:cxnSp>
      <p:sp>
        <p:nvSpPr>
          <p:cNvPr name="AutoShape 7" id="7"/>
          <p:cNvSpPr/>
          <p:nvPr/>
        </p:nvSpPr>
        <p:spPr>
          <a:xfrm rot="0" flipH="false" flipV="false">
            <a:off x="1016000" y="5715000"/>
            <a:ext cx="5080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400">
                <a:solidFill>
                  <a:srgbClr val="BFD7FF">
                    <a:alpha val="80000"/>
                  </a:srgbClr>
                </a:solidFill>
                <a:latin typeface="Noto Sans SC"/>
                <a:ea typeface="Noto Sans SC"/>
                <a:cs typeface="Noto Sans SC"/>
                <a:sym typeface="Noto Sans SC"/>
              </a:rPr>
              <a:t>2026年9月7日</a:t>
            </a:r>
            <a:endParaRPr lang="en-US" sz="1100"/>
          </a:p>
        </p:txBody>
      </p:sp>
      <p:sp>
        <p:nvSpPr>
          <p:cNvPr name="AutoShape 8" id="8"/>
          <p:cNvSpPr/>
          <p:nvPr/>
        </p:nvSpPr>
        <p:spPr>
          <a:xfrm rot="0" flipH="false" flipV="false">
            <a:off x="7620000" y="5715000"/>
            <a:ext cx="3556000" cy="508000"/>
          </a:xfrm>
          <a:prstGeom prst="rect">
            <a:avLst/>
          </a:prstGeom>
          <a:noFill/>
          <a:ln w="12700" cmpd="sng" cap="flat">
            <a:noFill/>
            <a:prstDash val="solid"/>
            <a:round/>
          </a:ln>
        </p:spPr>
        <p:txBody>
          <a:bodyPr anchor="ctr" rtlCol="false" anchorCtr="false" vert="horz" wrap="square" lIns="0" rIns="0" tIns="0" bIns="0"/>
          <a:lstStyle/>
          <a:p>
            <a:pPr algn="r" marL="0" indent="0">
              <a:lnSpc>
                <a:spcPct val="125000"/>
              </a:lnSpc>
              <a:defRPr/>
            </a:pPr>
            <a:r>
              <a:rPr lang="en-US" b="false" i="false" strike="noStrike" u="none" sz="1400">
                <a:solidFill>
                  <a:srgbClr val="BFD7FF">
                    <a:alpha val="80000"/>
                  </a:srgbClr>
                </a:solidFill>
                <a:latin typeface="Noto Sans SC"/>
                <a:ea typeface="Noto Sans SC"/>
                <a:cs typeface="Noto Sans SC"/>
                <a:sym typeface="Noto Sans SC"/>
              </a:rPr>
              <a:t>v1.0-lab</a:t>
            </a:r>
            <a:endParaRPr lang="en-US" sz="1100"/>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F2F4F8">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76200" cy="6858000"/>
          </a:xfrm>
          <a:prstGeom prst="roundRect">
            <a:avLst>
              <a:gd name="adj" fmla="val 0"/>
            </a:avLst>
          </a:prstGeom>
          <a:solidFill>
            <a:srgbClr val="2563E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5080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0D1326"/>
                </a:solidFill>
                <a:latin typeface="Noto Sans SC"/>
                <a:ea typeface="Noto Sans SC"/>
                <a:cs typeface="Noto Sans SC"/>
                <a:sym typeface="Noto Sans SC"/>
              </a:rPr>
              <a:t>目录</a:t>
            </a:r>
            <a:endParaRPr lang="en-US" sz="1100"/>
          </a:p>
        </p:txBody>
      </p:sp>
      <p:cxnSp>
        <p:nvCxnSpPr>
          <p:cNvPr name="Connector 4" id="4"/>
          <p:cNvCxnSpPr/>
          <p:nvPr/>
        </p:nvCxnSpPr>
        <p:spPr>
          <a:xfrm rot="-34376" flipH="false" flipV="false">
            <a:off x="762032" y="1390650"/>
            <a:ext cx="1270000" cy="12700"/>
          </a:xfrm>
          <a:prstGeom prst="straightConnector1">
            <a:avLst/>
          </a:prstGeom>
          <a:solidFill>
            <a:srgbClr val="DEE0E3">
              <a:alpha val="100000"/>
            </a:srgbClr>
          </a:solidFill>
          <a:ln w="38100" cmpd="sng" cap="flat">
            <a:solidFill>
              <a:srgbClr val="2563EB">
                <a:alpha val="100000"/>
              </a:srgbClr>
            </a:solidFill>
            <a:prstDash val="solid"/>
            <a:round/>
            <a:headEnd type="none" w="lg" len="lg"/>
            <a:tailEnd type="none" w="lg" len="lg"/>
          </a:ln>
        </p:spPr>
      </p:cxnSp>
      <p:sp>
        <p:nvSpPr>
          <p:cNvPr name="AutoShape 5" id="5"/>
          <p:cNvSpPr/>
          <p:nvPr/>
        </p:nvSpPr>
        <p:spPr>
          <a:xfrm rot="0" flipH="false" flipV="false">
            <a:off x="762000" y="1905000"/>
            <a:ext cx="4826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2563EB"/>
                </a:solidFill>
                <a:latin typeface="Noto Sans SC"/>
                <a:ea typeface="Noto Sans SC"/>
                <a:cs typeface="Noto Sans SC"/>
                <a:sym typeface="Noto Sans SC"/>
              </a:rPr>
              <a:t>01</a:t>
            </a:r>
            <a:r>
              <a:rPr lang="en-US" b="true" i="false" strike="noStrike" u="none" sz="2000">
                <a:solidFill>
                  <a:srgbClr val="0D1326"/>
                </a:solidFill>
                <a:latin typeface="Noto Sans SC"/>
                <a:ea typeface="Noto Sans SC"/>
                <a:cs typeface="Noto Sans SC"/>
                <a:sym typeface="Noto Sans SC"/>
              </a:rPr>
              <a:t> 实验背景与目标</a:t>
            </a:r>
            <a:endParaRPr lang="en-US" sz="1100"/>
          </a:p>
        </p:txBody>
      </p:sp>
      <p:sp>
        <p:nvSpPr>
          <p:cNvPr name="AutoShape 6" id="6"/>
          <p:cNvSpPr/>
          <p:nvPr/>
        </p:nvSpPr>
        <p:spPr>
          <a:xfrm rot="0" flipH="false" flipV="false">
            <a:off x="762000" y="2667000"/>
            <a:ext cx="4826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2563EB"/>
                </a:solidFill>
                <a:latin typeface="Noto Sans SC"/>
                <a:ea typeface="Noto Sans SC"/>
                <a:cs typeface="Noto Sans SC"/>
                <a:sym typeface="Noto Sans SC"/>
              </a:rPr>
              <a:t>02</a:t>
            </a:r>
            <a:r>
              <a:rPr lang="en-US" b="true" i="false" strike="noStrike" u="none" sz="2000">
                <a:solidFill>
                  <a:srgbClr val="0D1326"/>
                </a:solidFill>
                <a:latin typeface="Noto Sans SC"/>
                <a:ea typeface="Noto Sans SC"/>
                <a:cs typeface="Noto Sans SC"/>
                <a:sym typeface="Noto Sans SC"/>
              </a:rPr>
              <a:t> 技术选型与路线</a:t>
            </a:r>
            <a:endParaRPr lang="en-US" sz="1100"/>
          </a:p>
        </p:txBody>
      </p:sp>
      <p:sp>
        <p:nvSpPr>
          <p:cNvPr name="AutoShape 7" id="7"/>
          <p:cNvSpPr/>
          <p:nvPr/>
        </p:nvSpPr>
        <p:spPr>
          <a:xfrm rot="0" flipH="false" flipV="false">
            <a:off x="762000" y="3429000"/>
            <a:ext cx="4826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2563EB"/>
                </a:solidFill>
                <a:latin typeface="Noto Sans SC"/>
                <a:ea typeface="Noto Sans SC"/>
                <a:cs typeface="Noto Sans SC"/>
                <a:sym typeface="Noto Sans SC"/>
              </a:rPr>
              <a:t>03</a:t>
            </a:r>
            <a:r>
              <a:rPr lang="en-US" b="true" i="false" strike="noStrike" u="none" sz="2000">
                <a:solidFill>
                  <a:srgbClr val="0D1326"/>
                </a:solidFill>
                <a:latin typeface="Noto Sans SC"/>
                <a:ea typeface="Noto Sans SC"/>
                <a:cs typeface="Noto Sans SC"/>
                <a:sym typeface="Noto Sans SC"/>
              </a:rPr>
              <a:t> 系统架构</a:t>
            </a:r>
            <a:endParaRPr lang="en-US" sz="1100"/>
          </a:p>
        </p:txBody>
      </p:sp>
      <p:sp>
        <p:nvSpPr>
          <p:cNvPr name="AutoShape 8" id="8"/>
          <p:cNvSpPr/>
          <p:nvPr/>
        </p:nvSpPr>
        <p:spPr>
          <a:xfrm rot="0" flipH="false" flipV="false">
            <a:off x="6350000" y="1905000"/>
            <a:ext cx="4826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2563EB"/>
                </a:solidFill>
                <a:latin typeface="Noto Sans SC"/>
                <a:ea typeface="Noto Sans SC"/>
                <a:cs typeface="Noto Sans SC"/>
                <a:sym typeface="Noto Sans SC"/>
              </a:rPr>
              <a:t>04</a:t>
            </a:r>
            <a:r>
              <a:rPr lang="en-US" b="true" i="false" strike="noStrike" u="none" sz="2000">
                <a:solidFill>
                  <a:srgbClr val="0D1326"/>
                </a:solidFill>
                <a:latin typeface="Noto Sans SC"/>
                <a:ea typeface="Noto Sans SC"/>
                <a:cs typeface="Noto Sans SC"/>
                <a:sym typeface="Noto Sans SC"/>
              </a:rPr>
              <a:t> 自定义主题开发</a:t>
            </a:r>
            <a:endParaRPr lang="en-US" sz="1100"/>
          </a:p>
        </p:txBody>
      </p:sp>
      <p:sp>
        <p:nvSpPr>
          <p:cNvPr name="AutoShape 9" id="9"/>
          <p:cNvSpPr/>
          <p:nvPr/>
        </p:nvSpPr>
        <p:spPr>
          <a:xfrm rot="0" flipH="false" flipV="false">
            <a:off x="6350000" y="2667000"/>
            <a:ext cx="4826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2563EB"/>
                </a:solidFill>
                <a:latin typeface="Noto Sans SC"/>
                <a:ea typeface="Noto Sans SC"/>
                <a:cs typeface="Noto Sans SC"/>
                <a:sym typeface="Noto Sans SC"/>
              </a:rPr>
              <a:t>05</a:t>
            </a:r>
            <a:r>
              <a:rPr lang="en-US" b="true" i="false" strike="noStrike" u="none" sz="2000">
                <a:solidFill>
                  <a:srgbClr val="0D1326"/>
                </a:solidFill>
                <a:latin typeface="Noto Sans SC"/>
                <a:ea typeface="Noto Sans SC"/>
                <a:cs typeface="Noto Sans SC"/>
                <a:sym typeface="Noto Sans SC"/>
              </a:rPr>
              <a:t> 自主扩展功能</a:t>
            </a:r>
            <a:endParaRPr lang="en-US" sz="1100"/>
          </a:p>
        </p:txBody>
      </p:sp>
      <p:sp>
        <p:nvSpPr>
          <p:cNvPr name="AutoShape 10" id="10"/>
          <p:cNvSpPr/>
          <p:nvPr/>
        </p:nvSpPr>
        <p:spPr>
          <a:xfrm rot="0" flipH="false" flipV="false">
            <a:off x="6350000" y="3429000"/>
            <a:ext cx="4826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2563EB"/>
                </a:solidFill>
                <a:latin typeface="Noto Sans SC"/>
                <a:ea typeface="Noto Sans SC"/>
                <a:cs typeface="Noto Sans SC"/>
                <a:sym typeface="Noto Sans SC"/>
              </a:rPr>
              <a:t>06</a:t>
            </a:r>
            <a:r>
              <a:rPr lang="en-US" b="true" i="false" strike="noStrike" u="none" sz="2000">
                <a:solidFill>
                  <a:srgbClr val="0D1326"/>
                </a:solidFill>
                <a:latin typeface="Noto Sans SC"/>
                <a:ea typeface="Noto Sans SC"/>
                <a:cs typeface="Noto Sans SC"/>
                <a:sym typeface="Noto Sans SC"/>
              </a:rPr>
              <a:t> 测试与Git管理</a:t>
            </a:r>
            <a:endParaRPr lang="en-US" sz="1100"/>
          </a:p>
        </p:txBody>
      </p:sp>
      <p:cxnSp>
        <p:nvCxnSpPr>
          <p:cNvPr name="Connector 11" id="11"/>
          <p:cNvCxnSpPr/>
          <p:nvPr/>
        </p:nvCxnSpPr>
        <p:spPr>
          <a:xfrm rot="-4092" flipH="false" flipV="false">
            <a:off x="762004" y="4565650"/>
            <a:ext cx="10668000" cy="12700"/>
          </a:xfrm>
          <a:prstGeom prst="straightConnector1">
            <a:avLst/>
          </a:prstGeom>
          <a:solidFill>
            <a:srgbClr val="DEE0E3">
              <a:alpha val="100000"/>
            </a:srgbClr>
          </a:solidFill>
          <a:ln w="12700" cmpd="sng" cap="flat">
            <a:solidFill>
              <a:srgbClr val="BFD7FF">
                <a:alpha val="100000"/>
              </a:srgbClr>
            </a:solidFill>
            <a:prstDash val="solid"/>
            <a:round/>
            <a:headEnd type="none" w="med" len="med"/>
            <a:tailEnd type="none" w="med" len="med"/>
          </a:ln>
        </p:spPr>
      </p:cxnSp>
      <p:sp>
        <p:nvSpPr>
          <p:cNvPr name="AutoShape 12" id="12"/>
          <p:cNvSpPr/>
          <p:nvPr/>
        </p:nvSpPr>
        <p:spPr>
          <a:xfrm rot="0" flipH="false" flipV="false">
            <a:off x="762000" y="4953000"/>
            <a:ext cx="10668000" cy="1270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600">
                <a:solidFill>
                  <a:srgbClr val="536174"/>
                </a:solidFill>
                <a:latin typeface="Noto Sans SC"/>
                <a:ea typeface="Noto Sans SC"/>
                <a:cs typeface="Noto Sans SC"/>
                <a:sym typeface="Noto Sans SC"/>
              </a:rPr>
              <a:t>本次汇报将围绕以上六个方面展开，重点介绍基于Ghost 5.130.6的二次开发实践，包括自定义主题oss-blog-theme的开发、两项自主扩展功能的实现、18项测试的执行结果，以及完整的Git版本管理流程。</a:t>
            </a:r>
            <a:endParaRPr lang="en-US" sz="1100"/>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F2F4F8">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762000"/>
          </a:xfrm>
          <a:prstGeom prst="roundRect">
            <a:avLst>
              <a:gd name="adj" fmla="val 0"/>
            </a:avLst>
          </a:prstGeom>
          <a:solidFill>
            <a:srgbClr val="0D132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508000" y="152400"/>
            <a:ext cx="7620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200">
                <a:solidFill>
                  <a:srgbClr val="FFFFFF"/>
                </a:solidFill>
                <a:latin typeface="Noto Sans SC"/>
                <a:ea typeface="Noto Sans SC"/>
                <a:cs typeface="Noto Sans SC"/>
                <a:sym typeface="Noto Sans SC"/>
              </a:rPr>
              <a:t>01 实验背景与目标</a:t>
            </a:r>
            <a:endParaRPr lang="en-US" sz="1100"/>
          </a:p>
        </p:txBody>
      </p:sp>
      <p:sp>
        <p:nvSpPr>
          <p:cNvPr name="AutoShape 4" id="4"/>
          <p:cNvSpPr/>
          <p:nvPr/>
        </p:nvSpPr>
        <p:spPr>
          <a:xfrm rot="0" flipH="false" flipV="false">
            <a:off x="9525000" y="228600"/>
            <a:ext cx="2159000" cy="381000"/>
          </a:xfrm>
          <a:prstGeom prst="rect">
            <a:avLst/>
          </a:prstGeom>
          <a:noFill/>
          <a:ln w="12700" cmpd="sng" cap="flat">
            <a:noFill/>
            <a:prstDash val="solid"/>
            <a:round/>
          </a:ln>
        </p:spPr>
        <p:txBody>
          <a:bodyPr anchor="ctr" rtlCol="false" anchorCtr="false" vert="horz" wrap="square" lIns="0" rIns="0" tIns="0" bIns="0"/>
          <a:lstStyle/>
          <a:p>
            <a:pPr algn="r" marL="0" indent="0">
              <a:lnSpc>
                <a:spcPct val="125000"/>
              </a:lnSpc>
              <a:defRPr/>
            </a:pPr>
            <a:r>
              <a:rPr lang="en-US" b="false" i="false" strike="noStrike" u="none" sz="1200">
                <a:solidFill>
                  <a:srgbClr val="BFD7FF"/>
                </a:solidFill>
                <a:latin typeface="Noto Sans SC"/>
                <a:ea typeface="Noto Sans SC"/>
                <a:cs typeface="Noto Sans SC"/>
                <a:sym typeface="Noto Sans SC"/>
              </a:rPr>
              <a:t>实验01 / 共13页</a:t>
            </a:r>
            <a:endParaRPr lang="en-US" sz="1100"/>
          </a:p>
        </p:txBody>
      </p:sp>
      <p:sp>
        <p:nvSpPr>
          <p:cNvPr name="AutoShape 5" id="5"/>
          <p:cNvSpPr/>
          <p:nvPr/>
        </p:nvSpPr>
        <p:spPr>
          <a:xfrm rot="0" flipH="false" flipV="false">
            <a:off x="508000" y="1143000"/>
            <a:ext cx="5334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0D1326"/>
                </a:solidFill>
                <a:latin typeface="Noto Sans SC"/>
                <a:ea typeface="Noto Sans SC"/>
                <a:cs typeface="Noto Sans SC"/>
                <a:sym typeface="Noto Sans SC"/>
              </a:rPr>
              <a:t>实验背景</a:t>
            </a:r>
            <a:endParaRPr lang="en-US" sz="1100"/>
          </a:p>
        </p:txBody>
      </p:sp>
      <p:cxnSp>
        <p:nvCxnSpPr>
          <p:cNvPr name="Connector 6" id="6"/>
          <p:cNvCxnSpPr/>
          <p:nvPr/>
        </p:nvCxnSpPr>
        <p:spPr>
          <a:xfrm rot="-42969" flipH="false" flipV="false">
            <a:off x="508040" y="1708150"/>
            <a:ext cx="1016000" cy="12700"/>
          </a:xfrm>
          <a:prstGeom prst="straightConnector1">
            <a:avLst/>
          </a:prstGeom>
          <a:solidFill>
            <a:srgbClr val="DEE0E3">
              <a:alpha val="100000"/>
            </a:srgbClr>
          </a:solidFill>
          <a:ln w="25400" cmpd="sng" cap="flat">
            <a:solidFill>
              <a:srgbClr val="2563EB">
                <a:alpha val="100000"/>
              </a:srgbClr>
            </a:solidFill>
            <a:prstDash val="solid"/>
            <a:round/>
            <a:headEnd type="none" w="lg" len="lg"/>
            <a:tailEnd type="none" w="lg" len="lg"/>
          </a:ln>
        </p:spPr>
      </p:cxnSp>
      <p:sp>
        <p:nvSpPr>
          <p:cNvPr name="AutoShape 7" id="7"/>
          <p:cNvSpPr/>
          <p:nvPr/>
        </p:nvSpPr>
        <p:spPr>
          <a:xfrm rot="0" flipH="false" flipV="false">
            <a:off x="508000" y="1968500"/>
            <a:ext cx="5334000" cy="2540000"/>
          </a:xfrm>
          <a:prstGeom prst="rect">
            <a:avLst/>
          </a:prstGeom>
          <a:noFill/>
          <a:ln w="12700" cmpd="sng" cap="flat">
            <a:noFill/>
            <a:prstDash val="solid"/>
            <a:round/>
          </a:ln>
        </p:spPr>
        <p:txBody>
          <a:bodyPr anchor="ctr" rtlCol="false" anchorCtr="false" vert="horz" wrap="square" lIns="0" rIns="0" tIns="0" bIns="0"/>
          <a:lstStyle/>
          <a:p>
            <a:pPr algn="l" marL="0" indent="0">
              <a:lnSpc>
                <a:spcPct val="133333"/>
              </a:lnSpc>
              <a:defRPr/>
            </a:pPr>
            <a:r>
              <a:rPr lang="en-US" b="false" i="false" strike="noStrike" u="none" sz="1400">
                <a:solidFill>
                  <a:srgbClr val="536174"/>
                </a:solidFill>
                <a:latin typeface="Noto Sans SC"/>
                <a:ea typeface="Noto Sans SC"/>
                <a:cs typeface="Noto Sans SC"/>
                <a:sym typeface="Noto Sans SC"/>
              </a:rPr>
              <a:t>个人博客系统包含身份、内容、分类、评论和检索等典型Web子系统，是观察开源软件生命周期的合适切入口。</a:t>
            </a:r>
            <a:endParaRPr lang="en-US" sz="1100"/>
          </a:p>
          <a:p>
            <a:pPr algn="l" marL="0" indent="0">
              <a:lnSpc>
                <a:spcPct val="133333"/>
              </a:lnSpc>
            </a:pPr>
            <a:r>
              <a:rPr lang="en-US" b="false" i="false" strike="noStrike" u="none" sz="1400">
                <a:solidFill>
                  <a:srgbClr val="536174"/>
                </a:solidFill>
                <a:latin typeface="Noto Sans SC"/>
                <a:ea typeface="Noto Sans SC"/>
                <a:cs typeface="Noto Sans SC"/>
                <a:sym typeface="Noto Sans SC"/>
              </a:rPr>
              <a:t>本实验要求以成熟开源项目为基线，完成可辨识的二次开发、测试、Git版本管理和现场运行展示。</a:t>
            </a:r>
          </a:p>
          <a:p>
            <a:pPr algn="l" marL="0" indent="0">
              <a:lnSpc>
                <a:spcPct val="133333"/>
              </a:lnSpc>
            </a:pPr>
            <a:r>
              <a:rPr lang="en-US" b="false" i="false" strike="noStrike" u="none" sz="1400">
                <a:solidFill>
                  <a:srgbClr val="536174"/>
                </a:solidFill>
                <a:latin typeface="Noto Sans SC"/>
                <a:ea typeface="Noto Sans SC"/>
                <a:cs typeface="Noto Sans SC"/>
                <a:sym typeface="Noto Sans SC"/>
              </a:rPr>
              <a:t>通过本实验，掌握从GitHub获取开源项目、本地部署、二次开发、测试验证到版本管理的完整流程。</a:t>
            </a:r>
          </a:p>
        </p:txBody>
      </p:sp>
      <p:sp>
        <p:nvSpPr>
          <p:cNvPr name="AutoShape 8" id="8"/>
          <p:cNvSpPr/>
          <p:nvPr/>
        </p:nvSpPr>
        <p:spPr>
          <a:xfrm rot="0" flipH="false" flipV="false">
            <a:off x="6350000" y="1143000"/>
            <a:ext cx="5334000" cy="4826000"/>
          </a:xfrm>
          <a:prstGeom prst="roundRect">
            <a:avLst>
              <a:gd name="adj" fmla="val 0"/>
            </a:avLst>
          </a:prstGeom>
          <a:solidFill>
            <a:srgbClr val="FFFFFF">
              <a:alpha val="100000"/>
            </a:srgbClr>
          </a:solidFill>
          <a:ln w="12700" cmpd="sng" cap="flat">
            <a:solidFill>
              <a:srgbClr val="BFD7FF">
                <a:alpha val="100000"/>
              </a:srgbClr>
            </a:solid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6604000" y="1397000"/>
            <a:ext cx="4826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0D1326"/>
                </a:solidFill>
                <a:latin typeface="Noto Sans SC"/>
                <a:ea typeface="Noto Sans SC"/>
                <a:cs typeface="Noto Sans SC"/>
                <a:sym typeface="Noto Sans SC"/>
              </a:rPr>
              <a:t>实验目标</a:t>
            </a:r>
            <a:endParaRPr lang="en-US" sz="1100"/>
          </a:p>
        </p:txBody>
      </p:sp>
      <p:cxnSp>
        <p:nvCxnSpPr>
          <p:cNvPr name="Connector 10" id="10"/>
          <p:cNvCxnSpPr/>
          <p:nvPr/>
        </p:nvCxnSpPr>
        <p:spPr>
          <a:xfrm rot="-42969" flipH="false" flipV="false">
            <a:off x="6604040" y="1962150"/>
            <a:ext cx="1016000" cy="12700"/>
          </a:xfrm>
          <a:prstGeom prst="straightConnector1">
            <a:avLst/>
          </a:prstGeom>
          <a:solidFill>
            <a:srgbClr val="DEE0E3">
              <a:alpha val="100000"/>
            </a:srgbClr>
          </a:solidFill>
          <a:ln w="25400" cmpd="sng" cap="flat">
            <a:solidFill>
              <a:srgbClr val="2563EB">
                <a:alpha val="100000"/>
              </a:srgbClr>
            </a:solidFill>
            <a:prstDash val="solid"/>
            <a:round/>
            <a:headEnd type="none" w="lg" len="lg"/>
            <a:tailEnd type="none" w="lg" len="lg"/>
          </a:ln>
        </p:spPr>
      </p:cxnSp>
      <p:sp>
        <p:nvSpPr>
          <p:cNvPr name="AutoShape 11" id="11"/>
          <p:cNvSpPr/>
          <p:nvPr/>
        </p:nvSpPr>
        <p:spPr>
          <a:xfrm rot="0" flipH="false" flipV="false">
            <a:off x="6604000" y="2222500"/>
            <a:ext cx="4826000" cy="3556000"/>
          </a:xfrm>
          <a:prstGeom prst="rect">
            <a:avLst/>
          </a:prstGeom>
          <a:noFill/>
          <a:ln w="12700" cmpd="sng" cap="flat">
            <a:noFill/>
            <a:prstDash val="solid"/>
            <a:round/>
          </a:ln>
        </p:spPr>
        <p:txBody>
          <a:bodyPr anchor="ctr" rtlCol="false" anchorCtr="false" vert="horz" wrap="square" lIns="0" rIns="0" tIns="0" bIns="0"/>
          <a:lstStyle/>
          <a:p>
            <a:pPr algn="l" indent="-177800" marL="177800">
              <a:lnSpc>
                <a:spcPct val="150000"/>
              </a:lnSpc>
              <a:buClr>
                <a:srgbClr val="536174"/>
              </a:buClr>
              <a:buChar char="•"/>
              <a:defRPr/>
            </a:pPr>
            <a:r>
              <a:rPr lang="en-US" b="false" i="false" strike="noStrike" u="none" sz="1400">
                <a:solidFill>
                  <a:srgbClr val="536174"/>
                </a:solidFill>
                <a:latin typeface="Noto Sans SC"/>
                <a:ea typeface="Noto Sans SC"/>
                <a:cs typeface="Noto Sans SC"/>
                <a:sym typeface="Noto Sans SC"/>
              </a:rPr>
              <a:t>判断开源博客方案的适用边界</a:t>
            </a:r>
            <a:endParaRPr lang="en-US" sz="1100"/>
          </a:p>
          <a:p>
            <a:pPr algn="l" indent="-177800" marL="177800">
              <a:lnSpc>
                <a:spcPct val="150000"/>
              </a:lnSpc>
              <a:buClr>
                <a:srgbClr val="536174"/>
              </a:buClr>
              <a:buChar char="•"/>
            </a:pPr>
            <a:r>
              <a:rPr lang="en-US" b="false" i="false" strike="noStrike" u="none" sz="1400">
                <a:solidFill>
                  <a:srgbClr val="536174"/>
                </a:solidFill>
                <a:latin typeface="Noto Sans SC"/>
                <a:ea typeface="Noto Sans SC"/>
                <a:cs typeface="Noto Sans SC"/>
                <a:sym typeface="Noto Sans SC"/>
              </a:rPr>
              <a:t>掌握Ghost本地安装、启动、停止、备份方法</a:t>
            </a:r>
          </a:p>
          <a:p>
            <a:pPr algn="l" indent="-177800" marL="177800">
              <a:lnSpc>
                <a:spcPct val="150000"/>
              </a:lnSpc>
              <a:buClr>
                <a:srgbClr val="536174"/>
              </a:buClr>
              <a:buChar char="•"/>
            </a:pPr>
            <a:r>
              <a:rPr lang="en-US" b="false" i="false" strike="noStrike" u="none" sz="1400">
                <a:solidFill>
                  <a:srgbClr val="536174"/>
                </a:solidFill>
                <a:latin typeface="Noto Sans SC"/>
                <a:ea typeface="Noto Sans SC"/>
                <a:cs typeface="Noto Sans SC"/>
                <a:sym typeface="Noto Sans SC"/>
              </a:rPr>
              <a:t>定位主题、内容API、标签和评论模块</a:t>
            </a:r>
          </a:p>
          <a:p>
            <a:pPr algn="l" indent="-177800" marL="177800">
              <a:lnSpc>
                <a:spcPct val="150000"/>
              </a:lnSpc>
              <a:buClr>
                <a:srgbClr val="536174"/>
              </a:buClr>
              <a:buChar char="•"/>
            </a:pPr>
            <a:r>
              <a:rPr lang="en-US" b="false" i="false" strike="noStrike" u="none" sz="1400">
                <a:solidFill>
                  <a:srgbClr val="536174"/>
                </a:solidFill>
                <a:latin typeface="Noto Sans SC"/>
                <a:ea typeface="Noto Sans SC"/>
                <a:cs typeface="Noto Sans SC"/>
                <a:sym typeface="Noto Sans SC"/>
              </a:rPr>
              <a:t>完成至少1项非换色类自主扩展功能</a:t>
            </a:r>
          </a:p>
          <a:p>
            <a:pPr algn="l" indent="-177800" marL="177800">
              <a:lnSpc>
                <a:spcPct val="150000"/>
              </a:lnSpc>
              <a:buClr>
                <a:srgbClr val="536174"/>
              </a:buClr>
              <a:buChar char="•"/>
            </a:pPr>
            <a:r>
              <a:rPr lang="en-US" b="false" i="false" strike="noStrike" u="none" sz="1400">
                <a:solidFill>
                  <a:srgbClr val="536174"/>
                </a:solidFill>
                <a:latin typeface="Noto Sans SC"/>
                <a:ea typeface="Noto Sans SC"/>
                <a:cs typeface="Noto Sans SC"/>
                <a:sym typeface="Noto Sans SC"/>
              </a:rPr>
              <a:t>完成18项功能、权限、界面、恢复测试</a:t>
            </a:r>
          </a:p>
          <a:p>
            <a:pPr algn="l" indent="-177800" marL="177800">
              <a:lnSpc>
                <a:spcPct val="150000"/>
              </a:lnSpc>
              <a:buClr>
                <a:srgbClr val="536174"/>
              </a:buClr>
              <a:buChar char="•"/>
            </a:pPr>
            <a:r>
              <a:rPr lang="en-US" b="false" i="false" strike="noStrike" u="none" sz="1400">
                <a:solidFill>
                  <a:srgbClr val="536174"/>
                </a:solidFill>
                <a:latin typeface="Noto Sans SC"/>
                <a:ea typeface="Noto Sans SC"/>
                <a:cs typeface="Noto Sans SC"/>
                <a:sym typeface="Noto Sans SC"/>
              </a:rPr>
              <a:t>掌握Issue、PR、Code Review协作流程</a:t>
            </a:r>
          </a:p>
          <a:p>
            <a:pPr algn="l" indent="-177800" marL="177800">
              <a:lnSpc>
                <a:spcPct val="150000"/>
              </a:lnSpc>
              <a:buClr>
                <a:srgbClr val="536174"/>
              </a:buClr>
              <a:buChar char="•"/>
            </a:pPr>
            <a:r>
              <a:rPr lang="en-US" b="false" i="false" strike="noStrike" u="none" sz="1400">
                <a:solidFill>
                  <a:srgbClr val="536174"/>
                </a:solidFill>
                <a:latin typeface="Noto Sans SC"/>
                <a:ea typeface="Noto Sans SC"/>
                <a:cs typeface="Noto Sans SC"/>
                <a:sym typeface="Noto Sans SC"/>
              </a:rPr>
              <a:t>交付可现场运行的个人博客系统</a:t>
            </a:r>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F2F4F8">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762000"/>
          </a:xfrm>
          <a:prstGeom prst="roundRect">
            <a:avLst>
              <a:gd name="adj" fmla="val 0"/>
            </a:avLst>
          </a:prstGeom>
          <a:solidFill>
            <a:srgbClr val="0D132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508000" y="152400"/>
            <a:ext cx="7620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200">
                <a:solidFill>
                  <a:srgbClr val="FFFFFF"/>
                </a:solidFill>
                <a:latin typeface="Noto Sans SC"/>
                <a:ea typeface="Noto Sans SC"/>
                <a:cs typeface="Noto Sans SC"/>
                <a:sym typeface="Noto Sans SC"/>
              </a:rPr>
              <a:t>02 技术选型与路线</a:t>
            </a:r>
            <a:endParaRPr lang="en-US" sz="1100"/>
          </a:p>
        </p:txBody>
      </p:sp>
      <p:sp>
        <p:nvSpPr>
          <p:cNvPr name="AutoShape 4" id="4"/>
          <p:cNvSpPr/>
          <p:nvPr/>
        </p:nvSpPr>
        <p:spPr>
          <a:xfrm rot="0" flipH="false" flipV="false">
            <a:off x="9525000" y="228600"/>
            <a:ext cx="2159000" cy="381000"/>
          </a:xfrm>
          <a:prstGeom prst="rect">
            <a:avLst/>
          </a:prstGeom>
          <a:noFill/>
          <a:ln w="12700" cmpd="sng" cap="flat">
            <a:noFill/>
            <a:prstDash val="solid"/>
            <a:round/>
          </a:ln>
        </p:spPr>
        <p:txBody>
          <a:bodyPr anchor="ctr" rtlCol="false" anchorCtr="false" vert="horz" wrap="square" lIns="0" rIns="0" tIns="0" bIns="0"/>
          <a:lstStyle/>
          <a:p>
            <a:pPr algn="r" marL="0" indent="0">
              <a:lnSpc>
                <a:spcPct val="125000"/>
              </a:lnSpc>
              <a:defRPr/>
            </a:pPr>
            <a:r>
              <a:rPr lang="en-US" b="false" i="false" strike="noStrike" u="none" sz="1200">
                <a:solidFill>
                  <a:srgbClr val="BFD7FF"/>
                </a:solidFill>
                <a:latin typeface="Noto Sans SC"/>
                <a:ea typeface="Noto Sans SC"/>
                <a:cs typeface="Noto Sans SC"/>
                <a:sym typeface="Noto Sans SC"/>
              </a:rPr>
              <a:t>实验01 / 共13页</a:t>
            </a:r>
            <a:endParaRPr lang="en-US" sz="1100"/>
          </a:p>
        </p:txBody>
      </p:sp>
      <p:sp>
        <p:nvSpPr>
          <p:cNvPr name="AutoShape 5" id="5"/>
          <p:cNvSpPr/>
          <p:nvPr/>
        </p:nvSpPr>
        <p:spPr>
          <a:xfrm rot="0" flipH="false" flipV="false">
            <a:off x="508000" y="1079500"/>
            <a:ext cx="111760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0D1326"/>
                </a:solidFill>
                <a:latin typeface="Noto Sans SC"/>
                <a:ea typeface="Noto Sans SC"/>
                <a:cs typeface="Noto Sans SC"/>
                <a:sym typeface="Noto Sans SC"/>
              </a:rPr>
              <a:t>路线对比：RealWorld规范 vs Ghost成品</a:t>
            </a:r>
            <a:endParaRPr lang="en-US" sz="1100"/>
          </a:p>
        </p:txBody>
      </p:sp>
      <p:graphicFrame>
        <p:nvGraphicFramePr>
          <p:cNvPr name="Table 6" id="6"/>
          <p:cNvGraphicFramePr>
            <a:graphicFrameLocks noGrp="true"/>
          </p:cNvGraphicFramePr>
          <p:nvPr/>
        </p:nvGraphicFramePr>
        <p:xfrm>
          <a:off x="508000" y="1651000"/>
          <a:ext cx="11176000" cy="2286000"/>
        </p:xfrm>
        <a:graphic>
          <a:graphicData uri="http://schemas.openxmlformats.org/drawingml/2006/table">
            <a:tbl>
              <a:tblPr>
                <a:effectLst/>
              </a:tblPr>
              <a:tblGrid>
                <a:gridCol w="1778000"/>
                <a:gridCol w="4699000"/>
                <a:gridCol w="4699000"/>
              </a:tblGrid>
              <a:tr h="508000">
                <a:tc>
                  <a:txBody>
                    <a:bodyPr anchor="t" rtlCol="false"/>
                    <a:lstStyle/>
                    <a:p>
                      <a:pPr algn="ctr" marL="0" indent="0">
                        <a:lnSpc>
                          <a:spcPct val="100000"/>
                        </a:lnSpc>
                        <a:defRPr/>
                      </a:pPr>
                      <a:r>
                        <a:rPr lang="en-US" b="true" i="false" strike="noStrike" u="none" sz="1300">
                          <a:solidFill>
                            <a:srgbClr val="FFFFFF"/>
                          </a:solidFill>
                          <a:latin typeface="Noto Sans SC"/>
                          <a:ea typeface="Noto Sans SC"/>
                          <a:cs typeface="Noto Sans SC"/>
                          <a:sym typeface="Noto Sans SC"/>
                        </a:rPr>
                        <a:t>对比维度</a:t>
                      </a:r>
                      <a:endParaRPr lang="en-US" sz="1100"/>
                    </a:p>
                  </a:txBody>
                  <a:tcPr anchor="ctr" anchorCtr="false" marL="101600" marR="101600" marT="101600" marB="101600">
                    <a:lnL>
                      <a:noFill/>
                    </a:lnL>
                    <a:lnR>
                      <a:noFill/>
                    </a:lnR>
                    <a:lnT>
                      <a:noFill/>
                    </a:lnT>
                    <a:lnB>
                      <a:noFill/>
                    </a:lnB>
                    <a:solidFill>
                      <a:srgbClr val="0D1326">
                        <a:alpha val="100000"/>
                      </a:srgbClr>
                    </a:solidFill>
                  </a:tcPr>
                </a:tc>
                <a:tc>
                  <a:txBody>
                    <a:bodyPr anchor="t" rtlCol="false"/>
                    <a:lstStyle/>
                    <a:p>
                      <a:pPr algn="ctr" marL="0" indent="0">
                        <a:lnSpc>
                          <a:spcPct val="100000"/>
                        </a:lnSpc>
                        <a:defRPr/>
                      </a:pPr>
                      <a:r>
                        <a:rPr lang="en-US" b="true" i="false" strike="noStrike" u="none" sz="1300">
                          <a:solidFill>
                            <a:srgbClr val="FFFFFF"/>
                          </a:solidFill>
                          <a:latin typeface="Noto Sans SC"/>
                          <a:ea typeface="Noto Sans SC"/>
                          <a:cs typeface="Noto Sans SC"/>
                          <a:sym typeface="Noto Sans SC"/>
                        </a:rPr>
                        <a:t>RealWorld规范路线</a:t>
                      </a:r>
                      <a:endParaRPr lang="en-US" sz="1100"/>
                    </a:p>
                  </a:txBody>
                  <a:tcPr anchor="ctr" anchorCtr="false" marL="101600" marR="101600" marT="101600" marB="101600">
                    <a:lnL>
                      <a:noFill/>
                    </a:lnL>
                    <a:lnR>
                      <a:noFill/>
                    </a:lnR>
                    <a:lnT>
                      <a:noFill/>
                    </a:lnT>
                    <a:lnB>
                      <a:noFill/>
                    </a:lnB>
                    <a:solidFill>
                      <a:srgbClr val="0D1326">
                        <a:alpha val="100000"/>
                      </a:srgbClr>
                    </a:solidFill>
                  </a:tcPr>
                </a:tc>
                <a:tc>
                  <a:txBody>
                    <a:bodyPr anchor="t" rtlCol="false"/>
                    <a:lstStyle/>
                    <a:p>
                      <a:pPr algn="ctr" marL="0" indent="0">
                        <a:lnSpc>
                          <a:spcPct val="100000"/>
                        </a:lnSpc>
                        <a:defRPr/>
                      </a:pPr>
                      <a:r>
                        <a:rPr lang="en-US" b="true" i="false" strike="noStrike" u="none" sz="1300">
                          <a:solidFill>
                            <a:srgbClr val="FFFFFF"/>
                          </a:solidFill>
                          <a:latin typeface="Noto Sans SC"/>
                          <a:ea typeface="Noto Sans SC"/>
                          <a:cs typeface="Noto Sans SC"/>
                          <a:sym typeface="Noto Sans SC"/>
                        </a:rPr>
                        <a:t>Ghost成品路线（选定）</a:t>
                      </a:r>
                      <a:endParaRPr lang="en-US" sz="1100"/>
                    </a:p>
                  </a:txBody>
                  <a:tcPr anchor="ctr" anchorCtr="false" marL="101600" marR="101600" marT="101600" marB="101600">
                    <a:lnL>
                      <a:noFill/>
                    </a:lnL>
                    <a:lnR>
                      <a:noFill/>
                    </a:lnR>
                    <a:lnT>
                      <a:noFill/>
                    </a:lnT>
                    <a:lnB>
                      <a:noFill/>
                    </a:lnB>
                    <a:solidFill>
                      <a:srgbClr val="2563EB">
                        <a:alpha val="100000"/>
                      </a:srgbClr>
                    </a:solidFill>
                  </a:tcPr>
                </a:tc>
              </a:tr>
              <a:tr h="444500">
                <a:tc>
                  <a:txBody>
                    <a:bodyPr anchor="t" rtlCol="false"/>
                    <a:lstStyle/>
                    <a:p>
                      <a:pPr algn="ctr" marL="0" indent="0">
                        <a:lnSpc>
                          <a:spcPct val="100000"/>
                        </a:lnSpc>
                        <a:defRPr/>
                      </a:pPr>
                      <a:r>
                        <a:rPr lang="en-US" b="true" i="false" strike="noStrike" u="none" sz="1200">
                          <a:solidFill>
                            <a:srgbClr val="1F2329"/>
                          </a:solidFill>
                          <a:latin typeface="Noto Sans SC"/>
                          <a:ea typeface="Noto Sans SC"/>
                          <a:cs typeface="Noto Sans SC"/>
                          <a:sym typeface="Noto Sans SC"/>
                        </a:rPr>
                        <a:t>开发量</a:t>
                      </a:r>
                      <a:endParaRPr lang="en-US" sz="1100"/>
                    </a:p>
                  </a:txBody>
                  <a:tcPr anchor="ctr" anchorCtr="false" marL="101600" marR="101600" marT="101600" marB="101600">
                    <a:lnL>
                      <a:noFill/>
                    </a:lnL>
                    <a:lnR>
                      <a:noFill/>
                    </a:lnR>
                    <a:lnT>
                      <a:noFill/>
                    </a:lnT>
                    <a:lnB>
                      <a:noFill/>
                    </a:lnB>
                    <a:noFill/>
                  </a:tcPr>
                </a:tc>
                <a:tc>
                  <a:txBody>
                    <a:bodyPr anchor="t" rtlCol="false"/>
                    <a:lstStyle/>
                    <a:p>
                      <a:pPr algn="l" marL="0" indent="0">
                        <a:lnSpc>
                          <a:spcPct val="100000"/>
                        </a:lnSpc>
                        <a:defRPr/>
                      </a:pPr>
                      <a:r>
                        <a:rPr lang="en-US" b="false" i="false" strike="noStrike" u="none" sz="1200">
                          <a:solidFill>
                            <a:srgbClr val="1F2329"/>
                          </a:solidFill>
                          <a:latin typeface="Noto Sans SC"/>
                          <a:ea typeface="Noto Sans SC"/>
                          <a:cs typeface="Noto Sans SC"/>
                          <a:sym typeface="Noto Sans SC"/>
                        </a:rPr>
                        <a:t>需从零实现前后端，工作量大</a:t>
                      </a:r>
                      <a:endParaRPr lang="en-US" sz="1100"/>
                    </a:p>
                  </a:txBody>
                  <a:tcPr anchor="ctr" anchorCtr="false" marL="101600" marR="101600" marT="101600" marB="101600">
                    <a:lnL>
                      <a:noFill/>
                    </a:lnL>
                    <a:lnR>
                      <a:noFill/>
                    </a:lnR>
                    <a:lnT>
                      <a:noFill/>
                    </a:lnT>
                    <a:lnB>
                      <a:noFill/>
                    </a:lnB>
                    <a:noFill/>
                  </a:tcPr>
                </a:tc>
                <a:tc>
                  <a:txBody>
                    <a:bodyPr anchor="t" rtlCol="false"/>
                    <a:lstStyle/>
                    <a:p>
                      <a:pPr algn="l" marL="0" indent="0">
                        <a:lnSpc>
                          <a:spcPct val="100000"/>
                        </a:lnSpc>
                        <a:defRPr/>
                      </a:pPr>
                      <a:r>
                        <a:rPr lang="en-US" b="false" i="false" strike="noStrike" u="none" sz="1200">
                          <a:solidFill>
                            <a:srgbClr val="1F2329"/>
                          </a:solidFill>
                          <a:latin typeface="Noto Sans SC"/>
                          <a:ea typeface="Noto Sans SC"/>
                          <a:cs typeface="Noto Sans SC"/>
                          <a:sym typeface="Noto Sans SC"/>
                        </a:rPr>
                        <a:t>成熟平台，聚焦二次开发</a:t>
                      </a:r>
                      <a:endParaRPr lang="en-US" sz="1100"/>
                    </a:p>
                  </a:txBody>
                  <a:tcPr anchor="ctr" anchorCtr="false" marL="101600" marR="101600" marT="101600" marB="101600">
                    <a:lnL>
                      <a:noFill/>
                    </a:lnL>
                    <a:lnR>
                      <a:noFill/>
                    </a:lnR>
                    <a:lnT>
                      <a:noFill/>
                    </a:lnT>
                    <a:lnB>
                      <a:noFill/>
                    </a:lnB>
                    <a:noFill/>
                  </a:tcPr>
                </a:tc>
              </a:tr>
              <a:tr h="444500">
                <a:tc>
                  <a:txBody>
                    <a:bodyPr anchor="t" rtlCol="false"/>
                    <a:lstStyle/>
                    <a:p>
                      <a:pPr algn="ctr" marL="0" indent="0">
                        <a:lnSpc>
                          <a:spcPct val="100000"/>
                        </a:lnSpc>
                        <a:defRPr/>
                      </a:pPr>
                      <a:r>
                        <a:rPr lang="en-US" b="true" i="false" strike="noStrike" u="none" sz="1200">
                          <a:solidFill>
                            <a:srgbClr val="1F2329"/>
                          </a:solidFill>
                          <a:latin typeface="Noto Sans SC"/>
                          <a:ea typeface="Noto Sans SC"/>
                          <a:cs typeface="Noto Sans SC"/>
                          <a:sym typeface="Noto Sans SC"/>
                        </a:rPr>
                        <a:t>功能完整度</a:t>
                      </a:r>
                      <a:endParaRPr lang="en-US" sz="1100"/>
                    </a:p>
                  </a:txBody>
                  <a:tcPr anchor="ctr" anchorCtr="false" marL="101600" marR="101600" marT="101600" marB="101600">
                    <a:lnL>
                      <a:noFill/>
                    </a:lnL>
                    <a:lnR>
                      <a:noFill/>
                    </a:lnR>
                    <a:lnT>
                      <a:noFill/>
                    </a:lnT>
                    <a:lnB>
                      <a:noFill/>
                    </a:lnB>
                    <a:noFill/>
                  </a:tcPr>
                </a:tc>
                <a:tc>
                  <a:txBody>
                    <a:bodyPr anchor="t" rtlCol="false"/>
                    <a:lstStyle/>
                    <a:p>
                      <a:pPr algn="l" marL="0" indent="0">
                        <a:lnSpc>
                          <a:spcPct val="100000"/>
                        </a:lnSpc>
                        <a:defRPr/>
                      </a:pPr>
                      <a:r>
                        <a:rPr lang="en-US" b="false" i="false" strike="noStrike" u="none" sz="1200">
                          <a:solidFill>
                            <a:srgbClr val="1F2329"/>
                          </a:solidFill>
                          <a:latin typeface="Noto Sans SC"/>
                          <a:ea typeface="Noto Sans SC"/>
                          <a:cs typeface="Noto Sans SC"/>
                          <a:sym typeface="Noto Sans SC"/>
                        </a:rPr>
                        <a:t>需自行实现编辑器、会员、评论</a:t>
                      </a:r>
                      <a:endParaRPr lang="en-US" sz="1100"/>
                    </a:p>
                  </a:txBody>
                  <a:tcPr anchor="ctr" anchorCtr="false" marL="101600" marR="101600" marT="101600" marB="101600">
                    <a:lnL>
                      <a:noFill/>
                    </a:lnL>
                    <a:lnR>
                      <a:noFill/>
                    </a:lnR>
                    <a:lnT>
                      <a:noFill/>
                    </a:lnT>
                    <a:lnB>
                      <a:noFill/>
                    </a:lnB>
                    <a:noFill/>
                  </a:tcPr>
                </a:tc>
                <a:tc>
                  <a:txBody>
                    <a:bodyPr anchor="t" rtlCol="false"/>
                    <a:lstStyle/>
                    <a:p>
                      <a:pPr algn="l" marL="0" indent="0">
                        <a:lnSpc>
                          <a:spcPct val="100000"/>
                        </a:lnSpc>
                        <a:defRPr/>
                      </a:pPr>
                      <a:r>
                        <a:rPr lang="en-US" b="false" i="false" strike="noStrike" u="none" sz="1200">
                          <a:solidFill>
                            <a:srgbClr val="1F2329"/>
                          </a:solidFill>
                          <a:latin typeface="Noto Sans SC"/>
                          <a:ea typeface="Noto Sans SC"/>
                          <a:cs typeface="Noto Sans SC"/>
                          <a:sym typeface="Noto Sans SC"/>
                        </a:rPr>
                        <a:t>内置编辑器、会员、评论、搜索</a:t>
                      </a:r>
                      <a:endParaRPr lang="en-US" sz="1100"/>
                    </a:p>
                  </a:txBody>
                  <a:tcPr anchor="ctr" anchorCtr="false" marL="101600" marR="101600" marT="101600" marB="101600">
                    <a:lnL>
                      <a:noFill/>
                    </a:lnL>
                    <a:lnR>
                      <a:noFill/>
                    </a:lnR>
                    <a:lnT>
                      <a:noFill/>
                    </a:lnT>
                    <a:lnB>
                      <a:noFill/>
                    </a:lnB>
                    <a:noFill/>
                  </a:tcPr>
                </a:tc>
              </a:tr>
              <a:tr h="444500">
                <a:tc>
                  <a:txBody>
                    <a:bodyPr anchor="t" rtlCol="false"/>
                    <a:lstStyle/>
                    <a:p>
                      <a:pPr algn="ctr" marL="0" indent="0">
                        <a:lnSpc>
                          <a:spcPct val="100000"/>
                        </a:lnSpc>
                        <a:defRPr/>
                      </a:pPr>
                      <a:r>
                        <a:rPr lang="en-US" b="true" i="false" strike="noStrike" u="none" sz="1200">
                          <a:solidFill>
                            <a:srgbClr val="1F2329"/>
                          </a:solidFill>
                          <a:latin typeface="Noto Sans SC"/>
                          <a:ea typeface="Noto Sans SC"/>
                          <a:cs typeface="Noto Sans SC"/>
                          <a:sym typeface="Noto Sans SC"/>
                        </a:rPr>
                        <a:t>扩展边界</a:t>
                      </a:r>
                      <a:endParaRPr lang="en-US" sz="1100"/>
                    </a:p>
                  </a:txBody>
                  <a:tcPr anchor="ctr" anchorCtr="false" marL="101600" marR="101600" marT="101600" marB="101600">
                    <a:lnL>
                      <a:noFill/>
                    </a:lnL>
                    <a:lnR>
                      <a:noFill/>
                    </a:lnR>
                    <a:lnT>
                      <a:noFill/>
                    </a:lnT>
                    <a:lnB>
                      <a:noFill/>
                    </a:lnB>
                    <a:noFill/>
                  </a:tcPr>
                </a:tc>
                <a:tc>
                  <a:txBody>
                    <a:bodyPr anchor="t" rtlCol="false"/>
                    <a:lstStyle/>
                    <a:p>
                      <a:pPr algn="l" marL="0" indent="0">
                        <a:lnSpc>
                          <a:spcPct val="100000"/>
                        </a:lnSpc>
                        <a:defRPr/>
                      </a:pPr>
                      <a:r>
                        <a:rPr lang="en-US" b="false" i="false" strike="noStrike" u="none" sz="1200">
                          <a:solidFill>
                            <a:srgbClr val="1F2329"/>
                          </a:solidFill>
                          <a:latin typeface="Noto Sans SC"/>
                          <a:ea typeface="Noto Sans SC"/>
                          <a:cs typeface="Noto Sans SC"/>
                          <a:sym typeface="Noto Sans SC"/>
                        </a:rPr>
                        <a:t>完全自主，无边界限制</a:t>
                      </a:r>
                      <a:endParaRPr lang="en-US" sz="1100"/>
                    </a:p>
                  </a:txBody>
                  <a:tcPr anchor="ctr" anchorCtr="false" marL="101600" marR="101600" marT="101600" marB="101600">
                    <a:lnL>
                      <a:noFill/>
                    </a:lnL>
                    <a:lnR>
                      <a:noFill/>
                    </a:lnR>
                    <a:lnT>
                      <a:noFill/>
                    </a:lnT>
                    <a:lnB>
                      <a:noFill/>
                    </a:lnB>
                    <a:noFill/>
                  </a:tcPr>
                </a:tc>
                <a:tc>
                  <a:txBody>
                    <a:bodyPr anchor="t" rtlCol="false"/>
                    <a:lstStyle/>
                    <a:p>
                      <a:pPr algn="l" marL="0" indent="0">
                        <a:lnSpc>
                          <a:spcPct val="100000"/>
                        </a:lnSpc>
                        <a:defRPr/>
                      </a:pPr>
                      <a:r>
                        <a:rPr lang="en-US" b="false" i="false" strike="noStrike" u="none" sz="1200">
                          <a:solidFill>
                            <a:srgbClr val="1F2329"/>
                          </a:solidFill>
                          <a:latin typeface="Noto Sans SC"/>
                          <a:ea typeface="Noto Sans SC"/>
                          <a:cs typeface="Noto Sans SC"/>
                          <a:sym typeface="Noto Sans SC"/>
                        </a:rPr>
                        <a:t>主题+Content API，边界清晰</a:t>
                      </a:r>
                      <a:endParaRPr lang="en-US" sz="1100"/>
                    </a:p>
                  </a:txBody>
                  <a:tcPr anchor="ctr" anchorCtr="false" marL="101600" marR="101600" marT="101600" marB="101600">
                    <a:lnL>
                      <a:noFill/>
                    </a:lnL>
                    <a:lnR>
                      <a:noFill/>
                    </a:lnR>
                    <a:lnT>
                      <a:noFill/>
                    </a:lnT>
                    <a:lnB>
                      <a:noFill/>
                    </a:lnB>
                    <a:noFill/>
                  </a:tcPr>
                </a:tc>
              </a:tr>
              <a:tr h="444500">
                <a:tc>
                  <a:txBody>
                    <a:bodyPr anchor="t" rtlCol="false"/>
                    <a:lstStyle/>
                    <a:p>
                      <a:pPr algn="ctr" marL="0" indent="0">
                        <a:lnSpc>
                          <a:spcPct val="100000"/>
                        </a:lnSpc>
                        <a:defRPr/>
                      </a:pPr>
                      <a:r>
                        <a:rPr lang="en-US" b="true" i="false" strike="noStrike" u="none" sz="1200">
                          <a:solidFill>
                            <a:srgbClr val="1F2329"/>
                          </a:solidFill>
                          <a:latin typeface="Noto Sans SC"/>
                          <a:ea typeface="Noto Sans SC"/>
                          <a:cs typeface="Noto Sans SC"/>
                          <a:sym typeface="Noto Sans SC"/>
                        </a:rPr>
                        <a:t>许可证</a:t>
                      </a:r>
                      <a:endParaRPr lang="en-US" sz="1100"/>
                    </a:p>
                  </a:txBody>
                  <a:tcPr anchor="ctr" anchorCtr="false" marL="101600" marR="101600" marT="101600" marB="101600">
                    <a:lnL>
                      <a:noFill/>
                    </a:lnL>
                    <a:lnR>
                      <a:noFill/>
                    </a:lnR>
                    <a:lnT>
                      <a:noFill/>
                    </a:lnT>
                    <a:lnB>
                      <a:noFill/>
                    </a:lnB>
                    <a:noFill/>
                  </a:tcPr>
                </a:tc>
                <a:tc>
                  <a:txBody>
                    <a:bodyPr anchor="t" rtlCol="false"/>
                    <a:lstStyle/>
                    <a:p>
                      <a:pPr algn="l" marL="0" indent="0">
                        <a:lnSpc>
                          <a:spcPct val="100000"/>
                        </a:lnSpc>
                        <a:defRPr/>
                      </a:pPr>
                      <a:r>
                        <a:rPr lang="en-US" b="false" i="false" strike="noStrike" u="none" sz="1200">
                          <a:solidFill>
                            <a:srgbClr val="1F2329"/>
                          </a:solidFill>
                          <a:latin typeface="Noto Sans SC"/>
                          <a:ea typeface="Noto Sans SC"/>
                          <a:cs typeface="Noto Sans SC"/>
                          <a:sym typeface="Noto Sans SC"/>
                        </a:rPr>
                        <a:t>MIT，各实现版本不一</a:t>
                      </a:r>
                      <a:endParaRPr lang="en-US" sz="1100"/>
                    </a:p>
                  </a:txBody>
                  <a:tcPr anchor="ctr" anchorCtr="false" marL="101600" marR="101600" marT="101600" marB="101600">
                    <a:lnL>
                      <a:noFill/>
                    </a:lnL>
                    <a:lnR>
                      <a:noFill/>
                    </a:lnR>
                    <a:lnT>
                      <a:noFill/>
                    </a:lnT>
                    <a:lnB>
                      <a:noFill/>
                    </a:lnB>
                    <a:noFill/>
                  </a:tcPr>
                </a:tc>
                <a:tc>
                  <a:txBody>
                    <a:bodyPr anchor="t" rtlCol="false"/>
                    <a:lstStyle/>
                    <a:p>
                      <a:pPr algn="l" marL="0" indent="0">
                        <a:lnSpc>
                          <a:spcPct val="100000"/>
                        </a:lnSpc>
                        <a:defRPr/>
                      </a:pPr>
                      <a:r>
                        <a:rPr lang="en-US" b="false" i="false" strike="noStrike" u="none" sz="1200">
                          <a:solidFill>
                            <a:srgbClr val="1F2329"/>
                          </a:solidFill>
                          <a:latin typeface="Noto Sans SC"/>
                          <a:ea typeface="Noto Sans SC"/>
                          <a:cs typeface="Noto Sans SC"/>
                          <a:sym typeface="Noto Sans SC"/>
                        </a:rPr>
                        <a:t>MIT，二次开发无法律风险</a:t>
                      </a:r>
                      <a:endParaRPr lang="en-US" sz="1100"/>
                    </a:p>
                  </a:txBody>
                  <a:tcPr anchor="ctr" anchorCtr="false" marL="101600" marR="101600" marT="101600" marB="101600">
                    <a:lnL>
                      <a:noFill/>
                    </a:lnL>
                    <a:lnR>
                      <a:noFill/>
                    </a:lnR>
                    <a:lnT>
                      <a:noFill/>
                    </a:lnT>
                    <a:lnB>
                      <a:noFill/>
                    </a:lnB>
                    <a:noFill/>
                  </a:tcPr>
                </a:tc>
              </a:tr>
            </a:tbl>
          </a:graphicData>
        </a:graphic>
      </p:graphicFrame>
      <p:sp>
        <p:nvSpPr>
          <p:cNvPr name="AutoShape 7" id="7"/>
          <p:cNvSpPr/>
          <p:nvPr/>
        </p:nvSpPr>
        <p:spPr>
          <a:xfrm rot="0" flipH="false" flipV="false">
            <a:off x="508000" y="4254500"/>
            <a:ext cx="111760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0D1326"/>
                </a:solidFill>
                <a:latin typeface="Noto Sans SC"/>
                <a:ea typeface="Noto Sans SC"/>
                <a:cs typeface="Noto Sans SC"/>
                <a:sym typeface="Noto Sans SC"/>
              </a:rPr>
              <a:t>技术栈</a:t>
            </a:r>
            <a:endParaRPr lang="en-US" sz="1100"/>
          </a:p>
        </p:txBody>
      </p:sp>
      <p:sp>
        <p:nvSpPr>
          <p:cNvPr name="AutoShape 8" id="8"/>
          <p:cNvSpPr/>
          <p:nvPr/>
        </p:nvSpPr>
        <p:spPr>
          <a:xfrm rot="0" flipH="false" flipV="false">
            <a:off x="508000" y="4826000"/>
            <a:ext cx="2540000" cy="1270000"/>
          </a:xfrm>
          <a:prstGeom prst="roundRect">
            <a:avLst>
              <a:gd name="adj" fmla="val 0"/>
            </a:avLst>
          </a:prstGeom>
          <a:solidFill>
            <a:srgbClr val="FFFFFF">
              <a:alpha val="100000"/>
            </a:srgbClr>
          </a:solidFill>
          <a:ln w="12700" cmpd="sng" cap="flat">
            <a:solidFill>
              <a:srgbClr val="BFD7FF">
                <a:alpha val="100000"/>
              </a:srgbClr>
            </a:solid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635000" y="5016500"/>
            <a:ext cx="2286000" cy="3175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400">
                <a:solidFill>
                  <a:srgbClr val="2563EB"/>
                </a:solidFill>
                <a:latin typeface="Noto Sans SC"/>
                <a:ea typeface="Noto Sans SC"/>
                <a:cs typeface="Noto Sans SC"/>
                <a:sym typeface="Noto Sans SC"/>
              </a:rPr>
              <a:t>博客平台</a:t>
            </a:r>
            <a:endParaRPr lang="en-US" sz="1100"/>
          </a:p>
        </p:txBody>
      </p:sp>
      <p:sp>
        <p:nvSpPr>
          <p:cNvPr name="AutoShape 10" id="10"/>
          <p:cNvSpPr/>
          <p:nvPr/>
        </p:nvSpPr>
        <p:spPr>
          <a:xfrm rot="0" flipH="false" flipV="false">
            <a:off x="635000" y="5397500"/>
            <a:ext cx="2286000" cy="5715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600">
                <a:solidFill>
                  <a:srgbClr val="0D1326"/>
                </a:solidFill>
                <a:latin typeface="Noto Sans SC"/>
                <a:ea typeface="Noto Sans SC"/>
                <a:cs typeface="Noto Sans SC"/>
                <a:sym typeface="Noto Sans SC"/>
              </a:rPr>
              <a:t>Ghost 5.130.6</a:t>
            </a:r>
            <a:endParaRPr lang="en-US" sz="1100"/>
          </a:p>
        </p:txBody>
      </p:sp>
      <p:sp>
        <p:nvSpPr>
          <p:cNvPr name="AutoShape 11" id="11"/>
          <p:cNvSpPr/>
          <p:nvPr/>
        </p:nvSpPr>
        <p:spPr>
          <a:xfrm rot="0" flipH="false" flipV="false">
            <a:off x="3302000" y="4826000"/>
            <a:ext cx="2540000" cy="1270000"/>
          </a:xfrm>
          <a:prstGeom prst="roundRect">
            <a:avLst>
              <a:gd name="adj" fmla="val 0"/>
            </a:avLst>
          </a:prstGeom>
          <a:solidFill>
            <a:srgbClr val="FFFFFF">
              <a:alpha val="100000"/>
            </a:srgbClr>
          </a:solidFill>
          <a:ln w="12700" cmpd="sng" cap="flat">
            <a:solidFill>
              <a:srgbClr val="BFD7FF">
                <a:alpha val="100000"/>
              </a:srgbClr>
            </a:solid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3429000" y="5016500"/>
            <a:ext cx="2286000" cy="3175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400">
                <a:solidFill>
                  <a:srgbClr val="2563EB"/>
                </a:solidFill>
                <a:latin typeface="Noto Sans SC"/>
                <a:ea typeface="Noto Sans SC"/>
                <a:cs typeface="Noto Sans SC"/>
                <a:sym typeface="Noto Sans SC"/>
              </a:rPr>
              <a:t>运行环境</a:t>
            </a:r>
            <a:endParaRPr lang="en-US" sz="1100"/>
          </a:p>
        </p:txBody>
      </p:sp>
      <p:sp>
        <p:nvSpPr>
          <p:cNvPr name="AutoShape 13" id="13"/>
          <p:cNvSpPr/>
          <p:nvPr/>
        </p:nvSpPr>
        <p:spPr>
          <a:xfrm rot="0" flipH="false" flipV="false">
            <a:off x="3429000" y="5397500"/>
            <a:ext cx="2286000" cy="5715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600">
                <a:solidFill>
                  <a:srgbClr val="0D1326"/>
                </a:solidFill>
                <a:latin typeface="Noto Sans SC"/>
                <a:ea typeface="Noto Sans SC"/>
                <a:cs typeface="Noto Sans SC"/>
                <a:sym typeface="Noto Sans SC"/>
              </a:rPr>
              <a:t>Node.js v22.23.2</a:t>
            </a:r>
            <a:endParaRPr lang="en-US" sz="1100"/>
          </a:p>
        </p:txBody>
      </p:sp>
      <p:sp>
        <p:nvSpPr>
          <p:cNvPr name="AutoShape 14" id="14"/>
          <p:cNvSpPr/>
          <p:nvPr/>
        </p:nvSpPr>
        <p:spPr>
          <a:xfrm rot="0" flipH="false" flipV="false">
            <a:off x="6096000" y="4826000"/>
            <a:ext cx="2540000" cy="1270000"/>
          </a:xfrm>
          <a:prstGeom prst="roundRect">
            <a:avLst>
              <a:gd name="adj" fmla="val 0"/>
            </a:avLst>
          </a:prstGeom>
          <a:solidFill>
            <a:srgbClr val="FFFFFF">
              <a:alpha val="100000"/>
            </a:srgbClr>
          </a:solidFill>
          <a:ln w="12700" cmpd="sng" cap="flat">
            <a:solidFill>
              <a:srgbClr val="BFD7FF">
                <a:alpha val="100000"/>
              </a:srgbClr>
            </a:solid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6223000" y="5016500"/>
            <a:ext cx="2286000" cy="3175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400">
                <a:solidFill>
                  <a:srgbClr val="2563EB"/>
                </a:solidFill>
                <a:latin typeface="Noto Sans SC"/>
                <a:ea typeface="Noto Sans SC"/>
                <a:cs typeface="Noto Sans SC"/>
                <a:sym typeface="Noto Sans SC"/>
              </a:rPr>
              <a:t>数据库</a:t>
            </a:r>
            <a:endParaRPr lang="en-US" sz="1100"/>
          </a:p>
        </p:txBody>
      </p:sp>
      <p:sp>
        <p:nvSpPr>
          <p:cNvPr name="AutoShape 16" id="16"/>
          <p:cNvSpPr/>
          <p:nvPr/>
        </p:nvSpPr>
        <p:spPr>
          <a:xfrm rot="0" flipH="false" flipV="false">
            <a:off x="6223000" y="5397500"/>
            <a:ext cx="2286000" cy="5715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600">
                <a:solidFill>
                  <a:srgbClr val="0D1326"/>
                </a:solidFill>
                <a:latin typeface="Noto Sans SC"/>
                <a:ea typeface="Noto Sans SC"/>
                <a:cs typeface="Noto Sans SC"/>
                <a:sym typeface="Noto Sans SC"/>
              </a:rPr>
              <a:t>SQLite 3</a:t>
            </a:r>
            <a:endParaRPr lang="en-US" sz="1100"/>
          </a:p>
        </p:txBody>
      </p:sp>
      <p:sp>
        <p:nvSpPr>
          <p:cNvPr name="AutoShape 17" id="17"/>
          <p:cNvSpPr/>
          <p:nvPr/>
        </p:nvSpPr>
        <p:spPr>
          <a:xfrm rot="0" flipH="false" flipV="false">
            <a:off x="8890000" y="4826000"/>
            <a:ext cx="2794000" cy="1270000"/>
          </a:xfrm>
          <a:prstGeom prst="roundRect">
            <a:avLst>
              <a:gd name="adj" fmla="val 0"/>
            </a:avLst>
          </a:prstGeom>
          <a:solidFill>
            <a:srgbClr val="FFFFFF">
              <a:alpha val="100000"/>
            </a:srgbClr>
          </a:solidFill>
          <a:ln w="12700" cmpd="sng" cap="flat">
            <a:solidFill>
              <a:srgbClr val="BFD7FF">
                <a:alpha val="100000"/>
              </a:srgbClr>
            </a:solid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9017000" y="5016500"/>
            <a:ext cx="2540000" cy="3175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400">
                <a:solidFill>
                  <a:srgbClr val="2563EB"/>
                </a:solidFill>
                <a:latin typeface="Noto Sans SC"/>
                <a:ea typeface="Noto Sans SC"/>
                <a:cs typeface="Noto Sans SC"/>
                <a:sym typeface="Noto Sans SC"/>
              </a:rPr>
              <a:t>主题引擎</a:t>
            </a:r>
            <a:endParaRPr lang="en-US" sz="1100"/>
          </a:p>
        </p:txBody>
      </p:sp>
      <p:sp>
        <p:nvSpPr>
          <p:cNvPr name="AutoShape 19" id="19"/>
          <p:cNvSpPr/>
          <p:nvPr/>
        </p:nvSpPr>
        <p:spPr>
          <a:xfrm rot="0" flipH="false" flipV="false">
            <a:off x="9017000" y="5397500"/>
            <a:ext cx="2540000" cy="5715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600">
                <a:solidFill>
                  <a:srgbClr val="0D1326"/>
                </a:solidFill>
                <a:latin typeface="Noto Sans SC"/>
                <a:ea typeface="Noto Sans SC"/>
                <a:cs typeface="Noto Sans SC"/>
                <a:sym typeface="Noto Sans SC"/>
              </a:rPr>
              <a:t>Handlebars</a:t>
            </a:r>
            <a:endParaRPr lang="en-US" sz="1100"/>
          </a:p>
        </p:txBody>
      </p:sp>
    </p:spTree>
  </p:cSld>
  <p:clrMapOvr>
    <a:masterClrMapping/>
  </p:clrMapOvr>
</p:sld>
</file>

<file path=ppt/slides/slide5.xml><?xml version="1.0" encoding="utf-8"?>
<p:sld xmlns:p="http://schemas.openxmlformats.org/presentationml/2006/main" xmlns:a="http://schemas.openxmlformats.org/drawingml/2006/main">
  <p:cSld>
    <p:bg>
      <p:bgPr>
        <a:solidFill>
          <a:srgbClr val="F2F4F8">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762000"/>
          </a:xfrm>
          <a:prstGeom prst="roundRect">
            <a:avLst>
              <a:gd name="adj" fmla="val 0"/>
            </a:avLst>
          </a:prstGeom>
          <a:solidFill>
            <a:srgbClr val="0D132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508000" y="152400"/>
            <a:ext cx="7620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200">
                <a:solidFill>
                  <a:srgbClr val="FFFFFF"/>
                </a:solidFill>
                <a:latin typeface="Noto Sans SC"/>
                <a:ea typeface="Noto Sans SC"/>
                <a:cs typeface="Noto Sans SC"/>
                <a:sym typeface="Noto Sans SC"/>
              </a:rPr>
              <a:t>03 系统架构</a:t>
            </a:r>
            <a:endParaRPr lang="en-US" sz="1100"/>
          </a:p>
        </p:txBody>
      </p:sp>
      <p:sp>
        <p:nvSpPr>
          <p:cNvPr name="AutoShape 4" id="4"/>
          <p:cNvSpPr/>
          <p:nvPr/>
        </p:nvSpPr>
        <p:spPr>
          <a:xfrm rot="0" flipH="false" flipV="false">
            <a:off x="9525000" y="228600"/>
            <a:ext cx="2159000" cy="381000"/>
          </a:xfrm>
          <a:prstGeom prst="rect">
            <a:avLst/>
          </a:prstGeom>
          <a:noFill/>
          <a:ln w="12700" cmpd="sng" cap="flat">
            <a:noFill/>
            <a:prstDash val="solid"/>
            <a:round/>
          </a:ln>
        </p:spPr>
        <p:txBody>
          <a:bodyPr anchor="ctr" rtlCol="false" anchorCtr="false" vert="horz" wrap="square" lIns="0" rIns="0" tIns="0" bIns="0"/>
          <a:lstStyle/>
          <a:p>
            <a:pPr algn="r" marL="0" indent="0">
              <a:lnSpc>
                <a:spcPct val="125000"/>
              </a:lnSpc>
              <a:defRPr/>
            </a:pPr>
            <a:r>
              <a:rPr lang="en-US" b="false" i="false" strike="noStrike" u="none" sz="1200">
                <a:solidFill>
                  <a:srgbClr val="BFD7FF"/>
                </a:solidFill>
                <a:latin typeface="Noto Sans SC"/>
                <a:ea typeface="Noto Sans SC"/>
                <a:cs typeface="Noto Sans SC"/>
                <a:sym typeface="Noto Sans SC"/>
              </a:rPr>
              <a:t>实验01 / 共13页</a:t>
            </a:r>
            <a:endParaRPr lang="en-US" sz="1100"/>
          </a:p>
        </p:txBody>
      </p:sp>
      <p:sp>
        <p:nvSpPr>
          <p:cNvPr name="AutoShape 5" id="5"/>
          <p:cNvSpPr/>
          <p:nvPr/>
        </p:nvSpPr>
        <p:spPr>
          <a:xfrm rot="0" flipH="false" flipV="false">
            <a:off x="508000" y="1079500"/>
            <a:ext cx="2540000" cy="762000"/>
          </a:xfrm>
          <a:prstGeom prst="roundRect">
            <a:avLst>
              <a:gd name="adj" fmla="val 0"/>
            </a:avLst>
          </a:prstGeom>
          <a:solidFill>
            <a:srgbClr val="2563E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508000" y="1206500"/>
            <a:ext cx="2540000" cy="508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400">
                <a:solidFill>
                  <a:srgbClr val="FFFFFF"/>
                </a:solidFill>
                <a:latin typeface="Noto Sans SC"/>
                <a:ea typeface="Noto Sans SC"/>
                <a:cs typeface="Noto Sans SC"/>
                <a:sym typeface="Noto Sans SC"/>
              </a:rPr>
              <a:t>访客/会员浏览器</a:t>
            </a:r>
            <a:endParaRPr lang="en-US" sz="1100"/>
          </a:p>
        </p:txBody>
      </p:sp>
      <p:cxnSp>
        <p:nvCxnSpPr>
          <p:cNvPr name="Connector 7" id="7"/>
          <p:cNvCxnSpPr/>
          <p:nvPr/>
        </p:nvCxnSpPr>
        <p:spPr>
          <a:xfrm rot="5285450" flipH="false" flipV="false">
            <a:off x="1587500" y="2025756"/>
            <a:ext cx="381000" cy="12700"/>
          </a:xfrm>
          <a:prstGeom prst="straightConnector1">
            <a:avLst/>
          </a:prstGeom>
          <a:solidFill>
            <a:srgbClr val="DEE0E3">
              <a:alpha val="100000"/>
            </a:srgbClr>
          </a:solidFill>
          <a:ln w="25400" cmpd="sng" cap="flat">
            <a:solidFill>
              <a:srgbClr val="0D1326">
                <a:alpha val="100000"/>
              </a:srgbClr>
            </a:solidFill>
            <a:prstDash val="solid"/>
            <a:round/>
            <a:headEnd type="none" w="lg" len="lg"/>
            <a:tailEnd type="arrow" w="lg" len="lg"/>
          </a:ln>
        </p:spPr>
      </p:cxnSp>
      <p:sp>
        <p:nvSpPr>
          <p:cNvPr name="AutoShape 8" id="8"/>
          <p:cNvSpPr/>
          <p:nvPr/>
        </p:nvSpPr>
        <p:spPr>
          <a:xfrm rot="0" flipH="false" flipV="false">
            <a:off x="508000" y="2222500"/>
            <a:ext cx="2540000" cy="1016000"/>
          </a:xfrm>
          <a:prstGeom prst="roundRect">
            <a:avLst>
              <a:gd name="adj" fmla="val 0"/>
            </a:avLst>
          </a:prstGeom>
          <a:solidFill>
            <a:srgbClr val="BFD7FF">
              <a:alpha val="100000"/>
            </a:srgbClr>
          </a:solidFill>
          <a:ln w="25400" cmpd="sng" cap="flat">
            <a:solidFill>
              <a:srgbClr val="2563EB">
                <a:alpha val="100000"/>
              </a:srgbClr>
            </a:solid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635000" y="2349500"/>
            <a:ext cx="2286000" cy="3175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300">
                <a:solidFill>
                  <a:srgbClr val="0D1326"/>
                </a:solidFill>
                <a:latin typeface="Noto Sans SC"/>
                <a:ea typeface="Noto Sans SC"/>
                <a:cs typeface="Noto Sans SC"/>
                <a:sym typeface="Noto Sans SC"/>
              </a:rPr>
              <a:t>自定义主题</a:t>
            </a:r>
            <a:endParaRPr lang="en-US" sz="1100"/>
          </a:p>
        </p:txBody>
      </p:sp>
      <p:sp>
        <p:nvSpPr>
          <p:cNvPr name="AutoShape 10" id="10"/>
          <p:cNvSpPr/>
          <p:nvPr/>
        </p:nvSpPr>
        <p:spPr>
          <a:xfrm rot="0" flipH="false" flipV="false">
            <a:off x="635000" y="2667000"/>
            <a:ext cx="2286000" cy="4445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100">
                <a:solidFill>
                  <a:srgbClr val="536174"/>
                </a:solidFill>
                <a:latin typeface="Noto Sans SC"/>
                <a:ea typeface="Noto Sans SC"/>
                <a:cs typeface="Noto Sans SC"/>
                <a:sym typeface="Noto Sans SC"/>
              </a:rPr>
              <a:t>oss-blog-theme v1.0.0</a:t>
            </a:r>
            <a:endParaRPr lang="en-US" sz="1100"/>
          </a:p>
          <a:p>
            <a:pPr algn="ctr" marL="0" indent="0">
              <a:lnSpc>
                <a:spcPct val="125000"/>
              </a:lnSpc>
            </a:pPr>
            <a:r>
              <a:rPr lang="en-US" b="false" i="false" strike="noStrike" u="none" sz="1100">
                <a:solidFill>
                  <a:srgbClr val="536174"/>
                </a:solidFill>
                <a:latin typeface="Noto Sans SC"/>
                <a:ea typeface="Noto Sans SC"/>
                <a:cs typeface="Noto Sans SC"/>
                <a:sym typeface="Noto Sans SC"/>
              </a:rPr>
              <a:t>相关推荐 / 阅读进度条</a:t>
            </a:r>
          </a:p>
        </p:txBody>
      </p:sp>
      <p:cxnSp>
        <p:nvCxnSpPr>
          <p:cNvPr name="Connector 11" id="11"/>
          <p:cNvCxnSpPr/>
          <p:nvPr/>
        </p:nvCxnSpPr>
        <p:spPr>
          <a:xfrm rot="5285450" flipH="false" flipV="false">
            <a:off x="1587500" y="3422756"/>
            <a:ext cx="381000" cy="12700"/>
          </a:xfrm>
          <a:prstGeom prst="straightConnector1">
            <a:avLst/>
          </a:prstGeom>
          <a:solidFill>
            <a:srgbClr val="DEE0E3">
              <a:alpha val="100000"/>
            </a:srgbClr>
          </a:solidFill>
          <a:ln w="25400" cmpd="sng" cap="flat">
            <a:solidFill>
              <a:srgbClr val="0D1326">
                <a:alpha val="100000"/>
              </a:srgbClr>
            </a:solidFill>
            <a:prstDash val="solid"/>
            <a:round/>
            <a:headEnd type="none" w="lg" len="lg"/>
            <a:tailEnd type="arrow" w="lg" len="lg"/>
          </a:ln>
        </p:spPr>
      </p:cxnSp>
      <p:sp>
        <p:nvSpPr>
          <p:cNvPr name="AutoShape 12" id="12"/>
          <p:cNvSpPr/>
          <p:nvPr/>
        </p:nvSpPr>
        <p:spPr>
          <a:xfrm rot="0" flipH="false" flipV="false">
            <a:off x="508000" y="3619500"/>
            <a:ext cx="2540000" cy="762000"/>
          </a:xfrm>
          <a:prstGeom prst="roundRect">
            <a:avLst>
              <a:gd name="adj" fmla="val 0"/>
            </a:avLst>
          </a:prstGeom>
          <a:solidFill>
            <a:srgbClr val="FFFFFF">
              <a:alpha val="100000"/>
            </a:srgbClr>
          </a:solidFill>
          <a:ln w="12700" cmpd="sng" cap="flat">
            <a:solidFill>
              <a:srgbClr val="0D1326">
                <a:alpha val="100000"/>
              </a:srgbClr>
            </a:solidFill>
            <a:prstDash val="solid"/>
            <a:round/>
          </a:ln>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635000" y="3746500"/>
            <a:ext cx="2286000" cy="508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300">
                <a:solidFill>
                  <a:srgbClr val="0D1326"/>
                </a:solidFill>
                <a:latin typeface="Noto Sans SC"/>
                <a:ea typeface="Noto Sans SC"/>
                <a:cs typeface="Noto Sans SC"/>
                <a:sym typeface="Noto Sans SC"/>
              </a:rPr>
              <a:t>Ghost 前端服务</a:t>
            </a:r>
            <a:endParaRPr lang="en-US" sz="1100"/>
          </a:p>
          <a:p>
            <a:pPr algn="ctr" marL="0" indent="0">
              <a:lnSpc>
                <a:spcPct val="125000"/>
              </a:lnSpc>
            </a:pPr>
            <a:r>
              <a:rPr lang="en-US" b="true" i="false" strike="noStrike" u="none" sz="1300">
                <a:solidFill>
                  <a:srgbClr val="0D1326"/>
                </a:solidFill>
                <a:latin typeface="Noto Sans SC"/>
                <a:ea typeface="Noto Sans SC"/>
                <a:cs typeface="Noto Sans SC"/>
                <a:sym typeface="Noto Sans SC"/>
              </a:rPr>
              <a:t>core/frontend</a:t>
            </a:r>
          </a:p>
        </p:txBody>
      </p:sp>
      <p:cxnSp>
        <p:nvCxnSpPr>
          <p:cNvPr name="Connector 14" id="14"/>
          <p:cNvCxnSpPr/>
          <p:nvPr/>
        </p:nvCxnSpPr>
        <p:spPr>
          <a:xfrm rot="5285450" flipH="false" flipV="false">
            <a:off x="1587500" y="4565756"/>
            <a:ext cx="381000" cy="12700"/>
          </a:xfrm>
          <a:prstGeom prst="straightConnector1">
            <a:avLst/>
          </a:prstGeom>
          <a:solidFill>
            <a:srgbClr val="DEE0E3">
              <a:alpha val="100000"/>
            </a:srgbClr>
          </a:solidFill>
          <a:ln w="25400" cmpd="sng" cap="flat">
            <a:solidFill>
              <a:srgbClr val="0D1326">
                <a:alpha val="100000"/>
              </a:srgbClr>
            </a:solidFill>
            <a:prstDash val="solid"/>
            <a:round/>
            <a:headEnd type="none" w="lg" len="lg"/>
            <a:tailEnd type="arrow" w="lg" len="lg"/>
          </a:ln>
        </p:spPr>
      </p:cxnSp>
      <p:sp>
        <p:nvSpPr>
          <p:cNvPr name="AutoShape 15" id="15"/>
          <p:cNvSpPr/>
          <p:nvPr/>
        </p:nvSpPr>
        <p:spPr>
          <a:xfrm rot="0" flipH="false" flipV="false">
            <a:off x="508000" y="4762500"/>
            <a:ext cx="2540000" cy="762000"/>
          </a:xfrm>
          <a:prstGeom prst="roundRect">
            <a:avLst>
              <a:gd name="adj" fmla="val 0"/>
            </a:avLst>
          </a:prstGeom>
          <a:solidFill>
            <a:srgbClr val="FFFFFF">
              <a:alpha val="100000"/>
            </a:srgbClr>
          </a:solidFill>
          <a:ln w="12700" cmpd="sng" cap="flat">
            <a:solidFill>
              <a:srgbClr val="0D1326">
                <a:alpha val="100000"/>
              </a:srgbClr>
            </a:solidFill>
            <a:prstDash val="solid"/>
            <a:round/>
          </a:ln>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635000" y="4889500"/>
            <a:ext cx="2286000" cy="508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300">
                <a:solidFill>
                  <a:srgbClr val="0D1326"/>
                </a:solidFill>
                <a:latin typeface="Noto Sans SC"/>
                <a:ea typeface="Noto Sans SC"/>
                <a:cs typeface="Noto Sans SC"/>
                <a:sym typeface="Noto Sans SC"/>
              </a:rPr>
              <a:t>内容与会员服务</a:t>
            </a:r>
            <a:endParaRPr lang="en-US" sz="1100"/>
          </a:p>
          <a:p>
            <a:pPr algn="ctr" marL="0" indent="0">
              <a:lnSpc>
                <a:spcPct val="125000"/>
              </a:lnSpc>
            </a:pPr>
            <a:r>
              <a:rPr lang="en-US" b="true" i="false" strike="noStrike" u="none" sz="1300">
                <a:solidFill>
                  <a:srgbClr val="0D1326"/>
                </a:solidFill>
                <a:latin typeface="Noto Sans SC"/>
                <a:ea typeface="Noto Sans SC"/>
                <a:cs typeface="Noto Sans SC"/>
                <a:sym typeface="Noto Sans SC"/>
              </a:rPr>
              <a:t>core/server</a:t>
            </a:r>
          </a:p>
        </p:txBody>
      </p:sp>
      <p:cxnSp>
        <p:nvCxnSpPr>
          <p:cNvPr name="Connector 17" id="17"/>
          <p:cNvCxnSpPr/>
          <p:nvPr/>
        </p:nvCxnSpPr>
        <p:spPr>
          <a:xfrm rot="5285450" flipH="false" flipV="false">
            <a:off x="1587500" y="5708756"/>
            <a:ext cx="381000" cy="12700"/>
          </a:xfrm>
          <a:prstGeom prst="straightConnector1">
            <a:avLst/>
          </a:prstGeom>
          <a:solidFill>
            <a:srgbClr val="DEE0E3">
              <a:alpha val="100000"/>
            </a:srgbClr>
          </a:solidFill>
          <a:ln w="25400" cmpd="sng" cap="flat">
            <a:solidFill>
              <a:srgbClr val="0D1326">
                <a:alpha val="100000"/>
              </a:srgbClr>
            </a:solidFill>
            <a:prstDash val="solid"/>
            <a:round/>
            <a:headEnd type="none" w="lg" len="lg"/>
            <a:tailEnd type="arrow" w="lg" len="lg"/>
          </a:ln>
        </p:spPr>
      </p:cxnSp>
      <p:sp>
        <p:nvSpPr>
          <p:cNvPr name="AutoShape 18" id="18"/>
          <p:cNvSpPr/>
          <p:nvPr/>
        </p:nvSpPr>
        <p:spPr>
          <a:xfrm rot="0" flipH="false" flipV="false">
            <a:off x="762000" y="5905500"/>
            <a:ext cx="2032000" cy="635000"/>
          </a:xfrm>
          <a:prstGeom prst="ellipse">
            <a:avLst/>
          </a:prstGeom>
          <a:solidFill>
            <a:srgbClr val="0D132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9" id="19"/>
          <p:cNvSpPr/>
          <p:nvPr/>
        </p:nvSpPr>
        <p:spPr>
          <a:xfrm rot="0" flipH="false" flipV="false">
            <a:off x="762000" y="6032500"/>
            <a:ext cx="2032000" cy="381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300">
                <a:solidFill>
                  <a:srgbClr val="FFFFFF"/>
                </a:solidFill>
                <a:latin typeface="Noto Sans SC"/>
                <a:ea typeface="Noto Sans SC"/>
                <a:cs typeface="Noto Sans SC"/>
                <a:sym typeface="Noto Sans SC"/>
              </a:rPr>
              <a:t>SQLite 数据库</a:t>
            </a:r>
            <a:endParaRPr lang="en-US" sz="1100"/>
          </a:p>
        </p:txBody>
      </p:sp>
      <p:sp>
        <p:nvSpPr>
          <p:cNvPr name="AutoShape 20" id="20"/>
          <p:cNvSpPr/>
          <p:nvPr/>
        </p:nvSpPr>
        <p:spPr>
          <a:xfrm rot="0" flipH="false" flipV="false">
            <a:off x="4064000" y="1079500"/>
            <a:ext cx="3556000" cy="5461000"/>
          </a:xfrm>
          <a:prstGeom prst="roundRect">
            <a:avLst>
              <a:gd name="adj" fmla="val 0"/>
            </a:avLst>
          </a:prstGeom>
          <a:solidFill>
            <a:srgbClr val="FFFFFF">
              <a:alpha val="100000"/>
            </a:srgbClr>
          </a:solidFill>
          <a:ln w="12700" cmpd="sng" cap="flat">
            <a:solidFill>
              <a:srgbClr val="BFD7FF">
                <a:alpha val="100000"/>
              </a:srgbClr>
            </a:solidFill>
            <a:prstDash val="solid"/>
            <a:round/>
          </a:ln>
        </p:spPr>
        <p:txBody>
          <a:bodyPr anchor="ctr" rtlCol="false" vert="horz" wrap="square" lIns="63500" rIns="63500" tIns="63500" bIns="63500"/>
          <a:lstStyle/>
          <a:p>
            <a:pPr algn="ctr">
              <a:defRPr/>
            </a:pPr>
            <a:endParaRPr/>
          </a:p>
        </p:txBody>
      </p:sp>
      <p:sp>
        <p:nvSpPr>
          <p:cNvPr name="AutoShape 21" id="21"/>
          <p:cNvSpPr/>
          <p:nvPr/>
        </p:nvSpPr>
        <p:spPr>
          <a:xfrm rot="0" flipH="false" flipV="false">
            <a:off x="4318000" y="1270000"/>
            <a:ext cx="3048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0D1326"/>
                </a:solidFill>
                <a:latin typeface="Noto Sans SC"/>
                <a:ea typeface="Noto Sans SC"/>
                <a:cs typeface="Noto Sans SC"/>
                <a:sym typeface="Noto Sans SC"/>
              </a:rPr>
              <a:t>二次开发边界</a:t>
            </a:r>
            <a:endParaRPr lang="en-US" sz="1100"/>
          </a:p>
        </p:txBody>
      </p:sp>
      <p:cxnSp>
        <p:nvCxnSpPr>
          <p:cNvPr name="Connector 22" id="22"/>
          <p:cNvCxnSpPr/>
          <p:nvPr/>
        </p:nvCxnSpPr>
        <p:spPr>
          <a:xfrm rot="-42969" flipH="false" flipV="false">
            <a:off x="4318040" y="1708150"/>
            <a:ext cx="1016000" cy="12700"/>
          </a:xfrm>
          <a:prstGeom prst="straightConnector1">
            <a:avLst/>
          </a:prstGeom>
          <a:solidFill>
            <a:srgbClr val="DEE0E3">
              <a:alpha val="100000"/>
            </a:srgbClr>
          </a:solidFill>
          <a:ln w="25400" cmpd="sng" cap="flat">
            <a:solidFill>
              <a:srgbClr val="2563EB">
                <a:alpha val="100000"/>
              </a:srgbClr>
            </a:solidFill>
            <a:prstDash val="solid"/>
            <a:round/>
            <a:headEnd type="none" w="lg" len="lg"/>
            <a:tailEnd type="none" w="lg" len="lg"/>
          </a:ln>
        </p:spPr>
      </p:cxnSp>
      <p:sp>
        <p:nvSpPr>
          <p:cNvPr name="AutoShape 23" id="23"/>
          <p:cNvSpPr/>
          <p:nvPr/>
        </p:nvSpPr>
        <p:spPr>
          <a:xfrm rot="0" flipH="false" flipV="false">
            <a:off x="4318000" y="1905000"/>
            <a:ext cx="3048000" cy="228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50000"/>
              </a:lnSpc>
              <a:defRPr/>
            </a:pPr>
            <a:r>
              <a:rPr lang="en-US" b="true" i="false" strike="noStrike" u="none" sz="1300">
                <a:solidFill>
                  <a:srgbClr val="2563EB"/>
                </a:solidFill>
                <a:latin typeface="Noto Sans SC"/>
                <a:ea typeface="Noto Sans SC"/>
                <a:cs typeface="Noto Sans SC"/>
                <a:sym typeface="Noto Sans SC"/>
              </a:rPr>
              <a:t>允许修改：</a:t>
            </a:r>
            <a:r>
              <a:rPr lang="en-US" b="false" i="false" strike="noStrike" u="none" sz="1300">
                <a:solidFill>
                  <a:srgbClr val="536174"/>
                </a:solidFill>
                <a:latin typeface="Noto Sans SC"/>
                <a:ea typeface="Noto Sans SC"/>
                <a:cs typeface="Noto Sans SC"/>
                <a:sym typeface="Noto Sans SC"/>
              </a:rPr>
              <a:t/>
            </a:r>
            <a:endParaRPr lang="en-US" sz="1100"/>
          </a:p>
          <a:p>
            <a:pPr algn="l" indent="-165100" marL="165100">
              <a:lnSpc>
                <a:spcPct val="150000"/>
              </a:lnSpc>
              <a:buClr>
                <a:srgbClr val="536174"/>
              </a:buClr>
              <a:buChar char="•"/>
            </a:pPr>
            <a:r>
              <a:rPr lang="en-US" b="false" i="false" strike="noStrike" u="none" sz="1300">
                <a:solidFill>
                  <a:srgbClr val="536174"/>
                </a:solidFill>
                <a:latin typeface="Noto Sans SC"/>
                <a:ea typeface="Noto Sans SC"/>
                <a:cs typeface="Noto Sans SC"/>
                <a:sym typeface="Noto Sans SC"/>
              </a:rPr>
              <a:t>自定义主题模板</a:t>
            </a:r>
          </a:p>
          <a:p>
            <a:pPr algn="l" indent="-165100" marL="165100">
              <a:lnSpc>
                <a:spcPct val="150000"/>
              </a:lnSpc>
              <a:buClr>
                <a:srgbClr val="536174"/>
              </a:buClr>
              <a:buChar char="•"/>
            </a:pPr>
            <a:r>
              <a:rPr lang="en-US" b="false" i="false" strike="noStrike" u="none" sz="1300">
                <a:solidFill>
                  <a:srgbClr val="536174"/>
                </a:solidFill>
                <a:latin typeface="Noto Sans SC"/>
                <a:ea typeface="Noto Sans SC"/>
                <a:cs typeface="Noto Sans SC"/>
                <a:sym typeface="Noto Sans SC"/>
              </a:rPr>
              <a:t>主题样式与脚本</a:t>
            </a:r>
          </a:p>
          <a:p>
            <a:pPr algn="l" indent="-165100" marL="165100">
              <a:lnSpc>
                <a:spcPct val="150000"/>
              </a:lnSpc>
              <a:buClr>
                <a:srgbClr val="536174"/>
              </a:buClr>
              <a:buChar char="•"/>
            </a:pPr>
            <a:r>
              <a:rPr lang="en-US" b="false" i="false" strike="noStrike" u="none" sz="1300">
                <a:solidFill>
                  <a:srgbClr val="536174"/>
                </a:solidFill>
                <a:latin typeface="Noto Sans SC"/>
                <a:ea typeface="Noto Sans SC"/>
                <a:cs typeface="Noto Sans SC"/>
                <a:sym typeface="Noto Sans SC"/>
              </a:rPr>
              <a:t>Content API 调用</a:t>
            </a:r>
          </a:p>
          <a:p>
            <a:pPr algn="l" indent="-165100" marL="165100">
              <a:lnSpc>
                <a:spcPct val="150000"/>
              </a:lnSpc>
              <a:buClr>
                <a:srgbClr val="536174"/>
              </a:buClr>
              <a:buChar char="•"/>
            </a:pPr>
            <a:r>
              <a:rPr lang="en-US" b="false" i="false" strike="noStrike" u="none" sz="1300">
                <a:solidFill>
                  <a:srgbClr val="536174"/>
                </a:solidFill>
                <a:latin typeface="Noto Sans SC"/>
                <a:ea typeface="Noto Sans SC"/>
                <a:cs typeface="Noto Sans SC"/>
                <a:sym typeface="Noto Sans SC"/>
              </a:rPr>
              <a:t>配置文件优化</a:t>
            </a:r>
          </a:p>
          <a:p>
            <a:pPr algn="l" indent="-165100" marL="165100">
              <a:lnSpc>
                <a:spcPct val="150000"/>
              </a:lnSpc>
              <a:buClr>
                <a:srgbClr val="536174"/>
              </a:buClr>
              <a:buChar char="•"/>
            </a:pPr>
            <a:r>
              <a:rPr lang="en-US" b="false" i="false" strike="noStrike" u="none" sz="1300">
                <a:solidFill>
                  <a:srgbClr val="536174"/>
                </a:solidFill>
                <a:latin typeface="Noto Sans SC"/>
                <a:ea typeface="Noto Sans SC"/>
                <a:cs typeface="Noto Sans SC"/>
                <a:sym typeface="Noto Sans SC"/>
              </a:rPr>
              <a:t>项目文档与测试</a:t>
            </a:r>
          </a:p>
        </p:txBody>
      </p:sp>
      <p:sp>
        <p:nvSpPr>
          <p:cNvPr name="AutoShape 24" id="24"/>
          <p:cNvSpPr/>
          <p:nvPr/>
        </p:nvSpPr>
        <p:spPr>
          <a:xfrm rot="0" flipH="false" flipV="false">
            <a:off x="4318000" y="4318000"/>
            <a:ext cx="3048000" cy="203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50000"/>
              </a:lnSpc>
              <a:defRPr/>
            </a:pPr>
            <a:r>
              <a:rPr lang="en-US" b="true" i="false" strike="noStrike" u="none" sz="1300">
                <a:solidFill>
                  <a:srgbClr val="C83232"/>
                </a:solidFill>
                <a:latin typeface="Noto Sans SC"/>
                <a:ea typeface="Noto Sans SC"/>
                <a:cs typeface="Noto Sans SC"/>
                <a:sym typeface="Noto Sans SC"/>
              </a:rPr>
              <a:t>禁止修改：</a:t>
            </a:r>
            <a:r>
              <a:rPr lang="en-US" b="false" i="false" strike="noStrike" u="none" sz="1300">
                <a:solidFill>
                  <a:srgbClr val="536174"/>
                </a:solidFill>
                <a:latin typeface="Noto Sans SC"/>
                <a:ea typeface="Noto Sans SC"/>
                <a:cs typeface="Noto Sans SC"/>
                <a:sym typeface="Noto Sans SC"/>
              </a:rPr>
              <a:t/>
            </a:r>
            <a:endParaRPr lang="en-US" sz="1100"/>
          </a:p>
          <a:p>
            <a:pPr algn="l" indent="-165100" marL="165100">
              <a:lnSpc>
                <a:spcPct val="150000"/>
              </a:lnSpc>
              <a:buClr>
                <a:srgbClr val="536174"/>
              </a:buClr>
              <a:buChar char="•"/>
            </a:pPr>
            <a:r>
              <a:rPr lang="en-US" b="false" i="false" strike="noStrike" u="none" sz="1300">
                <a:solidFill>
                  <a:srgbClr val="536174"/>
                </a:solidFill>
                <a:latin typeface="Noto Sans SC"/>
                <a:ea typeface="Noto Sans SC"/>
                <a:cs typeface="Noto Sans SC"/>
                <a:sym typeface="Noto Sans SC"/>
              </a:rPr>
              <a:t>Ghost 核心代码</a:t>
            </a:r>
          </a:p>
          <a:p>
            <a:pPr algn="l" indent="-165100" marL="165100">
              <a:lnSpc>
                <a:spcPct val="150000"/>
              </a:lnSpc>
              <a:buClr>
                <a:srgbClr val="536174"/>
              </a:buClr>
              <a:buChar char="•"/>
            </a:pPr>
            <a:r>
              <a:rPr lang="en-US" b="false" i="false" strike="noStrike" u="none" sz="1300">
                <a:solidFill>
                  <a:srgbClr val="536174"/>
                </a:solidFill>
                <a:latin typeface="Noto Sans SC"/>
                <a:ea typeface="Noto Sans SC"/>
                <a:cs typeface="Noto Sans SC"/>
                <a:sym typeface="Noto Sans SC"/>
              </a:rPr>
              <a:t>core/server 业务逻辑</a:t>
            </a:r>
          </a:p>
          <a:p>
            <a:pPr algn="l" indent="-165100" marL="165100">
              <a:lnSpc>
                <a:spcPct val="150000"/>
              </a:lnSpc>
              <a:buClr>
                <a:srgbClr val="536174"/>
              </a:buClr>
              <a:buChar char="•"/>
            </a:pPr>
            <a:r>
              <a:rPr lang="en-US" b="false" i="false" strike="noStrike" u="none" sz="1300">
                <a:solidFill>
                  <a:srgbClr val="536174"/>
                </a:solidFill>
                <a:latin typeface="Noto Sans SC"/>
                <a:ea typeface="Noto Sans SC"/>
                <a:cs typeface="Noto Sans SC"/>
                <a:sym typeface="Noto Sans SC"/>
              </a:rPr>
              <a:t>数据库迁移脚本</a:t>
            </a:r>
          </a:p>
          <a:p>
            <a:pPr algn="l" indent="-165100" marL="165100">
              <a:lnSpc>
                <a:spcPct val="150000"/>
              </a:lnSpc>
              <a:buClr>
                <a:srgbClr val="536174"/>
              </a:buClr>
              <a:buChar char="•"/>
            </a:pPr>
            <a:r>
              <a:rPr lang="en-US" b="false" i="false" strike="noStrike" u="none" sz="1300">
                <a:solidFill>
                  <a:srgbClr val="536174"/>
                </a:solidFill>
                <a:latin typeface="Noto Sans SC"/>
                <a:ea typeface="Noto Sans SC"/>
                <a:cs typeface="Noto Sans SC"/>
                <a:sym typeface="Noto Sans SC"/>
              </a:rPr>
              <a:t>管理端 Ember 应用</a:t>
            </a:r>
          </a:p>
        </p:txBody>
      </p:sp>
      <p:sp>
        <p:nvSpPr>
          <p:cNvPr name="AutoShape 25" id="25"/>
          <p:cNvSpPr/>
          <p:nvPr/>
        </p:nvSpPr>
        <p:spPr>
          <a:xfrm rot="0" flipH="false" flipV="false">
            <a:off x="8382000" y="1079500"/>
            <a:ext cx="3302000" cy="2540000"/>
          </a:xfrm>
          <a:prstGeom prst="roundRect">
            <a:avLst>
              <a:gd name="adj" fmla="val 0"/>
            </a:avLst>
          </a:prstGeom>
          <a:solidFill>
            <a:srgbClr val="FFFFFF">
              <a:alpha val="100000"/>
            </a:srgbClr>
          </a:solidFill>
          <a:ln w="12700" cmpd="sng" cap="flat">
            <a:solidFill>
              <a:srgbClr val="BFD7FF">
                <a:alpha val="100000"/>
              </a:srgbClr>
            </a:solidFill>
            <a:prstDash val="solid"/>
            <a:round/>
          </a:ln>
        </p:spPr>
        <p:txBody>
          <a:bodyPr anchor="ctr" rtlCol="false" vert="horz" wrap="square" lIns="63500" rIns="63500" tIns="63500" bIns="63500"/>
          <a:lstStyle/>
          <a:p>
            <a:pPr algn="ctr">
              <a:defRPr/>
            </a:pPr>
            <a:endParaRPr/>
          </a:p>
        </p:txBody>
      </p:sp>
      <p:sp>
        <p:nvSpPr>
          <p:cNvPr name="AutoShape 26" id="26"/>
          <p:cNvSpPr/>
          <p:nvPr/>
        </p:nvSpPr>
        <p:spPr>
          <a:xfrm rot="0" flipH="false" flipV="false">
            <a:off x="8636000" y="1270000"/>
            <a:ext cx="2794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0D1326"/>
                </a:solidFill>
                <a:latin typeface="Noto Sans SC"/>
                <a:ea typeface="Noto Sans SC"/>
                <a:cs typeface="Noto Sans SC"/>
                <a:sym typeface="Noto Sans SC"/>
              </a:rPr>
              <a:t>管理员通道</a:t>
            </a:r>
            <a:endParaRPr lang="en-US" sz="1100"/>
          </a:p>
        </p:txBody>
      </p:sp>
      <p:cxnSp>
        <p:nvCxnSpPr>
          <p:cNvPr name="Connector 27" id="27"/>
          <p:cNvCxnSpPr/>
          <p:nvPr/>
        </p:nvCxnSpPr>
        <p:spPr>
          <a:xfrm rot="-42969" flipH="false" flipV="false">
            <a:off x="8636040" y="1708150"/>
            <a:ext cx="1016000" cy="12700"/>
          </a:xfrm>
          <a:prstGeom prst="straightConnector1">
            <a:avLst/>
          </a:prstGeom>
          <a:solidFill>
            <a:srgbClr val="DEE0E3">
              <a:alpha val="100000"/>
            </a:srgbClr>
          </a:solidFill>
          <a:ln w="25400" cmpd="sng" cap="flat">
            <a:solidFill>
              <a:srgbClr val="2563EB">
                <a:alpha val="100000"/>
              </a:srgbClr>
            </a:solidFill>
            <a:prstDash val="solid"/>
            <a:round/>
            <a:headEnd type="none" w="lg" len="lg"/>
            <a:tailEnd type="none" w="lg" len="lg"/>
          </a:ln>
        </p:spPr>
      </p:cxnSp>
      <p:sp>
        <p:nvSpPr>
          <p:cNvPr name="AutoShape 28" id="28"/>
          <p:cNvSpPr/>
          <p:nvPr/>
        </p:nvSpPr>
        <p:spPr>
          <a:xfrm rot="0" flipH="false" flipV="false">
            <a:off x="8636000" y="1905000"/>
            <a:ext cx="2794000" cy="152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33333"/>
              </a:lnSpc>
              <a:defRPr/>
            </a:pPr>
            <a:r>
              <a:rPr lang="en-US" b="false" i="false" strike="noStrike" u="none" sz="1200">
                <a:solidFill>
                  <a:srgbClr val="536174"/>
                </a:solidFill>
                <a:latin typeface="Noto Sans SC"/>
                <a:ea typeface="Noto Sans SC"/>
                <a:cs typeface="Noto Sans SC"/>
                <a:sym typeface="Noto Sans SC"/>
              </a:rPr>
              <a:t>作者/管理员 → /ghost/</a:t>
            </a:r>
            <a:endParaRPr lang="en-US" sz="1100"/>
          </a:p>
          <a:p>
            <a:pPr algn="l" marL="0" indent="0">
              <a:lnSpc>
                <a:spcPct val="133333"/>
              </a:lnSpc>
            </a:pPr>
            <a:r>
              <a:rPr lang="en-US" b="false" i="false" strike="noStrike" u="none" sz="1200">
                <a:solidFill>
                  <a:srgbClr val="536174"/>
                </a:solidFill>
                <a:latin typeface="Noto Sans SC"/>
                <a:ea typeface="Noto Sans SC"/>
                <a:cs typeface="Noto Sans SC"/>
                <a:sym typeface="Noto Sans SC"/>
              </a:rPr>
              <a:t>→ Ghost Admin (Ember.js)</a:t>
            </a:r>
          </a:p>
          <a:p>
            <a:pPr algn="l" marL="0" indent="0">
              <a:lnSpc>
                <a:spcPct val="133333"/>
              </a:lnSpc>
            </a:pPr>
            <a:r>
              <a:rPr lang="en-US" b="false" i="false" strike="noStrike" u="none" sz="1200">
                <a:solidFill>
                  <a:srgbClr val="536174"/>
                </a:solidFill>
                <a:latin typeface="Noto Sans SC"/>
                <a:ea typeface="Noto Sans SC"/>
                <a:cs typeface="Noto Sans SC"/>
                <a:sym typeface="Noto Sans SC"/>
              </a:rPr>
              <a:t>→ Admin API</a:t>
            </a:r>
          </a:p>
          <a:p>
            <a:pPr algn="l" marL="0" indent="0">
              <a:lnSpc>
                <a:spcPct val="133333"/>
              </a:lnSpc>
            </a:pPr>
            <a:r>
              <a:rPr lang="en-US" b="false" i="false" strike="noStrike" u="none" sz="1200">
                <a:solidFill>
                  <a:srgbClr val="536174"/>
                </a:solidFill>
                <a:latin typeface="Noto Sans SC"/>
                <a:ea typeface="Noto Sans SC"/>
                <a:cs typeface="Noto Sans SC"/>
                <a:sym typeface="Noto Sans SC"/>
              </a:rPr>
              <a:t>→ 内容与会员服务</a:t>
            </a:r>
          </a:p>
          <a:p>
            <a:pPr algn="l" marL="0" indent="0">
              <a:lnSpc>
                <a:spcPct val="133333"/>
              </a:lnSpc>
            </a:pPr>
            <a:r>
              <a:rPr lang="en-US" b="false" i="false" strike="noStrike" u="none" sz="1200">
                <a:solidFill>
                  <a:srgbClr val="536174"/>
                </a:solidFill>
                <a:latin typeface="Noto Sans SC"/>
                <a:ea typeface="Noto Sans SC"/>
                <a:cs typeface="Noto Sans SC"/>
                <a:sym typeface="Noto Sans SC"/>
              </a:rPr>
              <a:t>→ SQLite 数据库</a:t>
            </a:r>
          </a:p>
        </p:txBody>
      </p:sp>
      <p:sp>
        <p:nvSpPr>
          <p:cNvPr name="AutoShape 29" id="29"/>
          <p:cNvSpPr/>
          <p:nvPr/>
        </p:nvSpPr>
        <p:spPr>
          <a:xfrm rot="0" flipH="false" flipV="false">
            <a:off x="8382000" y="4000500"/>
            <a:ext cx="3302000" cy="2540000"/>
          </a:xfrm>
          <a:prstGeom prst="roundRect">
            <a:avLst>
              <a:gd name="adj" fmla="val 0"/>
            </a:avLst>
          </a:prstGeom>
          <a:solidFill>
            <a:srgbClr val="FFFFFF">
              <a:alpha val="100000"/>
            </a:srgbClr>
          </a:solidFill>
          <a:ln w="12700" cmpd="sng" cap="flat">
            <a:solidFill>
              <a:srgbClr val="BFD7FF">
                <a:alpha val="100000"/>
              </a:srgbClr>
            </a:solidFill>
            <a:prstDash val="solid"/>
            <a:round/>
          </a:ln>
        </p:spPr>
        <p:txBody>
          <a:bodyPr anchor="ctr" rtlCol="false" vert="horz" wrap="square" lIns="63500" rIns="63500" tIns="63500" bIns="63500"/>
          <a:lstStyle/>
          <a:p>
            <a:pPr algn="ctr">
              <a:defRPr/>
            </a:pPr>
            <a:endParaRPr/>
          </a:p>
        </p:txBody>
      </p:sp>
      <p:sp>
        <p:nvSpPr>
          <p:cNvPr name="AutoShape 30" id="30"/>
          <p:cNvSpPr/>
          <p:nvPr/>
        </p:nvSpPr>
        <p:spPr>
          <a:xfrm rot="0" flipH="false" flipV="false">
            <a:off x="8636000" y="4191000"/>
            <a:ext cx="2794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0D1326"/>
                </a:solidFill>
                <a:latin typeface="Noto Sans SC"/>
                <a:ea typeface="Noto Sans SC"/>
                <a:cs typeface="Noto Sans SC"/>
                <a:sym typeface="Noto Sans SC"/>
              </a:rPr>
              <a:t>辅助服务</a:t>
            </a:r>
            <a:endParaRPr lang="en-US" sz="1100"/>
          </a:p>
        </p:txBody>
      </p:sp>
      <p:cxnSp>
        <p:nvCxnSpPr>
          <p:cNvPr name="Connector 31" id="31"/>
          <p:cNvCxnSpPr/>
          <p:nvPr/>
        </p:nvCxnSpPr>
        <p:spPr>
          <a:xfrm rot="-42969" flipH="false" flipV="false">
            <a:off x="8636040" y="4629150"/>
            <a:ext cx="1016000" cy="12700"/>
          </a:xfrm>
          <a:prstGeom prst="straightConnector1">
            <a:avLst/>
          </a:prstGeom>
          <a:solidFill>
            <a:srgbClr val="DEE0E3">
              <a:alpha val="100000"/>
            </a:srgbClr>
          </a:solidFill>
          <a:ln w="25400" cmpd="sng" cap="flat">
            <a:solidFill>
              <a:srgbClr val="2563EB">
                <a:alpha val="100000"/>
              </a:srgbClr>
            </a:solidFill>
            <a:prstDash val="solid"/>
            <a:round/>
            <a:headEnd type="none" w="lg" len="lg"/>
            <a:tailEnd type="none" w="lg" len="lg"/>
          </a:ln>
        </p:spPr>
      </p:cxnSp>
      <p:sp>
        <p:nvSpPr>
          <p:cNvPr name="AutoShape 32" id="32"/>
          <p:cNvSpPr/>
          <p:nvPr/>
        </p:nvSpPr>
        <p:spPr>
          <a:xfrm rot="0" flipH="false" flipV="false">
            <a:off x="8636000" y="4826000"/>
            <a:ext cx="2794000" cy="152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33333"/>
              </a:lnSpc>
              <a:defRPr/>
            </a:pPr>
            <a:r>
              <a:rPr lang="en-US" b="false" i="false" strike="noStrike" u="none" sz="1200">
                <a:solidFill>
                  <a:srgbClr val="536174"/>
                </a:solidFill>
                <a:latin typeface="Noto Sans SC"/>
                <a:ea typeface="Noto Sans SC"/>
                <a:cs typeface="Noto Sans SC"/>
                <a:sym typeface="Noto Sans SC"/>
              </a:rPr>
              <a:t>假 SMTP 服务器</a:t>
            </a:r>
            <a:endParaRPr lang="en-US" sz="1100"/>
          </a:p>
          <a:p>
            <a:pPr algn="l" marL="0" indent="0">
              <a:lnSpc>
                <a:spcPct val="133333"/>
              </a:lnSpc>
            </a:pPr>
            <a:r>
              <a:rPr lang="en-US" b="false" i="false" strike="noStrike" u="none" sz="1200">
                <a:solidFill>
                  <a:srgbClr val="536174"/>
                </a:solidFill>
                <a:latin typeface="Noto Sans SC"/>
                <a:ea typeface="Noto Sans SC"/>
                <a:cs typeface="Noto Sans SC"/>
                <a:sym typeface="Noto Sans SC"/>
              </a:rPr>
              <a:t>127.0.0.1:2525</a:t>
            </a:r>
          </a:p>
          <a:p>
            <a:pPr algn="l" marL="0" indent="0">
              <a:lnSpc>
                <a:spcPct val="133333"/>
              </a:lnSpc>
            </a:pPr>
            <a:r>
              <a:rPr lang="en-US" b="false" i="false" strike="noStrike" u="none" sz="1200">
                <a:solidFill>
                  <a:srgbClr val="536174"/>
                </a:solidFill>
                <a:latin typeface="Noto Sans SC"/>
                <a:ea typeface="Noto Sans SC"/>
                <a:cs typeface="Noto Sans SC"/>
                <a:sym typeface="Noto Sans SC"/>
              </a:rPr>
              <a:t>接收会员邮件/验证码</a:t>
            </a:r>
          </a:p>
          <a:p>
            <a:pPr algn="l" marL="0" indent="0">
              <a:lnSpc>
                <a:spcPct val="133333"/>
              </a:lnSpc>
            </a:pPr>
            <a:r>
              <a:rPr lang="en-US" b="false" i="false" strike="noStrike" u="none" sz="1200">
                <a:solidFill>
                  <a:srgbClr val="536174"/>
                </a:solidFill>
                <a:latin typeface="Noto Sans SC"/>
                <a:ea typeface="Noto Sans SC"/>
                <a:cs typeface="Noto Sans SC"/>
                <a:sym typeface="Noto Sans SC"/>
              </a:rPr>
              <a:t>数据库备份与恢复</a:t>
            </a:r>
          </a:p>
          <a:p>
            <a:pPr algn="l" marL="0" indent="0">
              <a:lnSpc>
                <a:spcPct val="133333"/>
              </a:lnSpc>
            </a:pPr>
            <a:r>
              <a:rPr lang="en-US" b="false" i="false" strike="noStrike" u="none" sz="1200">
                <a:solidFill>
                  <a:srgbClr val="536174"/>
                </a:solidFill>
                <a:latin typeface="Noto Sans SC"/>
                <a:ea typeface="Noto Sans SC"/>
                <a:cs typeface="Noto Sans SC"/>
                <a:sym typeface="Noto Sans SC"/>
              </a:rPr>
              <a:t>内容导出（脱敏）</a:t>
            </a:r>
          </a:p>
        </p:txBody>
      </p:sp>
    </p:spTree>
  </p:cSld>
  <p:clrMapOvr>
    <a:masterClrMapping/>
  </p:clrMapOvr>
</p:sld>
</file>

<file path=ppt/slides/slide6.xml><?xml version="1.0" encoding="utf-8"?>
<p:sld xmlns:p="http://schemas.openxmlformats.org/presentationml/2006/main" xmlns:a="http://schemas.openxmlformats.org/drawingml/2006/main">
  <p:cSld>
    <p:bg>
      <p:bgPr>
        <a:solidFill>
          <a:srgbClr val="F2F4F8">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762000"/>
          </a:xfrm>
          <a:prstGeom prst="roundRect">
            <a:avLst>
              <a:gd name="adj" fmla="val 0"/>
            </a:avLst>
          </a:prstGeom>
          <a:solidFill>
            <a:srgbClr val="0D132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508000" y="152400"/>
            <a:ext cx="7620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200">
                <a:solidFill>
                  <a:srgbClr val="FFFFFF"/>
                </a:solidFill>
                <a:latin typeface="Noto Sans SC"/>
                <a:ea typeface="Noto Sans SC"/>
                <a:cs typeface="Noto Sans SC"/>
                <a:sym typeface="Noto Sans SC"/>
              </a:rPr>
              <a:t>04 自定义主题开发</a:t>
            </a:r>
            <a:endParaRPr lang="en-US" sz="1100"/>
          </a:p>
        </p:txBody>
      </p:sp>
      <p:sp>
        <p:nvSpPr>
          <p:cNvPr name="AutoShape 4" id="4"/>
          <p:cNvSpPr/>
          <p:nvPr/>
        </p:nvSpPr>
        <p:spPr>
          <a:xfrm rot="0" flipH="false" flipV="false">
            <a:off x="9525000" y="228600"/>
            <a:ext cx="2159000" cy="381000"/>
          </a:xfrm>
          <a:prstGeom prst="rect">
            <a:avLst/>
          </a:prstGeom>
          <a:noFill/>
          <a:ln w="12700" cmpd="sng" cap="flat">
            <a:noFill/>
            <a:prstDash val="solid"/>
            <a:round/>
          </a:ln>
        </p:spPr>
        <p:txBody>
          <a:bodyPr anchor="ctr" rtlCol="false" anchorCtr="false" vert="horz" wrap="square" lIns="0" rIns="0" tIns="0" bIns="0"/>
          <a:lstStyle/>
          <a:p>
            <a:pPr algn="r" marL="0" indent="0">
              <a:lnSpc>
                <a:spcPct val="125000"/>
              </a:lnSpc>
              <a:defRPr/>
            </a:pPr>
            <a:r>
              <a:rPr lang="en-US" b="false" i="false" strike="noStrike" u="none" sz="1200">
                <a:solidFill>
                  <a:srgbClr val="BFD7FF"/>
                </a:solidFill>
                <a:latin typeface="Noto Sans SC"/>
                <a:ea typeface="Noto Sans SC"/>
                <a:cs typeface="Noto Sans SC"/>
                <a:sym typeface="Noto Sans SC"/>
              </a:rPr>
              <a:t>实验01 / 共13页</a:t>
            </a:r>
            <a:endParaRPr lang="en-US" sz="1100"/>
          </a:p>
        </p:txBody>
      </p:sp>
      <p:sp>
        <p:nvSpPr>
          <p:cNvPr name="AutoShape 5" id="5"/>
          <p:cNvSpPr/>
          <p:nvPr/>
        </p:nvSpPr>
        <p:spPr>
          <a:xfrm rot="0" flipH="false" flipV="false">
            <a:off x="508000" y="1079500"/>
            <a:ext cx="3556000" cy="2286000"/>
          </a:xfrm>
          <a:prstGeom prst="roundRect">
            <a:avLst>
              <a:gd name="adj" fmla="val 0"/>
            </a:avLst>
          </a:prstGeom>
          <a:solidFill>
            <a:srgbClr val="0D132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762000" y="1333500"/>
            <a:ext cx="3048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BFD7FF"/>
                </a:solidFill>
                <a:latin typeface="Noto Sans SC"/>
                <a:ea typeface="Noto Sans SC"/>
                <a:cs typeface="Noto Sans SC"/>
                <a:sym typeface="Noto Sans SC"/>
              </a:rPr>
              <a:t>主题信息</a:t>
            </a:r>
            <a:endParaRPr lang="en-US" sz="1100"/>
          </a:p>
        </p:txBody>
      </p:sp>
      <p:sp>
        <p:nvSpPr>
          <p:cNvPr name="AutoShape 7" id="7"/>
          <p:cNvSpPr/>
          <p:nvPr/>
        </p:nvSpPr>
        <p:spPr>
          <a:xfrm rot="0" flipH="false" flipV="false">
            <a:off x="762000" y="1778000"/>
            <a:ext cx="3048000" cy="1397000"/>
          </a:xfrm>
          <a:prstGeom prst="rect">
            <a:avLst/>
          </a:prstGeom>
          <a:noFill/>
          <a:ln w="12700" cmpd="sng" cap="flat">
            <a:noFill/>
            <a:prstDash val="solid"/>
            <a:round/>
          </a:ln>
        </p:spPr>
        <p:txBody>
          <a:bodyPr anchor="ctr" rtlCol="false" anchorCtr="false" vert="horz" wrap="square" lIns="0" rIns="0" tIns="0" bIns="0"/>
          <a:lstStyle/>
          <a:p>
            <a:pPr algn="l" marL="0" indent="0">
              <a:lnSpc>
                <a:spcPct val="150000"/>
              </a:lnSpc>
              <a:defRPr/>
            </a:pPr>
            <a:r>
              <a:rPr lang="en-US" b="false" i="false" strike="noStrike" u="none" sz="1300">
                <a:solidFill>
                  <a:srgbClr val="FFFFFF"/>
                </a:solidFill>
                <a:latin typeface="Noto Sans SC"/>
                <a:ea typeface="Noto Sans SC"/>
                <a:cs typeface="Noto Sans SC"/>
                <a:sym typeface="Noto Sans SC"/>
              </a:rPr>
              <a:t>名称：oss-blog-theme</a:t>
            </a:r>
            <a:endParaRPr lang="en-US" sz="1100"/>
          </a:p>
          <a:p>
            <a:pPr algn="l" marL="0" indent="0">
              <a:lnSpc>
                <a:spcPct val="150000"/>
              </a:lnSpc>
            </a:pPr>
            <a:r>
              <a:rPr lang="en-US" b="false" i="false" strike="noStrike" u="none" sz="1300">
                <a:solidFill>
                  <a:srgbClr val="FFFFFF"/>
                </a:solidFill>
                <a:latin typeface="Noto Sans SC"/>
                <a:ea typeface="Noto Sans SC"/>
                <a:cs typeface="Noto Sans SC"/>
                <a:sym typeface="Noto Sans SC"/>
              </a:rPr>
              <a:t>版本：v1.0.0</a:t>
            </a:r>
          </a:p>
          <a:p>
            <a:pPr algn="l" marL="0" indent="0">
              <a:lnSpc>
                <a:spcPct val="150000"/>
              </a:lnSpc>
            </a:pPr>
            <a:r>
              <a:rPr lang="en-US" b="false" i="false" strike="noStrike" u="none" sz="1300">
                <a:solidFill>
                  <a:srgbClr val="FFFFFF"/>
                </a:solidFill>
                <a:latin typeface="Noto Sans SC"/>
                <a:ea typeface="Noto Sans SC"/>
                <a:cs typeface="Noto Sans SC"/>
                <a:sym typeface="Noto Sans SC"/>
              </a:rPr>
              <a:t>基础：Casper 5.9.0</a:t>
            </a:r>
          </a:p>
          <a:p>
            <a:pPr algn="l" marL="0" indent="0">
              <a:lnSpc>
                <a:spcPct val="150000"/>
              </a:lnSpc>
            </a:pPr>
            <a:r>
              <a:rPr lang="en-US" b="false" i="false" strike="noStrike" u="none" sz="1300">
                <a:solidFill>
                  <a:srgbClr val="FFFFFF"/>
                </a:solidFill>
                <a:latin typeface="Noto Sans SC"/>
                <a:ea typeface="Noto Sans SC"/>
                <a:cs typeface="Noto Sans SC"/>
                <a:sym typeface="Noto Sans SC"/>
              </a:rPr>
              <a:t>构建：gulp 4.0.2</a:t>
            </a:r>
          </a:p>
          <a:p>
            <a:pPr algn="l" marL="0" indent="0">
              <a:lnSpc>
                <a:spcPct val="150000"/>
              </a:lnSpc>
            </a:pPr>
            <a:r>
              <a:rPr lang="en-US" b="false" i="false" strike="noStrike" u="none" sz="1300">
                <a:solidFill>
                  <a:srgbClr val="FFFFFF"/>
                </a:solidFill>
                <a:latin typeface="Noto Sans SC"/>
                <a:ea typeface="Noto Sans SC"/>
                <a:cs typeface="Noto Sans SC"/>
                <a:sym typeface="Noto Sans SC"/>
              </a:rPr>
              <a:t>校验：gscan 通过</a:t>
            </a:r>
          </a:p>
        </p:txBody>
      </p:sp>
      <p:sp>
        <p:nvSpPr>
          <p:cNvPr name="AutoShape 8" id="8"/>
          <p:cNvSpPr/>
          <p:nvPr/>
        </p:nvSpPr>
        <p:spPr>
          <a:xfrm rot="0" flipH="false" flipV="false">
            <a:off x="4572000" y="1079500"/>
            <a:ext cx="71120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0D1326"/>
                </a:solidFill>
                <a:latin typeface="Noto Sans SC"/>
                <a:ea typeface="Noto Sans SC"/>
                <a:cs typeface="Noto Sans SC"/>
                <a:sym typeface="Noto Sans SC"/>
              </a:rPr>
              <a:t>主题修改清单</a:t>
            </a:r>
            <a:endParaRPr lang="en-US" sz="1100"/>
          </a:p>
        </p:txBody>
      </p:sp>
      <p:cxnSp>
        <p:nvCxnSpPr>
          <p:cNvPr name="Connector 9" id="9"/>
          <p:cNvCxnSpPr/>
          <p:nvPr/>
        </p:nvCxnSpPr>
        <p:spPr>
          <a:xfrm rot="-42969" flipH="false" flipV="false">
            <a:off x="4572040" y="1581150"/>
            <a:ext cx="1016000" cy="12700"/>
          </a:xfrm>
          <a:prstGeom prst="straightConnector1">
            <a:avLst/>
          </a:prstGeom>
          <a:solidFill>
            <a:srgbClr val="DEE0E3">
              <a:alpha val="100000"/>
            </a:srgbClr>
          </a:solidFill>
          <a:ln w="25400" cmpd="sng" cap="flat">
            <a:solidFill>
              <a:srgbClr val="2563EB">
                <a:alpha val="100000"/>
              </a:srgbClr>
            </a:solidFill>
            <a:prstDash val="solid"/>
            <a:round/>
            <a:headEnd type="none" w="lg" len="lg"/>
            <a:tailEnd type="none" w="lg" len="lg"/>
          </a:ln>
        </p:spPr>
      </p:cxnSp>
      <p:graphicFrame>
        <p:nvGraphicFramePr>
          <p:cNvPr name="Table 10" id="10"/>
          <p:cNvGraphicFramePr>
            <a:graphicFrameLocks noGrp="true"/>
          </p:cNvGraphicFramePr>
          <p:nvPr/>
        </p:nvGraphicFramePr>
        <p:xfrm>
          <a:off x="4572000" y="1778000"/>
          <a:ext cx="7112000" cy="3302000"/>
        </p:xfrm>
        <a:graphic>
          <a:graphicData uri="http://schemas.openxmlformats.org/drawingml/2006/table">
            <a:tbl>
              <a:tblPr>
                <a:effectLst/>
              </a:tblPr>
              <a:tblGrid>
                <a:gridCol w="2032000"/>
                <a:gridCol w="1016000"/>
                <a:gridCol w="4064000"/>
              </a:tblGrid>
              <a:tr h="469900">
                <a:tc>
                  <a:txBody>
                    <a:bodyPr anchor="t" rtlCol="false"/>
                    <a:lstStyle/>
                    <a:p>
                      <a:pPr algn="ctr" marL="0" indent="0">
                        <a:lnSpc>
                          <a:spcPct val="100000"/>
                        </a:lnSpc>
                        <a:defRPr/>
                      </a:pPr>
                      <a:r>
                        <a:rPr lang="en-US" b="true" i="false" strike="noStrike" u="none" sz="1200">
                          <a:solidFill>
                            <a:srgbClr val="FFFFFF"/>
                          </a:solidFill>
                          <a:latin typeface="Noto Sans SC"/>
                          <a:ea typeface="Noto Sans SC"/>
                          <a:cs typeface="Noto Sans SC"/>
                          <a:sym typeface="Noto Sans SC"/>
                        </a:rPr>
                        <a:t>文件</a:t>
                      </a:r>
                      <a:endParaRPr lang="en-US" sz="1100"/>
                    </a:p>
                  </a:txBody>
                  <a:tcPr anchor="ctr" anchorCtr="false" marL="101600" marR="101600" marT="101600" marB="101600">
                    <a:lnL>
                      <a:noFill/>
                    </a:lnL>
                    <a:lnR>
                      <a:noFill/>
                    </a:lnR>
                    <a:lnT>
                      <a:noFill/>
                    </a:lnT>
                    <a:lnB>
                      <a:noFill/>
                    </a:lnB>
                    <a:solidFill>
                      <a:srgbClr val="0D1326">
                        <a:alpha val="100000"/>
                      </a:srgbClr>
                    </a:solidFill>
                  </a:tcPr>
                </a:tc>
                <a:tc>
                  <a:txBody>
                    <a:bodyPr anchor="t" rtlCol="false"/>
                    <a:lstStyle/>
                    <a:p>
                      <a:pPr algn="ctr" marL="0" indent="0">
                        <a:lnSpc>
                          <a:spcPct val="100000"/>
                        </a:lnSpc>
                        <a:defRPr/>
                      </a:pPr>
                      <a:r>
                        <a:rPr lang="en-US" b="true" i="false" strike="noStrike" u="none" sz="1200">
                          <a:solidFill>
                            <a:srgbClr val="FFFFFF"/>
                          </a:solidFill>
                          <a:latin typeface="Noto Sans SC"/>
                          <a:ea typeface="Noto Sans SC"/>
                          <a:cs typeface="Noto Sans SC"/>
                          <a:sym typeface="Noto Sans SC"/>
                        </a:rPr>
                        <a:t>类型</a:t>
                      </a:r>
                      <a:endParaRPr lang="en-US" sz="1100"/>
                    </a:p>
                  </a:txBody>
                  <a:tcPr anchor="ctr" anchorCtr="false" marL="101600" marR="101600" marT="101600" marB="101600">
                    <a:lnL>
                      <a:noFill/>
                    </a:lnL>
                    <a:lnR>
                      <a:noFill/>
                    </a:lnR>
                    <a:lnT>
                      <a:noFill/>
                    </a:lnT>
                    <a:lnB>
                      <a:noFill/>
                    </a:lnB>
                    <a:solidFill>
                      <a:srgbClr val="0D1326">
                        <a:alpha val="100000"/>
                      </a:srgbClr>
                    </a:solidFill>
                  </a:tcPr>
                </a:tc>
                <a:tc>
                  <a:txBody>
                    <a:bodyPr anchor="t" rtlCol="false"/>
                    <a:lstStyle/>
                    <a:p>
                      <a:pPr algn="ctr" marL="0" indent="0">
                        <a:lnSpc>
                          <a:spcPct val="100000"/>
                        </a:lnSpc>
                        <a:defRPr/>
                      </a:pPr>
                      <a:r>
                        <a:rPr lang="en-US" b="true" i="false" strike="noStrike" u="none" sz="1200">
                          <a:solidFill>
                            <a:srgbClr val="FFFFFF"/>
                          </a:solidFill>
                          <a:latin typeface="Noto Sans SC"/>
                          <a:ea typeface="Noto Sans SC"/>
                          <a:cs typeface="Noto Sans SC"/>
                          <a:sym typeface="Noto Sans SC"/>
                        </a:rPr>
                        <a:t>修改内容</a:t>
                      </a:r>
                      <a:endParaRPr lang="en-US" sz="1100"/>
                    </a:p>
                  </a:txBody>
                  <a:tcPr anchor="ctr" anchorCtr="false" marL="101600" marR="101600" marT="101600" marB="101600">
                    <a:lnL>
                      <a:noFill/>
                    </a:lnL>
                    <a:lnR>
                      <a:noFill/>
                    </a:lnR>
                    <a:lnT>
                      <a:noFill/>
                    </a:lnT>
                    <a:lnB>
                      <a:noFill/>
                    </a:lnB>
                    <a:solidFill>
                      <a:srgbClr val="0D1326">
                        <a:alpha val="100000"/>
                      </a:srgbClr>
                    </a:solidFill>
                  </a:tcPr>
                </a:tc>
              </a:tr>
              <a:tr h="469900">
                <a:tc>
                  <a:txBody>
                    <a:bodyPr anchor="t" rtlCol="false"/>
                    <a:lstStyle/>
                    <a:p>
                      <a:pPr algn="l" marL="0" indent="0">
                        <a:lnSpc>
                          <a:spcPct val="100000"/>
                        </a:lnSpc>
                        <a:defRPr/>
                      </a:pPr>
                      <a:r>
                        <a:rPr lang="en-US" b="false" i="false" strike="noStrike" u="none" sz="1100">
                          <a:solidFill>
                            <a:srgbClr val="1F2329"/>
                          </a:solidFill>
                          <a:latin typeface="Noto Sans SC"/>
                          <a:ea typeface="Noto Sans SC"/>
                          <a:cs typeface="Noto Sans SC"/>
                          <a:sym typeface="Noto Sans SC"/>
                        </a:rPr>
                        <a:t>default.hbs</a:t>
                      </a:r>
                      <a:endParaRPr lang="en-US" sz="1100"/>
                    </a:p>
                  </a:txBody>
                  <a:tcPr anchor="ctr" anchorCtr="false" marL="101600" marR="101600" marT="101600" marB="101600">
                    <a:lnL>
                      <a:noFill/>
                    </a:lnL>
                    <a:lnR>
                      <a:noFill/>
                    </a:lnR>
                    <a:lnT>
                      <a:noFill/>
                    </a:lnT>
                    <a:lnB>
                      <a:noFill/>
                    </a:lnB>
                    <a:noFill/>
                  </a:tcPr>
                </a:tc>
                <a:tc>
                  <a:txBody>
                    <a:bodyPr anchor="t" rtlCol="false"/>
                    <a:lstStyle/>
                    <a:p>
                      <a:pPr algn="ctr" marL="0" indent="0">
                        <a:lnSpc>
                          <a:spcPct val="100000"/>
                        </a:lnSpc>
                        <a:defRPr/>
                      </a:pPr>
                      <a:r>
                        <a:rPr lang="en-US" b="false" i="false" strike="noStrike" u="none" sz="1100">
                          <a:solidFill>
                            <a:srgbClr val="1F2329"/>
                          </a:solidFill>
                          <a:latin typeface="Noto Sans SC"/>
                          <a:ea typeface="Noto Sans SC"/>
                          <a:cs typeface="Noto Sans SC"/>
                          <a:sym typeface="Noto Sans SC"/>
                        </a:rPr>
                        <a:t>修改</a:t>
                      </a:r>
                      <a:endParaRPr lang="en-US" sz="1100"/>
                    </a:p>
                  </a:txBody>
                  <a:tcPr anchor="ctr" anchorCtr="false" marL="101600" marR="101600" marT="101600" marB="101600">
                    <a:lnL>
                      <a:noFill/>
                    </a:lnL>
                    <a:lnR>
                      <a:noFill/>
                    </a:lnR>
                    <a:lnT>
                      <a:noFill/>
                    </a:lnT>
                    <a:lnB>
                      <a:noFill/>
                    </a:lnB>
                    <a:noFill/>
                  </a:tcPr>
                </a:tc>
                <a:tc>
                  <a:txBody>
                    <a:bodyPr anchor="t" rtlCol="false"/>
                    <a:lstStyle/>
                    <a:p>
                      <a:pPr algn="l" marL="0" indent="0">
                        <a:lnSpc>
                          <a:spcPct val="100000"/>
                        </a:lnSpc>
                        <a:defRPr/>
                      </a:pPr>
                      <a:r>
                        <a:rPr lang="en-US" b="false" i="false" strike="noStrike" u="none" sz="1100">
                          <a:solidFill>
                            <a:srgbClr val="1F2329"/>
                          </a:solidFill>
                          <a:latin typeface="Noto Sans SC"/>
                          <a:ea typeface="Noto Sans SC"/>
                          <a:cs typeface="Noto Sans SC"/>
                          <a:sym typeface="Noto Sans SC"/>
                        </a:rPr>
                        <a:t>自定义导航栏、页脚、阅读进度条</a:t>
                      </a:r>
                      <a:endParaRPr lang="en-US" sz="1100"/>
                    </a:p>
                  </a:txBody>
                  <a:tcPr anchor="ctr" anchorCtr="false" marL="101600" marR="101600" marT="101600" marB="101600">
                    <a:lnL>
                      <a:noFill/>
                    </a:lnL>
                    <a:lnR>
                      <a:noFill/>
                    </a:lnR>
                    <a:lnT>
                      <a:noFill/>
                    </a:lnT>
                    <a:lnB>
                      <a:noFill/>
                    </a:lnB>
                    <a:noFill/>
                  </a:tcPr>
                </a:tc>
              </a:tr>
              <a:tr h="469900">
                <a:tc>
                  <a:txBody>
                    <a:bodyPr anchor="t" rtlCol="false"/>
                    <a:lstStyle/>
                    <a:p>
                      <a:pPr algn="l" marL="0" indent="0">
                        <a:lnSpc>
                          <a:spcPct val="100000"/>
                        </a:lnSpc>
                        <a:defRPr/>
                      </a:pPr>
                      <a:r>
                        <a:rPr lang="en-US" b="false" i="false" strike="noStrike" u="none" sz="1100">
                          <a:solidFill>
                            <a:srgbClr val="1F2329"/>
                          </a:solidFill>
                          <a:latin typeface="Noto Sans SC"/>
                          <a:ea typeface="Noto Sans SC"/>
                          <a:cs typeface="Noto Sans SC"/>
                          <a:sym typeface="Noto Sans SC"/>
                        </a:rPr>
                        <a:t>post-card.hbs</a:t>
                      </a:r>
                      <a:endParaRPr lang="en-US" sz="1100"/>
                    </a:p>
                  </a:txBody>
                  <a:tcPr anchor="ctr" anchorCtr="false" marL="101600" marR="101600" marT="101600" marB="101600">
                    <a:lnL>
                      <a:noFill/>
                    </a:lnL>
                    <a:lnR>
                      <a:noFill/>
                    </a:lnR>
                    <a:lnT>
                      <a:noFill/>
                    </a:lnT>
                    <a:lnB>
                      <a:noFill/>
                    </a:lnB>
                    <a:noFill/>
                  </a:tcPr>
                </a:tc>
                <a:tc>
                  <a:txBody>
                    <a:bodyPr anchor="t" rtlCol="false"/>
                    <a:lstStyle/>
                    <a:p>
                      <a:pPr algn="ctr" marL="0" indent="0">
                        <a:lnSpc>
                          <a:spcPct val="100000"/>
                        </a:lnSpc>
                        <a:defRPr/>
                      </a:pPr>
                      <a:r>
                        <a:rPr lang="en-US" b="false" i="false" strike="noStrike" u="none" sz="1100">
                          <a:solidFill>
                            <a:srgbClr val="1F2329"/>
                          </a:solidFill>
                          <a:latin typeface="Noto Sans SC"/>
                          <a:ea typeface="Noto Sans SC"/>
                          <a:cs typeface="Noto Sans SC"/>
                          <a:sym typeface="Noto Sans SC"/>
                        </a:rPr>
                        <a:t>修改</a:t>
                      </a:r>
                      <a:endParaRPr lang="en-US" sz="1100"/>
                    </a:p>
                  </a:txBody>
                  <a:tcPr anchor="ctr" anchorCtr="false" marL="101600" marR="101600" marT="101600" marB="101600">
                    <a:lnL>
                      <a:noFill/>
                    </a:lnL>
                    <a:lnR>
                      <a:noFill/>
                    </a:lnR>
                    <a:lnT>
                      <a:noFill/>
                    </a:lnT>
                    <a:lnB>
                      <a:noFill/>
                    </a:lnB>
                    <a:noFill/>
                  </a:tcPr>
                </a:tc>
                <a:tc>
                  <a:txBody>
                    <a:bodyPr anchor="t" rtlCol="false"/>
                    <a:lstStyle/>
                    <a:p>
                      <a:pPr algn="l" marL="0" indent="0">
                        <a:lnSpc>
                          <a:spcPct val="100000"/>
                        </a:lnSpc>
                        <a:defRPr/>
                      </a:pPr>
                      <a:r>
                        <a:rPr lang="en-US" b="false" i="false" strike="noStrike" u="none" sz="1100">
                          <a:solidFill>
                            <a:srgbClr val="1F2329"/>
                          </a:solidFill>
                          <a:latin typeface="Noto Sans SC"/>
                          <a:ea typeface="Noto Sans SC"/>
                          <a:cs typeface="Noto Sans SC"/>
                          <a:sym typeface="Noto Sans SC"/>
                        </a:rPr>
                        <a:t>文章卡片样式、阅读更多、中文日期</a:t>
                      </a:r>
                      <a:endParaRPr lang="en-US" sz="1100"/>
                    </a:p>
                  </a:txBody>
                  <a:tcPr anchor="ctr" anchorCtr="false" marL="101600" marR="101600" marT="101600" marB="101600">
                    <a:lnL>
                      <a:noFill/>
                    </a:lnL>
                    <a:lnR>
                      <a:noFill/>
                    </a:lnR>
                    <a:lnT>
                      <a:noFill/>
                    </a:lnT>
                    <a:lnB>
                      <a:noFill/>
                    </a:lnB>
                    <a:noFill/>
                  </a:tcPr>
                </a:tc>
              </a:tr>
              <a:tr h="469900">
                <a:tc>
                  <a:txBody>
                    <a:bodyPr anchor="t" rtlCol="false"/>
                    <a:lstStyle/>
                    <a:p>
                      <a:pPr algn="l" marL="0" indent="0">
                        <a:lnSpc>
                          <a:spcPct val="100000"/>
                        </a:lnSpc>
                        <a:defRPr/>
                      </a:pPr>
                      <a:r>
                        <a:rPr lang="en-US" b="false" i="false" strike="noStrike" u="none" sz="1100">
                          <a:solidFill>
                            <a:srgbClr val="1F2329"/>
                          </a:solidFill>
                          <a:latin typeface="Noto Sans SC"/>
                          <a:ea typeface="Noto Sans SC"/>
                          <a:cs typeface="Noto Sans SC"/>
                          <a:sym typeface="Noto Sans SC"/>
                        </a:rPr>
                        <a:t>post.hbs</a:t>
                      </a:r>
                      <a:endParaRPr lang="en-US" sz="1100"/>
                    </a:p>
                  </a:txBody>
                  <a:tcPr anchor="ctr" anchorCtr="false" marL="101600" marR="101600" marT="101600" marB="101600">
                    <a:lnL>
                      <a:noFill/>
                    </a:lnL>
                    <a:lnR>
                      <a:noFill/>
                    </a:lnR>
                    <a:lnT>
                      <a:noFill/>
                    </a:lnT>
                    <a:lnB>
                      <a:noFill/>
                    </a:lnB>
                    <a:noFill/>
                  </a:tcPr>
                </a:tc>
                <a:tc>
                  <a:txBody>
                    <a:bodyPr anchor="t" rtlCol="false"/>
                    <a:lstStyle/>
                    <a:p>
                      <a:pPr algn="ctr" marL="0" indent="0">
                        <a:lnSpc>
                          <a:spcPct val="100000"/>
                        </a:lnSpc>
                        <a:defRPr/>
                      </a:pPr>
                      <a:r>
                        <a:rPr lang="en-US" b="false" i="false" strike="noStrike" u="none" sz="1100">
                          <a:solidFill>
                            <a:srgbClr val="1F2329"/>
                          </a:solidFill>
                          <a:latin typeface="Noto Sans SC"/>
                          <a:ea typeface="Noto Sans SC"/>
                          <a:cs typeface="Noto Sans SC"/>
                          <a:sym typeface="Noto Sans SC"/>
                        </a:rPr>
                        <a:t>修改</a:t>
                      </a:r>
                      <a:endParaRPr lang="en-US" sz="1100"/>
                    </a:p>
                  </a:txBody>
                  <a:tcPr anchor="ctr" anchorCtr="false" marL="101600" marR="101600" marT="101600" marB="101600">
                    <a:lnL>
                      <a:noFill/>
                    </a:lnL>
                    <a:lnR>
                      <a:noFill/>
                    </a:lnR>
                    <a:lnT>
                      <a:noFill/>
                    </a:lnT>
                    <a:lnB>
                      <a:noFill/>
                    </a:lnB>
                    <a:noFill/>
                  </a:tcPr>
                </a:tc>
                <a:tc>
                  <a:txBody>
                    <a:bodyPr anchor="t" rtlCol="false"/>
                    <a:lstStyle/>
                    <a:p>
                      <a:pPr algn="l" marL="0" indent="0">
                        <a:lnSpc>
                          <a:spcPct val="100000"/>
                        </a:lnSpc>
                        <a:defRPr/>
                      </a:pPr>
                      <a:r>
                        <a:rPr lang="en-US" b="false" i="false" strike="noStrike" u="none" sz="1100">
                          <a:solidFill>
                            <a:srgbClr val="1F2329"/>
                          </a:solidFill>
                          <a:latin typeface="Noto Sans SC"/>
                          <a:ea typeface="Noto Sans SC"/>
                          <a:cs typeface="Noto Sans SC"/>
                          <a:sym typeface="Noto Sans SC"/>
                        </a:rPr>
                        <a:t>详情页元数据、标签列表、相关推荐</a:t>
                      </a:r>
                      <a:endParaRPr lang="en-US" sz="1100"/>
                    </a:p>
                  </a:txBody>
                  <a:tcPr anchor="ctr" anchorCtr="false" marL="101600" marR="101600" marT="101600" marB="101600">
                    <a:lnL>
                      <a:noFill/>
                    </a:lnL>
                    <a:lnR>
                      <a:noFill/>
                    </a:lnR>
                    <a:lnT>
                      <a:noFill/>
                    </a:lnT>
                    <a:lnB>
                      <a:noFill/>
                    </a:lnB>
                    <a:noFill/>
                  </a:tcPr>
                </a:tc>
              </a:tr>
              <a:tr h="469900">
                <a:tc>
                  <a:txBody>
                    <a:bodyPr anchor="t" rtlCol="false"/>
                    <a:lstStyle/>
                    <a:p>
                      <a:pPr algn="l" marL="0" indent="0">
                        <a:lnSpc>
                          <a:spcPct val="100000"/>
                        </a:lnSpc>
                        <a:defRPr/>
                      </a:pPr>
                      <a:r>
                        <a:rPr lang="en-US" b="false" i="false" strike="noStrike" u="none" sz="1100">
                          <a:solidFill>
                            <a:srgbClr val="1F2329"/>
                          </a:solidFill>
                          <a:latin typeface="Noto Sans SC"/>
                          <a:ea typeface="Noto Sans SC"/>
                          <a:cs typeface="Noto Sans SC"/>
                          <a:sym typeface="Noto Sans SC"/>
                        </a:rPr>
                        <a:t>error-404.hbs</a:t>
                      </a:r>
                      <a:endParaRPr lang="en-US" sz="1100"/>
                    </a:p>
                  </a:txBody>
                  <a:tcPr anchor="ctr" anchorCtr="false" marL="101600" marR="101600" marT="101600" marB="101600">
                    <a:lnL>
                      <a:noFill/>
                    </a:lnL>
                    <a:lnR>
                      <a:noFill/>
                    </a:lnR>
                    <a:lnT>
                      <a:noFill/>
                    </a:lnT>
                    <a:lnB>
                      <a:noFill/>
                    </a:lnB>
                    <a:noFill/>
                  </a:tcPr>
                </a:tc>
                <a:tc>
                  <a:txBody>
                    <a:bodyPr anchor="t" rtlCol="false"/>
                    <a:lstStyle/>
                    <a:p>
                      <a:pPr algn="ctr" marL="0" indent="0">
                        <a:lnSpc>
                          <a:spcPct val="100000"/>
                        </a:lnSpc>
                        <a:defRPr/>
                      </a:pPr>
                      <a:r>
                        <a:rPr lang="en-US" b="false" i="false" strike="noStrike" u="none" sz="1100">
                          <a:solidFill>
                            <a:srgbClr val="1F2329"/>
                          </a:solidFill>
                          <a:latin typeface="Noto Sans SC"/>
                          <a:ea typeface="Noto Sans SC"/>
                          <a:cs typeface="Noto Sans SC"/>
                          <a:sym typeface="Noto Sans SC"/>
                        </a:rPr>
                        <a:t>修改</a:t>
                      </a:r>
                      <a:endParaRPr lang="en-US" sz="1100"/>
                    </a:p>
                  </a:txBody>
                  <a:tcPr anchor="ctr" anchorCtr="false" marL="101600" marR="101600" marT="101600" marB="101600">
                    <a:lnL>
                      <a:noFill/>
                    </a:lnL>
                    <a:lnR>
                      <a:noFill/>
                    </a:lnR>
                    <a:lnT>
                      <a:noFill/>
                    </a:lnT>
                    <a:lnB>
                      <a:noFill/>
                    </a:lnB>
                    <a:noFill/>
                  </a:tcPr>
                </a:tc>
                <a:tc>
                  <a:txBody>
                    <a:bodyPr anchor="t" rtlCol="false"/>
                    <a:lstStyle/>
                    <a:p>
                      <a:pPr algn="l" marL="0" indent="0">
                        <a:lnSpc>
                          <a:spcPct val="100000"/>
                        </a:lnSpc>
                        <a:defRPr/>
                      </a:pPr>
                      <a:r>
                        <a:rPr lang="en-US" b="false" i="false" strike="noStrike" u="none" sz="1100">
                          <a:solidFill>
                            <a:srgbClr val="1F2329"/>
                          </a:solidFill>
                          <a:latin typeface="Noto Sans SC"/>
                          <a:ea typeface="Noto Sans SC"/>
                          <a:cs typeface="Noto Sans SC"/>
                          <a:sym typeface="Noto Sans SC"/>
                        </a:rPr>
                        <a:t>自定义404页面、推荐阅读、搜索入口</a:t>
                      </a:r>
                      <a:endParaRPr lang="en-US" sz="1100"/>
                    </a:p>
                  </a:txBody>
                  <a:tcPr anchor="ctr" anchorCtr="false" marL="101600" marR="101600" marT="101600" marB="101600">
                    <a:lnL>
                      <a:noFill/>
                    </a:lnL>
                    <a:lnR>
                      <a:noFill/>
                    </a:lnR>
                    <a:lnT>
                      <a:noFill/>
                    </a:lnT>
                    <a:lnB>
                      <a:noFill/>
                    </a:lnB>
                    <a:noFill/>
                  </a:tcPr>
                </a:tc>
              </a:tr>
              <a:tr h="469900">
                <a:tc>
                  <a:txBody>
                    <a:bodyPr anchor="t" rtlCol="false"/>
                    <a:lstStyle/>
                    <a:p>
                      <a:pPr algn="l" marL="0" indent="0">
                        <a:lnSpc>
                          <a:spcPct val="100000"/>
                        </a:lnSpc>
                        <a:defRPr/>
                      </a:pPr>
                      <a:r>
                        <a:rPr lang="en-US" b="false" i="false" strike="noStrike" u="none" sz="1100">
                          <a:solidFill>
                            <a:srgbClr val="1F2329"/>
                          </a:solidFill>
                          <a:latin typeface="Noto Sans SC"/>
                          <a:ea typeface="Noto Sans SC"/>
                          <a:cs typeface="Noto Sans SC"/>
                          <a:sym typeface="Noto Sans SC"/>
                        </a:rPr>
                        <a:t>custom.css</a:t>
                      </a:r>
                      <a:endParaRPr lang="en-US" sz="1100"/>
                    </a:p>
                  </a:txBody>
                  <a:tcPr anchor="ctr" anchorCtr="false" marL="101600" marR="101600" marT="101600" marB="101600">
                    <a:lnL>
                      <a:noFill/>
                    </a:lnL>
                    <a:lnR>
                      <a:noFill/>
                    </a:lnR>
                    <a:lnT>
                      <a:noFill/>
                    </a:lnT>
                    <a:lnB>
                      <a:noFill/>
                    </a:lnB>
                    <a:noFill/>
                  </a:tcPr>
                </a:tc>
                <a:tc>
                  <a:txBody>
                    <a:bodyPr anchor="t" rtlCol="false"/>
                    <a:lstStyle/>
                    <a:p>
                      <a:pPr algn="ctr" marL="0" indent="0">
                        <a:lnSpc>
                          <a:spcPct val="100000"/>
                        </a:lnSpc>
                        <a:defRPr/>
                      </a:pPr>
                      <a:r>
                        <a:rPr lang="en-US" b="false" i="false" strike="noStrike" u="none" sz="1100">
                          <a:solidFill>
                            <a:srgbClr val="1F2329"/>
                          </a:solidFill>
                          <a:latin typeface="Noto Sans SC"/>
                          <a:ea typeface="Noto Sans SC"/>
                          <a:cs typeface="Noto Sans SC"/>
                          <a:sym typeface="Noto Sans SC"/>
                        </a:rPr>
                        <a:t>新增</a:t>
                      </a:r>
                      <a:endParaRPr lang="en-US" sz="1100"/>
                    </a:p>
                  </a:txBody>
                  <a:tcPr anchor="ctr" anchorCtr="false" marL="101600" marR="101600" marT="101600" marB="101600">
                    <a:lnL>
                      <a:noFill/>
                    </a:lnL>
                    <a:lnR>
                      <a:noFill/>
                    </a:lnR>
                    <a:lnT>
                      <a:noFill/>
                    </a:lnT>
                    <a:lnB>
                      <a:noFill/>
                    </a:lnB>
                    <a:noFill/>
                  </a:tcPr>
                </a:tc>
                <a:tc>
                  <a:txBody>
                    <a:bodyPr anchor="t" rtlCol="false"/>
                    <a:lstStyle/>
                    <a:p>
                      <a:pPr algn="l" marL="0" indent="0">
                        <a:lnSpc>
                          <a:spcPct val="100000"/>
                        </a:lnSpc>
                        <a:defRPr/>
                      </a:pPr>
                      <a:r>
                        <a:rPr lang="en-US" b="false" i="false" strike="noStrike" u="none" sz="1100">
                          <a:solidFill>
                            <a:srgbClr val="1F2329"/>
                          </a:solidFill>
                          <a:latin typeface="Noto Sans SC"/>
                          <a:ea typeface="Noto Sans SC"/>
                          <a:cs typeface="Noto Sans SC"/>
                          <a:sym typeface="Noto Sans SC"/>
                        </a:rPr>
                        <a:t>自定义样式（导航/卡片/页脚/响应式）</a:t>
                      </a:r>
                      <a:endParaRPr lang="en-US" sz="1100"/>
                    </a:p>
                  </a:txBody>
                  <a:tcPr anchor="ctr" anchorCtr="false" marL="101600" marR="101600" marT="101600" marB="101600">
                    <a:lnL>
                      <a:noFill/>
                    </a:lnL>
                    <a:lnR>
                      <a:noFill/>
                    </a:lnR>
                    <a:lnT>
                      <a:noFill/>
                    </a:lnT>
                    <a:lnB>
                      <a:noFill/>
                    </a:lnB>
                    <a:noFill/>
                  </a:tcPr>
                </a:tc>
              </a:tr>
              <a:tr h="482600">
                <a:tc>
                  <a:txBody>
                    <a:bodyPr anchor="t" rtlCol="false"/>
                    <a:lstStyle/>
                    <a:p>
                      <a:pPr algn="l" marL="0" indent="0">
                        <a:lnSpc>
                          <a:spcPct val="100000"/>
                        </a:lnSpc>
                        <a:defRPr/>
                      </a:pPr>
                      <a:r>
                        <a:rPr lang="en-US" b="false" i="false" strike="noStrike" u="none" sz="1100">
                          <a:solidFill>
                            <a:srgbClr val="1F2329"/>
                          </a:solidFill>
                          <a:latin typeface="Noto Sans SC"/>
                          <a:ea typeface="Noto Sans SC"/>
                          <a:cs typeface="Noto Sans SC"/>
                          <a:sym typeface="Noto Sans SC"/>
                        </a:rPr>
                        <a:t>related-posts.hbs</a:t>
                      </a:r>
                      <a:endParaRPr lang="en-US" sz="1100"/>
                    </a:p>
                  </a:txBody>
                  <a:tcPr anchor="ctr" anchorCtr="false" marL="101600" marR="101600" marT="101600" marB="101600">
                    <a:lnL>
                      <a:noFill/>
                    </a:lnL>
                    <a:lnR>
                      <a:noFill/>
                    </a:lnR>
                    <a:lnT>
                      <a:noFill/>
                    </a:lnT>
                    <a:lnB>
                      <a:noFill/>
                    </a:lnB>
                    <a:noFill/>
                  </a:tcPr>
                </a:tc>
                <a:tc>
                  <a:txBody>
                    <a:bodyPr anchor="t" rtlCol="false"/>
                    <a:lstStyle/>
                    <a:p>
                      <a:pPr algn="ctr" marL="0" indent="0">
                        <a:lnSpc>
                          <a:spcPct val="100000"/>
                        </a:lnSpc>
                        <a:defRPr/>
                      </a:pPr>
                      <a:r>
                        <a:rPr lang="en-US" b="false" i="false" strike="noStrike" u="none" sz="1100">
                          <a:solidFill>
                            <a:srgbClr val="1F2329"/>
                          </a:solidFill>
                          <a:latin typeface="Noto Sans SC"/>
                          <a:ea typeface="Noto Sans SC"/>
                          <a:cs typeface="Noto Sans SC"/>
                          <a:sym typeface="Noto Sans SC"/>
                        </a:rPr>
                        <a:t>新增</a:t>
                      </a:r>
                      <a:endParaRPr lang="en-US" sz="1100"/>
                    </a:p>
                  </a:txBody>
                  <a:tcPr anchor="ctr" anchorCtr="false" marL="101600" marR="101600" marT="101600" marB="101600">
                    <a:lnL>
                      <a:noFill/>
                    </a:lnL>
                    <a:lnR>
                      <a:noFill/>
                    </a:lnR>
                    <a:lnT>
                      <a:noFill/>
                    </a:lnT>
                    <a:lnB>
                      <a:noFill/>
                    </a:lnB>
                    <a:noFill/>
                  </a:tcPr>
                </a:tc>
                <a:tc>
                  <a:txBody>
                    <a:bodyPr anchor="t" rtlCol="false"/>
                    <a:lstStyle/>
                    <a:p>
                      <a:pPr algn="l" marL="0" indent="0">
                        <a:lnSpc>
                          <a:spcPct val="100000"/>
                        </a:lnSpc>
                        <a:defRPr/>
                      </a:pPr>
                      <a:r>
                        <a:rPr lang="en-US" b="false" i="false" strike="noStrike" u="none" sz="1100">
                          <a:solidFill>
                            <a:srgbClr val="1F2329"/>
                          </a:solidFill>
                          <a:latin typeface="Noto Sans SC"/>
                          <a:ea typeface="Noto Sans SC"/>
                          <a:cs typeface="Noto Sans SC"/>
                          <a:sym typeface="Noto Sans SC"/>
                        </a:rPr>
                        <a:t>相关文章推荐partial（基于标签匹配）</a:t>
                      </a:r>
                      <a:endParaRPr lang="en-US" sz="1100"/>
                    </a:p>
                  </a:txBody>
                  <a:tcPr anchor="ctr" anchorCtr="false" marL="101600" marR="101600" marT="101600" marB="101600">
                    <a:lnL>
                      <a:noFill/>
                    </a:lnL>
                    <a:lnR>
                      <a:noFill/>
                    </a:lnR>
                    <a:lnT>
                      <a:noFill/>
                    </a:lnT>
                    <a:lnB>
                      <a:noFill/>
                    </a:lnB>
                    <a:noFill/>
                  </a:tcPr>
                </a:tc>
              </a:tr>
            </a:tbl>
          </a:graphicData>
        </a:graphic>
      </p:graphicFrame>
      <p:sp>
        <p:nvSpPr>
          <p:cNvPr name="AutoShape 11" id="11"/>
          <p:cNvSpPr/>
          <p:nvPr/>
        </p:nvSpPr>
        <p:spPr>
          <a:xfrm rot="0" flipH="false" flipV="false">
            <a:off x="508000" y="3683000"/>
            <a:ext cx="3556000" cy="1397000"/>
          </a:xfrm>
          <a:prstGeom prst="roundRect">
            <a:avLst>
              <a:gd name="adj" fmla="val 0"/>
            </a:avLst>
          </a:prstGeom>
          <a:solidFill>
            <a:srgbClr val="FFFFFF">
              <a:alpha val="100000"/>
            </a:srgbClr>
          </a:solidFill>
          <a:ln w="12700" cmpd="sng" cap="flat">
            <a:solidFill>
              <a:srgbClr val="BFD7FF">
                <a:alpha val="100000"/>
              </a:srgbClr>
            </a:solid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762000" y="3873500"/>
            <a:ext cx="3048000" cy="317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2563EB"/>
                </a:solidFill>
                <a:latin typeface="Noto Sans SC"/>
                <a:ea typeface="Noto Sans SC"/>
                <a:cs typeface="Noto Sans SC"/>
                <a:sym typeface="Noto Sans SC"/>
              </a:rPr>
              <a:t>gscan 校验结果</a:t>
            </a:r>
            <a:endParaRPr lang="en-US" sz="1100"/>
          </a:p>
        </p:txBody>
      </p:sp>
      <p:sp>
        <p:nvSpPr>
          <p:cNvPr name="AutoShape 13" id="13"/>
          <p:cNvSpPr/>
          <p:nvPr/>
        </p:nvSpPr>
        <p:spPr>
          <a:xfrm rot="0" flipH="false" flipV="false">
            <a:off x="762000" y="4254500"/>
            <a:ext cx="3048000" cy="698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300">
                <a:solidFill>
                  <a:srgbClr val="536174"/>
                </a:solidFill>
                <a:latin typeface="Noto Sans SC"/>
                <a:ea typeface="Noto Sans SC"/>
                <a:cs typeface="Noto Sans SC"/>
                <a:sym typeface="Noto Sans SC"/>
              </a:rPr>
              <a:t>兼容 Ghost 5.x</a:t>
            </a:r>
            <a:endParaRPr lang="en-US" sz="1100"/>
          </a:p>
          <a:p>
            <a:pPr algn="l" marL="0" indent="0">
              <a:lnSpc>
                <a:spcPct val="125000"/>
              </a:lnSpc>
            </a:pPr>
            <a:r>
              <a:rPr lang="en-US" b="false" i="false" strike="noStrike" u="none" sz="1300">
                <a:solidFill>
                  <a:srgbClr val="536174"/>
                </a:solidFill>
                <a:latin typeface="Noto Sans SC"/>
                <a:ea typeface="Noto Sans SC"/>
                <a:cs typeface="Noto Sans SC"/>
                <a:sym typeface="Noto Sans SC"/>
              </a:rPr>
              <a:t>0 致命错误 · 0 阻断警告</a:t>
            </a:r>
          </a:p>
        </p:txBody>
      </p:sp>
      <p:sp>
        <p:nvSpPr>
          <p:cNvPr name="AutoShape 14" id="14"/>
          <p:cNvSpPr/>
          <p:nvPr/>
        </p:nvSpPr>
        <p:spPr>
          <a:xfrm rot="0" flipH="false" flipV="false">
            <a:off x="508000" y="5334000"/>
            <a:ext cx="11176000" cy="1016000"/>
          </a:xfrm>
          <a:prstGeom prst="roundRect">
            <a:avLst>
              <a:gd name="adj" fmla="val 0"/>
            </a:avLst>
          </a:prstGeom>
          <a:solidFill>
            <a:srgbClr val="BFD7FF">
              <a:alpha val="3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762000" y="5524500"/>
            <a:ext cx="1066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33333"/>
              </a:lnSpc>
              <a:defRPr/>
            </a:pPr>
            <a:r>
              <a:rPr lang="en-US" b="true" i="false" strike="noStrike" u="none" sz="1300">
                <a:solidFill>
                  <a:srgbClr val="0D1326"/>
                </a:solidFill>
                <a:latin typeface="Noto Sans SC"/>
                <a:ea typeface="Noto Sans SC"/>
                <a:cs typeface="Noto Sans SC"/>
                <a:sym typeface="Noto Sans SC"/>
              </a:rPr>
              <a:t>构建流程：</a:t>
            </a:r>
            <a:r>
              <a:rPr lang="en-US" b="false" i="false" strike="noStrike" u="none" sz="1300">
                <a:solidFill>
                  <a:srgbClr val="0D1326"/>
                </a:solidFill>
                <a:latin typeface="Noto Sans SC"/>
                <a:ea typeface="Noto Sans SC"/>
                <a:cs typeface="Noto Sans SC"/>
                <a:sym typeface="Noto Sans SC"/>
              </a:rPr>
              <a:t>npm install --legacy-peer-deps（1031包）→ npx gulp build（CSS/JS构建成功）→ npx gscan .（校验通过）→ npx gulp zip（生成主题压缩包422KB）</a:t>
            </a:r>
            <a:endParaRPr lang="en-US" sz="1100"/>
          </a:p>
        </p:txBody>
      </p:sp>
    </p:spTree>
  </p:cSld>
  <p:clrMapOvr>
    <a:masterClrMapping/>
  </p:clrMapOvr>
</p:sld>
</file>

<file path=ppt/slides/slide7.xml><?xml version="1.0" encoding="utf-8"?>
<p:sld xmlns:p="http://schemas.openxmlformats.org/presentationml/2006/main" xmlns:a="http://schemas.openxmlformats.org/drawingml/2006/main">
  <p:cSld>
    <p:bg>
      <p:bgPr>
        <a:solidFill>
          <a:srgbClr val="F2F4F8">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762000"/>
          </a:xfrm>
          <a:prstGeom prst="roundRect">
            <a:avLst>
              <a:gd name="adj" fmla="val 0"/>
            </a:avLst>
          </a:prstGeom>
          <a:solidFill>
            <a:srgbClr val="0D132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508000" y="152400"/>
            <a:ext cx="7620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200">
                <a:solidFill>
                  <a:srgbClr val="FFFFFF"/>
                </a:solidFill>
                <a:latin typeface="Noto Sans SC"/>
                <a:ea typeface="Noto Sans SC"/>
                <a:cs typeface="Noto Sans SC"/>
                <a:sym typeface="Noto Sans SC"/>
              </a:rPr>
              <a:t>05 自主扩展功能一：相关文章推荐</a:t>
            </a:r>
            <a:endParaRPr lang="en-US" sz="1100"/>
          </a:p>
        </p:txBody>
      </p:sp>
      <p:sp>
        <p:nvSpPr>
          <p:cNvPr name="AutoShape 4" id="4"/>
          <p:cNvSpPr/>
          <p:nvPr/>
        </p:nvSpPr>
        <p:spPr>
          <a:xfrm rot="0" flipH="false" flipV="false">
            <a:off x="9525000" y="228600"/>
            <a:ext cx="2159000" cy="381000"/>
          </a:xfrm>
          <a:prstGeom prst="rect">
            <a:avLst/>
          </a:prstGeom>
          <a:noFill/>
          <a:ln w="12700" cmpd="sng" cap="flat">
            <a:noFill/>
            <a:prstDash val="solid"/>
            <a:round/>
          </a:ln>
        </p:spPr>
        <p:txBody>
          <a:bodyPr anchor="ctr" rtlCol="false" anchorCtr="false" vert="horz" wrap="square" lIns="0" rIns="0" tIns="0" bIns="0"/>
          <a:lstStyle/>
          <a:p>
            <a:pPr algn="r" marL="0" indent="0">
              <a:lnSpc>
                <a:spcPct val="125000"/>
              </a:lnSpc>
              <a:defRPr/>
            </a:pPr>
            <a:r>
              <a:rPr lang="en-US" b="false" i="false" strike="noStrike" u="none" sz="1200">
                <a:solidFill>
                  <a:srgbClr val="BFD7FF"/>
                </a:solidFill>
                <a:latin typeface="Noto Sans SC"/>
                <a:ea typeface="Noto Sans SC"/>
                <a:cs typeface="Noto Sans SC"/>
                <a:sym typeface="Noto Sans SC"/>
              </a:rPr>
              <a:t>实验01 / 共13页</a:t>
            </a:r>
            <a:endParaRPr lang="en-US" sz="1100"/>
          </a:p>
        </p:txBody>
      </p:sp>
      <p:sp>
        <p:nvSpPr>
          <p:cNvPr name="AutoShape 5" id="5"/>
          <p:cNvSpPr/>
          <p:nvPr/>
        </p:nvSpPr>
        <p:spPr>
          <a:xfrm rot="0" flipH="false" flipV="false">
            <a:off x="508000" y="1079500"/>
            <a:ext cx="5334000" cy="2286000"/>
          </a:xfrm>
          <a:prstGeom prst="roundRect">
            <a:avLst>
              <a:gd name="adj" fmla="val 0"/>
            </a:avLst>
          </a:prstGeom>
          <a:solidFill>
            <a:srgbClr val="FFFFFF">
              <a:alpha val="100000"/>
            </a:srgbClr>
          </a:solidFill>
          <a:ln w="12700" cmpd="sng" cap="flat">
            <a:solidFill>
              <a:srgbClr val="BFD7FF">
                <a:alpha val="100000"/>
              </a:srgbClr>
            </a:solid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762000" y="1270000"/>
            <a:ext cx="4826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0D1326"/>
                </a:solidFill>
                <a:latin typeface="Noto Sans SC"/>
                <a:ea typeface="Noto Sans SC"/>
                <a:cs typeface="Noto Sans SC"/>
                <a:sym typeface="Noto Sans SC"/>
              </a:rPr>
              <a:t>用户故事</a:t>
            </a:r>
            <a:endParaRPr lang="en-US" sz="1100"/>
          </a:p>
        </p:txBody>
      </p:sp>
      <p:cxnSp>
        <p:nvCxnSpPr>
          <p:cNvPr name="Connector 7" id="7"/>
          <p:cNvCxnSpPr/>
          <p:nvPr/>
        </p:nvCxnSpPr>
        <p:spPr>
          <a:xfrm rot="-42969" flipH="false" flipV="false">
            <a:off x="762040" y="1708150"/>
            <a:ext cx="1016000" cy="12700"/>
          </a:xfrm>
          <a:prstGeom prst="straightConnector1">
            <a:avLst/>
          </a:prstGeom>
          <a:solidFill>
            <a:srgbClr val="DEE0E3">
              <a:alpha val="100000"/>
            </a:srgbClr>
          </a:solidFill>
          <a:ln w="25400" cmpd="sng" cap="flat">
            <a:solidFill>
              <a:srgbClr val="2563EB">
                <a:alpha val="100000"/>
              </a:srgbClr>
            </a:solidFill>
            <a:prstDash val="solid"/>
            <a:round/>
            <a:headEnd type="none" w="lg" len="lg"/>
            <a:tailEnd type="none" w="lg" len="lg"/>
          </a:ln>
        </p:spPr>
      </p:cxnSp>
      <p:sp>
        <p:nvSpPr>
          <p:cNvPr name="AutoShape 8" id="8"/>
          <p:cNvSpPr/>
          <p:nvPr/>
        </p:nvSpPr>
        <p:spPr>
          <a:xfrm rot="0" flipH="false" flipV="false">
            <a:off x="762000" y="1905000"/>
            <a:ext cx="4826000" cy="1270000"/>
          </a:xfrm>
          <a:prstGeom prst="rect">
            <a:avLst/>
          </a:prstGeom>
          <a:noFill/>
          <a:ln w="12700" cmpd="sng" cap="flat">
            <a:noFill/>
            <a:prstDash val="solid"/>
            <a:round/>
          </a:ln>
        </p:spPr>
        <p:txBody>
          <a:bodyPr anchor="ctr" rtlCol="false" anchorCtr="false" vert="horz" wrap="square" lIns="0" rIns="0" tIns="0" bIns="0"/>
          <a:lstStyle/>
          <a:p>
            <a:pPr algn="l" marL="0" indent="0">
              <a:lnSpc>
                <a:spcPct val="141666"/>
              </a:lnSpc>
              <a:defRPr/>
            </a:pPr>
            <a:r>
              <a:rPr lang="en-US" b="false" i="false" strike="noStrike" u="none" sz="1300">
                <a:solidFill>
                  <a:srgbClr val="536174"/>
                </a:solidFill>
                <a:latin typeface="Noto Sans SC"/>
                <a:ea typeface="Noto Sans SC"/>
                <a:cs typeface="Noto Sans SC"/>
                <a:sym typeface="Noto Sans SC"/>
              </a:rPr>
              <a:t>作为博客读者，我希望在阅读完一篇文章后，能够看到与当前文章主题相关的其他文章推荐，以便继续深入阅读感兴趣的内容，提升阅读体验和内容发现效率。</a:t>
            </a:r>
            <a:endParaRPr lang="en-US" sz="1100"/>
          </a:p>
        </p:txBody>
      </p:sp>
      <p:sp>
        <p:nvSpPr>
          <p:cNvPr name="AutoShape 9" id="9"/>
          <p:cNvSpPr/>
          <p:nvPr/>
        </p:nvSpPr>
        <p:spPr>
          <a:xfrm rot="0" flipH="false" flipV="false">
            <a:off x="6350000" y="1079500"/>
            <a:ext cx="5334000" cy="2286000"/>
          </a:xfrm>
          <a:prstGeom prst="roundRect">
            <a:avLst>
              <a:gd name="adj" fmla="val 0"/>
            </a:avLst>
          </a:prstGeom>
          <a:solidFill>
            <a:srgbClr val="FFFFFF">
              <a:alpha val="100000"/>
            </a:srgbClr>
          </a:solidFill>
          <a:ln w="12700" cmpd="sng" cap="flat">
            <a:solidFill>
              <a:srgbClr val="BFD7FF">
                <a:alpha val="100000"/>
              </a:srgbClr>
            </a:solid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6604000" y="1270000"/>
            <a:ext cx="4826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0D1326"/>
                </a:solidFill>
                <a:latin typeface="Noto Sans SC"/>
                <a:ea typeface="Noto Sans SC"/>
                <a:cs typeface="Noto Sans SC"/>
                <a:sym typeface="Noto Sans SC"/>
              </a:rPr>
              <a:t>验收条件</a:t>
            </a:r>
            <a:endParaRPr lang="en-US" sz="1100"/>
          </a:p>
        </p:txBody>
      </p:sp>
      <p:cxnSp>
        <p:nvCxnSpPr>
          <p:cNvPr name="Connector 11" id="11"/>
          <p:cNvCxnSpPr/>
          <p:nvPr/>
        </p:nvCxnSpPr>
        <p:spPr>
          <a:xfrm rot="-42969" flipH="false" flipV="false">
            <a:off x="6604040" y="1708150"/>
            <a:ext cx="1016000" cy="12700"/>
          </a:xfrm>
          <a:prstGeom prst="straightConnector1">
            <a:avLst/>
          </a:prstGeom>
          <a:solidFill>
            <a:srgbClr val="DEE0E3">
              <a:alpha val="100000"/>
            </a:srgbClr>
          </a:solidFill>
          <a:ln w="25400" cmpd="sng" cap="flat">
            <a:solidFill>
              <a:srgbClr val="2563EB">
                <a:alpha val="100000"/>
              </a:srgbClr>
            </a:solidFill>
            <a:prstDash val="solid"/>
            <a:round/>
            <a:headEnd type="none" w="lg" len="lg"/>
            <a:tailEnd type="none" w="lg" len="lg"/>
          </a:ln>
        </p:spPr>
      </p:cxnSp>
      <p:sp>
        <p:nvSpPr>
          <p:cNvPr name="AutoShape 12" id="12"/>
          <p:cNvSpPr/>
          <p:nvPr/>
        </p:nvSpPr>
        <p:spPr>
          <a:xfrm rot="0" flipH="false" flipV="false">
            <a:off x="6604000" y="1905000"/>
            <a:ext cx="4826000" cy="1270000"/>
          </a:xfrm>
          <a:prstGeom prst="rect">
            <a:avLst/>
          </a:prstGeom>
          <a:noFill/>
          <a:ln w="12700" cmpd="sng" cap="flat">
            <a:noFill/>
            <a:prstDash val="solid"/>
            <a:round/>
          </a:ln>
        </p:spPr>
        <p:txBody>
          <a:bodyPr anchor="ctr" rtlCol="false" anchorCtr="false" vert="horz" wrap="square" lIns="0" rIns="0" tIns="0" bIns="0"/>
          <a:lstStyle/>
          <a:p>
            <a:pPr algn="l" indent="-165100" marL="165100">
              <a:lnSpc>
                <a:spcPct val="141666"/>
              </a:lnSpc>
              <a:buClr>
                <a:srgbClr val="536174"/>
              </a:buClr>
              <a:buChar char="•"/>
              <a:defRPr/>
            </a:pPr>
            <a:r>
              <a:rPr lang="en-US" b="false" i="false" strike="noStrike" u="none" sz="1300">
                <a:solidFill>
                  <a:srgbClr val="536174"/>
                </a:solidFill>
                <a:latin typeface="Noto Sans SC"/>
                <a:ea typeface="Noto Sans SC"/>
                <a:cs typeface="Noto Sans SC"/>
                <a:sym typeface="Noto Sans SC"/>
              </a:rPr>
              <a:t>文章详情页底部显示相关文章区域</a:t>
            </a:r>
            <a:endParaRPr lang="en-US" sz="1100"/>
          </a:p>
          <a:p>
            <a:pPr algn="l" indent="-165100" marL="165100">
              <a:lnSpc>
                <a:spcPct val="141666"/>
              </a:lnSpc>
              <a:buClr>
                <a:srgbClr val="536174"/>
              </a:buClr>
              <a:buChar char="•"/>
            </a:pPr>
            <a:r>
              <a:rPr lang="en-US" b="false" i="false" strike="noStrike" u="none" sz="1300">
                <a:solidFill>
                  <a:srgbClr val="536174"/>
                </a:solidFill>
                <a:latin typeface="Noto Sans SC"/>
                <a:ea typeface="Noto Sans SC"/>
                <a:cs typeface="Noto Sans SC"/>
                <a:sym typeface="Noto Sans SC"/>
              </a:rPr>
              <a:t>基于当前文章标签匹配相关文章</a:t>
            </a:r>
          </a:p>
          <a:p>
            <a:pPr algn="l" indent="-165100" marL="165100">
              <a:lnSpc>
                <a:spcPct val="141666"/>
              </a:lnSpc>
              <a:buClr>
                <a:srgbClr val="536174"/>
              </a:buClr>
              <a:buChar char="•"/>
            </a:pPr>
            <a:r>
              <a:rPr lang="en-US" b="false" i="false" strike="noStrike" u="none" sz="1300">
                <a:solidFill>
                  <a:srgbClr val="536174"/>
                </a:solidFill>
                <a:latin typeface="Noto Sans SC"/>
                <a:ea typeface="Noto Sans SC"/>
                <a:cs typeface="Noto Sans SC"/>
                <a:sym typeface="Noto Sans SC"/>
              </a:rPr>
              <a:t>排除当前文章，最多显示3篇</a:t>
            </a:r>
          </a:p>
          <a:p>
            <a:pPr algn="l" indent="-165100" marL="165100">
              <a:lnSpc>
                <a:spcPct val="141666"/>
              </a:lnSpc>
              <a:buClr>
                <a:srgbClr val="536174"/>
              </a:buClr>
              <a:buChar char="•"/>
            </a:pPr>
            <a:r>
              <a:rPr lang="en-US" b="false" i="false" strike="noStrike" u="none" sz="1300">
                <a:solidFill>
                  <a:srgbClr val="536174"/>
                </a:solidFill>
                <a:latin typeface="Noto Sans SC"/>
                <a:ea typeface="Noto Sans SC"/>
                <a:cs typeface="Noto Sans SC"/>
                <a:sym typeface="Noto Sans SC"/>
              </a:rPr>
              <a:t>无相关文章时不显示推荐区域</a:t>
            </a:r>
          </a:p>
        </p:txBody>
      </p:sp>
      <p:sp>
        <p:nvSpPr>
          <p:cNvPr name="AutoShape 13" id="13"/>
          <p:cNvSpPr/>
          <p:nvPr/>
        </p:nvSpPr>
        <p:spPr>
          <a:xfrm rot="0" flipH="false" flipV="false">
            <a:off x="508000" y="3683000"/>
            <a:ext cx="111760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0D1326"/>
                </a:solidFill>
                <a:latin typeface="Noto Sans SC"/>
                <a:ea typeface="Noto Sans SC"/>
                <a:cs typeface="Noto Sans SC"/>
                <a:sym typeface="Noto Sans SC"/>
              </a:rPr>
              <a:t>实现方案</a:t>
            </a:r>
            <a:endParaRPr lang="en-US" sz="1100"/>
          </a:p>
        </p:txBody>
      </p:sp>
      <p:cxnSp>
        <p:nvCxnSpPr>
          <p:cNvPr name="Connector 14" id="14"/>
          <p:cNvCxnSpPr/>
          <p:nvPr/>
        </p:nvCxnSpPr>
        <p:spPr>
          <a:xfrm rot="-42969" flipH="false" flipV="false">
            <a:off x="508040" y="4184650"/>
            <a:ext cx="1016000" cy="12700"/>
          </a:xfrm>
          <a:prstGeom prst="straightConnector1">
            <a:avLst/>
          </a:prstGeom>
          <a:solidFill>
            <a:srgbClr val="DEE0E3">
              <a:alpha val="100000"/>
            </a:srgbClr>
          </a:solidFill>
          <a:ln w="25400" cmpd="sng" cap="flat">
            <a:solidFill>
              <a:srgbClr val="2563EB">
                <a:alpha val="100000"/>
              </a:srgbClr>
            </a:solidFill>
            <a:prstDash val="solid"/>
            <a:round/>
            <a:headEnd type="none" w="lg" len="lg"/>
            <a:tailEnd type="none" w="lg" len="lg"/>
          </a:ln>
        </p:spPr>
      </p:cxnSp>
      <p:sp>
        <p:nvSpPr>
          <p:cNvPr name="AutoShape 15" id="15"/>
          <p:cNvSpPr/>
          <p:nvPr/>
        </p:nvSpPr>
        <p:spPr>
          <a:xfrm rot="0" flipH="false" flipV="false">
            <a:off x="508000" y="4445000"/>
            <a:ext cx="2540000" cy="1651000"/>
          </a:xfrm>
          <a:prstGeom prst="roundRect">
            <a:avLst>
              <a:gd name="adj" fmla="val 0"/>
            </a:avLst>
          </a:prstGeom>
          <a:solidFill>
            <a:srgbClr val="2563E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635000" y="4635500"/>
            <a:ext cx="2286000" cy="3175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400">
                <a:solidFill>
                  <a:srgbClr val="FFFFFF"/>
                </a:solidFill>
                <a:latin typeface="Noto Sans SC"/>
                <a:ea typeface="Noto Sans SC"/>
                <a:cs typeface="Noto Sans SC"/>
                <a:sym typeface="Noto Sans SC"/>
              </a:rPr>
              <a:t>Step 1</a:t>
            </a:r>
            <a:endParaRPr lang="en-US" sz="1100"/>
          </a:p>
        </p:txBody>
      </p:sp>
      <p:sp>
        <p:nvSpPr>
          <p:cNvPr name="AutoShape 17" id="17"/>
          <p:cNvSpPr/>
          <p:nvPr/>
        </p:nvSpPr>
        <p:spPr>
          <a:xfrm rot="0" flipH="false" flipV="false">
            <a:off x="635000" y="5016500"/>
            <a:ext cx="2286000" cy="9525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200">
                <a:solidFill>
                  <a:srgbClr val="FFFFFF"/>
                </a:solidFill>
                <a:latin typeface="Noto Sans SC"/>
                <a:ea typeface="Noto Sans SC"/>
                <a:cs typeface="Noto Sans SC"/>
                <a:sym typeface="Noto Sans SC"/>
              </a:rPr>
              <a:t>使用 Ghost {{#get}} helper</a:t>
            </a:r>
            <a:endParaRPr lang="en-US" sz="1100"/>
          </a:p>
          <a:p>
            <a:pPr algn="ctr" marL="0" indent="0">
              <a:lnSpc>
                <a:spcPct val="125000"/>
              </a:lnSpc>
            </a:pPr>
            <a:r>
              <a:rPr lang="en-US" b="false" i="false" strike="noStrike" u="none" sz="1200">
                <a:solidFill>
                  <a:srgbClr val="FFFFFF"/>
                </a:solidFill>
                <a:latin typeface="Noto Sans SC"/>
                <a:ea typeface="Noto Sans SC"/>
                <a:cs typeface="Noto Sans SC"/>
                <a:sym typeface="Noto Sans SC"/>
              </a:rPr>
              <a:t>查询 posts 资源</a:t>
            </a:r>
          </a:p>
        </p:txBody>
      </p:sp>
      <p:cxnSp>
        <p:nvCxnSpPr>
          <p:cNvPr name="Connector 18" id="18"/>
          <p:cNvCxnSpPr/>
          <p:nvPr/>
        </p:nvCxnSpPr>
        <p:spPr>
          <a:xfrm rot="-85925" flipH="false" flipV="false">
            <a:off x="3048079" y="5264150"/>
            <a:ext cx="508000" cy="12700"/>
          </a:xfrm>
          <a:prstGeom prst="straightConnector1">
            <a:avLst/>
          </a:prstGeom>
          <a:solidFill>
            <a:srgbClr val="DEE0E3">
              <a:alpha val="100000"/>
            </a:srgbClr>
          </a:solidFill>
          <a:ln w="25400" cmpd="sng" cap="flat">
            <a:solidFill>
              <a:srgbClr val="0D1326">
                <a:alpha val="100000"/>
              </a:srgbClr>
            </a:solidFill>
            <a:prstDash val="solid"/>
            <a:round/>
            <a:headEnd type="none" w="lg" len="lg"/>
            <a:tailEnd type="arrow" w="lg" len="lg"/>
          </a:ln>
        </p:spPr>
      </p:cxnSp>
      <p:sp>
        <p:nvSpPr>
          <p:cNvPr name="AutoShape 19" id="19"/>
          <p:cNvSpPr/>
          <p:nvPr/>
        </p:nvSpPr>
        <p:spPr>
          <a:xfrm rot="0" flipH="false" flipV="false">
            <a:off x="3556000" y="4445000"/>
            <a:ext cx="2540000" cy="1651000"/>
          </a:xfrm>
          <a:prstGeom prst="roundRect">
            <a:avLst>
              <a:gd name="adj" fmla="val 0"/>
            </a:avLst>
          </a:prstGeom>
          <a:solidFill>
            <a:srgbClr val="0D132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3683000" y="4635500"/>
            <a:ext cx="2286000" cy="3175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400">
                <a:solidFill>
                  <a:srgbClr val="BFD7FF"/>
                </a:solidFill>
                <a:latin typeface="Noto Sans SC"/>
                <a:ea typeface="Noto Sans SC"/>
                <a:cs typeface="Noto Sans SC"/>
                <a:sym typeface="Noto Sans SC"/>
              </a:rPr>
              <a:t>Step 2</a:t>
            </a:r>
            <a:endParaRPr lang="en-US" sz="1100"/>
          </a:p>
        </p:txBody>
      </p:sp>
      <p:sp>
        <p:nvSpPr>
          <p:cNvPr name="AutoShape 21" id="21"/>
          <p:cNvSpPr/>
          <p:nvPr/>
        </p:nvSpPr>
        <p:spPr>
          <a:xfrm rot="0" flipH="false" flipV="false">
            <a:off x="3683000" y="5016500"/>
            <a:ext cx="2286000" cy="9525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200">
                <a:solidFill>
                  <a:srgbClr val="FFFFFF"/>
                </a:solidFill>
                <a:latin typeface="Noto Sans SC"/>
                <a:ea typeface="Noto Sans SC"/>
                <a:cs typeface="Noto Sans SC"/>
                <a:sym typeface="Noto Sans SC"/>
              </a:rPr>
              <a:t>filter 参数按标签过滤</a:t>
            </a:r>
            <a:endParaRPr lang="en-US" sz="1100"/>
          </a:p>
          <a:p>
            <a:pPr algn="ctr" marL="0" indent="0">
              <a:lnSpc>
                <a:spcPct val="125000"/>
              </a:lnSpc>
            </a:pPr>
            <a:r>
              <a:rPr lang="en-US" b="false" i="false" strike="noStrike" u="none" sz="1200">
                <a:solidFill>
                  <a:srgbClr val="FFFFFF"/>
                </a:solidFill>
                <a:latin typeface="Noto Sans SC"/>
                <a:ea typeface="Noto Sans SC"/>
                <a:cs typeface="Noto Sans SC"/>
                <a:sym typeface="Noto Sans SC"/>
              </a:rPr>
              <a:t>limit=3 限制数量</a:t>
            </a:r>
          </a:p>
        </p:txBody>
      </p:sp>
      <p:cxnSp>
        <p:nvCxnSpPr>
          <p:cNvPr name="Connector 22" id="22"/>
          <p:cNvCxnSpPr/>
          <p:nvPr/>
        </p:nvCxnSpPr>
        <p:spPr>
          <a:xfrm rot="-85925" flipH="false" flipV="false">
            <a:off x="6096079" y="5264150"/>
            <a:ext cx="508000" cy="12700"/>
          </a:xfrm>
          <a:prstGeom prst="straightConnector1">
            <a:avLst/>
          </a:prstGeom>
          <a:solidFill>
            <a:srgbClr val="DEE0E3">
              <a:alpha val="100000"/>
            </a:srgbClr>
          </a:solidFill>
          <a:ln w="25400" cmpd="sng" cap="flat">
            <a:solidFill>
              <a:srgbClr val="0D1326">
                <a:alpha val="100000"/>
              </a:srgbClr>
            </a:solidFill>
            <a:prstDash val="solid"/>
            <a:round/>
            <a:headEnd type="none" w="lg" len="lg"/>
            <a:tailEnd type="arrow" w="lg" len="lg"/>
          </a:ln>
        </p:spPr>
      </p:cxnSp>
      <p:sp>
        <p:nvSpPr>
          <p:cNvPr name="AutoShape 23" id="23"/>
          <p:cNvSpPr/>
          <p:nvPr/>
        </p:nvSpPr>
        <p:spPr>
          <a:xfrm rot="0" flipH="false" flipV="false">
            <a:off x="6604000" y="4445000"/>
            <a:ext cx="2540000" cy="1651000"/>
          </a:xfrm>
          <a:prstGeom prst="roundRect">
            <a:avLst>
              <a:gd name="adj" fmla="val 0"/>
            </a:avLst>
          </a:prstGeom>
          <a:solidFill>
            <a:srgbClr val="2563E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4" id="24"/>
          <p:cNvSpPr/>
          <p:nvPr/>
        </p:nvSpPr>
        <p:spPr>
          <a:xfrm rot="0" flipH="false" flipV="false">
            <a:off x="6731000" y="4635500"/>
            <a:ext cx="2286000" cy="3175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400">
                <a:solidFill>
                  <a:srgbClr val="FFFFFF"/>
                </a:solidFill>
                <a:latin typeface="Noto Sans SC"/>
                <a:ea typeface="Noto Sans SC"/>
                <a:cs typeface="Noto Sans SC"/>
                <a:sym typeface="Noto Sans SC"/>
              </a:rPr>
              <a:t>Step 3</a:t>
            </a:r>
            <a:endParaRPr lang="en-US" sz="1100"/>
          </a:p>
        </p:txBody>
      </p:sp>
      <p:sp>
        <p:nvSpPr>
          <p:cNvPr name="AutoShape 25" id="25"/>
          <p:cNvSpPr/>
          <p:nvPr/>
        </p:nvSpPr>
        <p:spPr>
          <a:xfrm rot="0" flipH="false" flipV="false">
            <a:off x="6731000" y="5016500"/>
            <a:ext cx="2286000" cy="9525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200">
                <a:solidFill>
                  <a:srgbClr val="FFFFFF"/>
                </a:solidFill>
                <a:latin typeface="Noto Sans SC"/>
                <a:ea typeface="Noto Sans SC"/>
                <a:cs typeface="Noto Sans SC"/>
                <a:sym typeface="Noto Sans SC"/>
              </a:rPr>
              <a:t>排除当前文章 id</a:t>
            </a:r>
            <a:endParaRPr lang="en-US" sz="1100"/>
          </a:p>
          <a:p>
            <a:pPr algn="ctr" marL="0" indent="0">
              <a:lnSpc>
                <a:spcPct val="125000"/>
              </a:lnSpc>
            </a:pPr>
            <a:r>
              <a:rPr lang="en-US" b="false" i="false" strike="noStrike" u="none" sz="1200">
                <a:solidFill>
                  <a:srgbClr val="FFFFFF"/>
                </a:solidFill>
                <a:latin typeface="Noto Sans SC"/>
                <a:ea typeface="Noto Sans SC"/>
                <a:cs typeface="Noto Sans SC"/>
                <a:sym typeface="Noto Sans SC"/>
              </a:rPr>
              <a:t>include=tags 获取标签</a:t>
            </a:r>
          </a:p>
        </p:txBody>
      </p:sp>
      <p:cxnSp>
        <p:nvCxnSpPr>
          <p:cNvPr name="Connector 26" id="26"/>
          <p:cNvCxnSpPr/>
          <p:nvPr/>
        </p:nvCxnSpPr>
        <p:spPr>
          <a:xfrm rot="-85925" flipH="false" flipV="false">
            <a:off x="9144079" y="5264150"/>
            <a:ext cx="508000" cy="12700"/>
          </a:xfrm>
          <a:prstGeom prst="straightConnector1">
            <a:avLst/>
          </a:prstGeom>
          <a:solidFill>
            <a:srgbClr val="DEE0E3">
              <a:alpha val="100000"/>
            </a:srgbClr>
          </a:solidFill>
          <a:ln w="25400" cmpd="sng" cap="flat">
            <a:solidFill>
              <a:srgbClr val="0D1326">
                <a:alpha val="100000"/>
              </a:srgbClr>
            </a:solidFill>
            <a:prstDash val="solid"/>
            <a:round/>
            <a:headEnd type="none" w="lg" len="lg"/>
            <a:tailEnd type="arrow" w="lg" len="lg"/>
          </a:ln>
        </p:spPr>
      </p:cxnSp>
      <p:sp>
        <p:nvSpPr>
          <p:cNvPr name="AutoShape 27" id="27"/>
          <p:cNvSpPr/>
          <p:nvPr/>
        </p:nvSpPr>
        <p:spPr>
          <a:xfrm rot="0" flipH="false" flipV="false">
            <a:off x="9652000" y="4445000"/>
            <a:ext cx="2032000" cy="1651000"/>
          </a:xfrm>
          <a:prstGeom prst="roundRect">
            <a:avLst>
              <a:gd name="adj" fmla="val 0"/>
            </a:avLst>
          </a:prstGeom>
          <a:solidFill>
            <a:srgbClr val="0D132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8" id="28"/>
          <p:cNvSpPr/>
          <p:nvPr/>
        </p:nvSpPr>
        <p:spPr>
          <a:xfrm rot="0" flipH="false" flipV="false">
            <a:off x="9779000" y="4635500"/>
            <a:ext cx="1778000" cy="3175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400">
                <a:solidFill>
                  <a:srgbClr val="BFD7FF"/>
                </a:solidFill>
                <a:latin typeface="Noto Sans SC"/>
                <a:ea typeface="Noto Sans SC"/>
                <a:cs typeface="Noto Sans SC"/>
                <a:sym typeface="Noto Sans SC"/>
              </a:rPr>
              <a:t>Step 4</a:t>
            </a:r>
            <a:endParaRPr lang="en-US" sz="1100"/>
          </a:p>
        </p:txBody>
      </p:sp>
      <p:sp>
        <p:nvSpPr>
          <p:cNvPr name="AutoShape 29" id="29"/>
          <p:cNvSpPr/>
          <p:nvPr/>
        </p:nvSpPr>
        <p:spPr>
          <a:xfrm rot="0" flipH="false" flipV="false">
            <a:off x="9779000" y="5016500"/>
            <a:ext cx="1778000" cy="9525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200">
                <a:solidFill>
                  <a:srgbClr val="FFFFFF"/>
                </a:solidFill>
                <a:latin typeface="Noto Sans SC"/>
                <a:ea typeface="Noto Sans SC"/>
                <a:cs typeface="Noto Sans SC"/>
                <a:sym typeface="Noto Sans SC"/>
              </a:rPr>
              <a:t>自定义样式渲染</a:t>
            </a:r>
            <a:endParaRPr lang="en-US" sz="1100"/>
          </a:p>
          <a:p>
            <a:pPr algn="ctr" marL="0" indent="0">
              <a:lnSpc>
                <a:spcPct val="125000"/>
              </a:lnSpc>
            </a:pPr>
            <a:r>
              <a:rPr lang="en-US" b="false" i="false" strike="noStrike" u="none" sz="1200">
                <a:solidFill>
                  <a:srgbClr val="FFFFFF"/>
                </a:solidFill>
                <a:latin typeface="Noto Sans SC"/>
                <a:ea typeface="Noto Sans SC"/>
                <a:cs typeface="Noto Sans SC"/>
                <a:sym typeface="Noto Sans SC"/>
              </a:rPr>
              <a:t>推荐卡片列表</a:t>
            </a:r>
          </a:p>
        </p:txBody>
      </p:sp>
    </p:spTree>
  </p:cSld>
  <p:clrMapOvr>
    <a:masterClrMapping/>
  </p:clrMapOvr>
</p:sld>
</file>

<file path=ppt/slides/slide8.xml><?xml version="1.0" encoding="utf-8"?>
<p:sld xmlns:p="http://schemas.openxmlformats.org/presentationml/2006/main" xmlns:a="http://schemas.openxmlformats.org/drawingml/2006/main">
  <p:cSld>
    <p:bg>
      <p:bgPr>
        <a:solidFill>
          <a:srgbClr val="F2F4F8">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762000"/>
          </a:xfrm>
          <a:prstGeom prst="roundRect">
            <a:avLst>
              <a:gd name="adj" fmla="val 0"/>
            </a:avLst>
          </a:prstGeom>
          <a:solidFill>
            <a:srgbClr val="0D132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508000" y="152400"/>
            <a:ext cx="7620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200">
                <a:solidFill>
                  <a:srgbClr val="FFFFFF"/>
                </a:solidFill>
                <a:latin typeface="Noto Sans SC"/>
                <a:ea typeface="Noto Sans SC"/>
                <a:cs typeface="Noto Sans SC"/>
                <a:sym typeface="Noto Sans SC"/>
              </a:rPr>
              <a:t>05 自主扩展功能二：阅读进度条</a:t>
            </a:r>
            <a:endParaRPr lang="en-US" sz="1100"/>
          </a:p>
        </p:txBody>
      </p:sp>
      <p:sp>
        <p:nvSpPr>
          <p:cNvPr name="AutoShape 4" id="4"/>
          <p:cNvSpPr/>
          <p:nvPr/>
        </p:nvSpPr>
        <p:spPr>
          <a:xfrm rot="0" flipH="false" flipV="false">
            <a:off x="9525000" y="228600"/>
            <a:ext cx="2159000" cy="381000"/>
          </a:xfrm>
          <a:prstGeom prst="rect">
            <a:avLst/>
          </a:prstGeom>
          <a:noFill/>
          <a:ln w="12700" cmpd="sng" cap="flat">
            <a:noFill/>
            <a:prstDash val="solid"/>
            <a:round/>
          </a:ln>
        </p:spPr>
        <p:txBody>
          <a:bodyPr anchor="ctr" rtlCol="false" anchorCtr="false" vert="horz" wrap="square" lIns="0" rIns="0" tIns="0" bIns="0"/>
          <a:lstStyle/>
          <a:p>
            <a:pPr algn="r" marL="0" indent="0">
              <a:lnSpc>
                <a:spcPct val="125000"/>
              </a:lnSpc>
              <a:defRPr/>
            </a:pPr>
            <a:r>
              <a:rPr lang="en-US" b="false" i="false" strike="noStrike" u="none" sz="1200">
                <a:solidFill>
                  <a:srgbClr val="BFD7FF"/>
                </a:solidFill>
                <a:latin typeface="Noto Sans SC"/>
                <a:ea typeface="Noto Sans SC"/>
                <a:cs typeface="Noto Sans SC"/>
                <a:sym typeface="Noto Sans SC"/>
              </a:rPr>
              <a:t>实验01 / 共13页</a:t>
            </a:r>
            <a:endParaRPr lang="en-US" sz="1100"/>
          </a:p>
        </p:txBody>
      </p:sp>
      <p:sp>
        <p:nvSpPr>
          <p:cNvPr name="AutoShape 5" id="5"/>
          <p:cNvSpPr/>
          <p:nvPr/>
        </p:nvSpPr>
        <p:spPr>
          <a:xfrm rot="0" flipH="false" flipV="false">
            <a:off x="508000" y="1079500"/>
            <a:ext cx="5334000" cy="2032000"/>
          </a:xfrm>
          <a:prstGeom prst="roundRect">
            <a:avLst>
              <a:gd name="adj" fmla="val 0"/>
            </a:avLst>
          </a:prstGeom>
          <a:solidFill>
            <a:srgbClr val="FFFFFF">
              <a:alpha val="100000"/>
            </a:srgbClr>
          </a:solidFill>
          <a:ln w="12700" cmpd="sng" cap="flat">
            <a:solidFill>
              <a:srgbClr val="BFD7FF">
                <a:alpha val="100000"/>
              </a:srgbClr>
            </a:solid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762000" y="1270000"/>
            <a:ext cx="4826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0D1326"/>
                </a:solidFill>
                <a:latin typeface="Noto Sans SC"/>
                <a:ea typeface="Noto Sans SC"/>
                <a:cs typeface="Noto Sans SC"/>
                <a:sym typeface="Noto Sans SC"/>
              </a:rPr>
              <a:t>用户故事</a:t>
            </a:r>
            <a:endParaRPr lang="en-US" sz="1100"/>
          </a:p>
        </p:txBody>
      </p:sp>
      <p:cxnSp>
        <p:nvCxnSpPr>
          <p:cNvPr name="Connector 7" id="7"/>
          <p:cNvCxnSpPr/>
          <p:nvPr/>
        </p:nvCxnSpPr>
        <p:spPr>
          <a:xfrm rot="-42969" flipH="false" flipV="false">
            <a:off x="762040" y="1708150"/>
            <a:ext cx="1016000" cy="12700"/>
          </a:xfrm>
          <a:prstGeom prst="straightConnector1">
            <a:avLst/>
          </a:prstGeom>
          <a:solidFill>
            <a:srgbClr val="DEE0E3">
              <a:alpha val="100000"/>
            </a:srgbClr>
          </a:solidFill>
          <a:ln w="25400" cmpd="sng" cap="flat">
            <a:solidFill>
              <a:srgbClr val="2563EB">
                <a:alpha val="100000"/>
              </a:srgbClr>
            </a:solidFill>
            <a:prstDash val="solid"/>
            <a:round/>
            <a:headEnd type="none" w="lg" len="lg"/>
            <a:tailEnd type="none" w="lg" len="lg"/>
          </a:ln>
        </p:spPr>
      </p:cxnSp>
      <p:sp>
        <p:nvSpPr>
          <p:cNvPr name="AutoShape 8" id="8"/>
          <p:cNvSpPr/>
          <p:nvPr/>
        </p:nvSpPr>
        <p:spPr>
          <a:xfrm rot="0" flipH="false" flipV="false">
            <a:off x="762000" y="1905000"/>
            <a:ext cx="4826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41666"/>
              </a:lnSpc>
              <a:defRPr/>
            </a:pPr>
            <a:r>
              <a:rPr lang="en-US" b="false" i="false" strike="noStrike" u="none" sz="1300">
                <a:solidFill>
                  <a:srgbClr val="536174"/>
                </a:solidFill>
                <a:latin typeface="Noto Sans SC"/>
                <a:ea typeface="Noto Sans SC"/>
                <a:cs typeface="Noto Sans SC"/>
                <a:sym typeface="Noto Sans SC"/>
              </a:rPr>
              <a:t>作为博客读者，我希望在阅读长文章时能够看到当前的阅读进度，以便了解还剩多少内容，合理安排阅读时间。</a:t>
            </a:r>
            <a:endParaRPr lang="en-US" sz="1100"/>
          </a:p>
        </p:txBody>
      </p:sp>
      <p:sp>
        <p:nvSpPr>
          <p:cNvPr name="AutoShape 9" id="9"/>
          <p:cNvSpPr/>
          <p:nvPr/>
        </p:nvSpPr>
        <p:spPr>
          <a:xfrm rot="0" flipH="false" flipV="false">
            <a:off x="6350000" y="1079500"/>
            <a:ext cx="5334000" cy="2032000"/>
          </a:xfrm>
          <a:prstGeom prst="roundRect">
            <a:avLst>
              <a:gd name="adj" fmla="val 0"/>
            </a:avLst>
          </a:prstGeom>
          <a:solidFill>
            <a:srgbClr val="FFFFFF">
              <a:alpha val="100000"/>
            </a:srgbClr>
          </a:solidFill>
          <a:ln w="12700" cmpd="sng" cap="flat">
            <a:solidFill>
              <a:srgbClr val="BFD7FF">
                <a:alpha val="100000"/>
              </a:srgbClr>
            </a:solid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6604000" y="1270000"/>
            <a:ext cx="4826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0D1326"/>
                </a:solidFill>
                <a:latin typeface="Noto Sans SC"/>
                <a:ea typeface="Noto Sans SC"/>
                <a:cs typeface="Noto Sans SC"/>
                <a:sym typeface="Noto Sans SC"/>
              </a:rPr>
              <a:t>验收条件</a:t>
            </a:r>
            <a:endParaRPr lang="en-US" sz="1100"/>
          </a:p>
        </p:txBody>
      </p:sp>
      <p:cxnSp>
        <p:nvCxnSpPr>
          <p:cNvPr name="Connector 11" id="11"/>
          <p:cNvCxnSpPr/>
          <p:nvPr/>
        </p:nvCxnSpPr>
        <p:spPr>
          <a:xfrm rot="-42969" flipH="false" flipV="false">
            <a:off x="6604040" y="1708150"/>
            <a:ext cx="1016000" cy="12700"/>
          </a:xfrm>
          <a:prstGeom prst="straightConnector1">
            <a:avLst/>
          </a:prstGeom>
          <a:solidFill>
            <a:srgbClr val="DEE0E3">
              <a:alpha val="100000"/>
            </a:srgbClr>
          </a:solidFill>
          <a:ln w="25400" cmpd="sng" cap="flat">
            <a:solidFill>
              <a:srgbClr val="2563EB">
                <a:alpha val="100000"/>
              </a:srgbClr>
            </a:solidFill>
            <a:prstDash val="solid"/>
            <a:round/>
            <a:headEnd type="none" w="lg" len="lg"/>
            <a:tailEnd type="none" w="lg" len="lg"/>
          </a:ln>
        </p:spPr>
      </p:cxnSp>
      <p:sp>
        <p:nvSpPr>
          <p:cNvPr name="AutoShape 12" id="12"/>
          <p:cNvSpPr/>
          <p:nvPr/>
        </p:nvSpPr>
        <p:spPr>
          <a:xfrm rot="0" flipH="false" flipV="false">
            <a:off x="6604000" y="1905000"/>
            <a:ext cx="4826000" cy="1016000"/>
          </a:xfrm>
          <a:prstGeom prst="rect">
            <a:avLst/>
          </a:prstGeom>
          <a:noFill/>
          <a:ln w="12700" cmpd="sng" cap="flat">
            <a:noFill/>
            <a:prstDash val="solid"/>
            <a:round/>
          </a:ln>
        </p:spPr>
        <p:txBody>
          <a:bodyPr anchor="ctr" rtlCol="false" anchorCtr="false" vert="horz" wrap="square" lIns="0" rIns="0" tIns="0" bIns="0"/>
          <a:lstStyle/>
          <a:p>
            <a:pPr algn="l" indent="-165100" marL="165100">
              <a:lnSpc>
                <a:spcPct val="141666"/>
              </a:lnSpc>
              <a:buClr>
                <a:srgbClr val="536174"/>
              </a:buClr>
              <a:buChar char="•"/>
              <a:defRPr/>
            </a:pPr>
            <a:r>
              <a:rPr lang="en-US" b="false" i="false" strike="noStrike" u="none" sz="1300">
                <a:solidFill>
                  <a:srgbClr val="536174"/>
                </a:solidFill>
                <a:latin typeface="Noto Sans SC"/>
                <a:ea typeface="Noto Sans SC"/>
                <a:cs typeface="Noto Sans SC"/>
                <a:sym typeface="Noto Sans SC"/>
              </a:rPr>
              <a:t>文章详情页顶部显示固定进度条</a:t>
            </a:r>
            <a:endParaRPr lang="en-US" sz="1100"/>
          </a:p>
          <a:p>
            <a:pPr algn="l" indent="-165100" marL="165100">
              <a:lnSpc>
                <a:spcPct val="141666"/>
              </a:lnSpc>
              <a:buClr>
                <a:srgbClr val="536174"/>
              </a:buClr>
              <a:buChar char="•"/>
            </a:pPr>
            <a:r>
              <a:rPr lang="en-US" b="false" i="false" strike="noStrike" u="none" sz="1300">
                <a:solidFill>
                  <a:srgbClr val="536174"/>
                </a:solidFill>
                <a:latin typeface="Noto Sans SC"/>
                <a:ea typeface="Noto Sans SC"/>
                <a:cs typeface="Noto Sans SC"/>
                <a:sym typeface="Noto Sans SC"/>
              </a:rPr>
              <a:t>随页面滚动实时更新进度百分比</a:t>
            </a:r>
          </a:p>
          <a:p>
            <a:pPr algn="l" indent="-165100" marL="165100">
              <a:lnSpc>
                <a:spcPct val="141666"/>
              </a:lnSpc>
              <a:buClr>
                <a:srgbClr val="536174"/>
              </a:buClr>
              <a:buChar char="•"/>
            </a:pPr>
            <a:r>
              <a:rPr lang="en-US" b="false" i="false" strike="noStrike" u="none" sz="1300">
                <a:solidFill>
                  <a:srgbClr val="536174"/>
                </a:solidFill>
                <a:latin typeface="Noto Sans SC"/>
                <a:ea typeface="Noto Sans SC"/>
                <a:cs typeface="Noto Sans SC"/>
                <a:sym typeface="Noto Sans SC"/>
              </a:rPr>
              <a:t>仅在文章详情页显示，列表页不显示</a:t>
            </a:r>
          </a:p>
        </p:txBody>
      </p:sp>
      <p:sp>
        <p:nvSpPr>
          <p:cNvPr name="AutoShape 13" id="13"/>
          <p:cNvSpPr/>
          <p:nvPr/>
        </p:nvSpPr>
        <p:spPr>
          <a:xfrm rot="0" flipH="false" flipV="false">
            <a:off x="508000" y="3429000"/>
            <a:ext cx="111760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0D1326"/>
                </a:solidFill>
                <a:latin typeface="Noto Sans SC"/>
                <a:ea typeface="Noto Sans SC"/>
                <a:cs typeface="Noto Sans SC"/>
                <a:sym typeface="Noto Sans SC"/>
              </a:rPr>
              <a:t>实现原理</a:t>
            </a:r>
            <a:endParaRPr lang="en-US" sz="1100"/>
          </a:p>
        </p:txBody>
      </p:sp>
      <p:cxnSp>
        <p:nvCxnSpPr>
          <p:cNvPr name="Connector 14" id="14"/>
          <p:cNvCxnSpPr/>
          <p:nvPr/>
        </p:nvCxnSpPr>
        <p:spPr>
          <a:xfrm rot="-42969" flipH="false" flipV="false">
            <a:off x="508040" y="3930650"/>
            <a:ext cx="1016000" cy="12700"/>
          </a:xfrm>
          <a:prstGeom prst="straightConnector1">
            <a:avLst/>
          </a:prstGeom>
          <a:solidFill>
            <a:srgbClr val="DEE0E3">
              <a:alpha val="100000"/>
            </a:srgbClr>
          </a:solidFill>
          <a:ln w="25400" cmpd="sng" cap="flat">
            <a:solidFill>
              <a:srgbClr val="2563EB">
                <a:alpha val="100000"/>
              </a:srgbClr>
            </a:solidFill>
            <a:prstDash val="solid"/>
            <a:round/>
            <a:headEnd type="none" w="lg" len="lg"/>
            <a:tailEnd type="none" w="lg" len="lg"/>
          </a:ln>
        </p:spPr>
      </p:cxnSp>
      <p:sp>
        <p:nvSpPr>
          <p:cNvPr name="AutoShape 15" id="15"/>
          <p:cNvSpPr/>
          <p:nvPr/>
        </p:nvSpPr>
        <p:spPr>
          <a:xfrm rot="0" flipH="false" flipV="false">
            <a:off x="508000" y="4191000"/>
            <a:ext cx="11176000" cy="762000"/>
          </a:xfrm>
          <a:prstGeom prst="roundRect">
            <a:avLst>
              <a:gd name="adj" fmla="val 0"/>
            </a:avLst>
          </a:prstGeom>
          <a:solidFill>
            <a:srgbClr val="0D132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762000" y="4381500"/>
            <a:ext cx="10668000" cy="381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300">
                <a:solidFill>
                  <a:srgbClr val="BFD7FF"/>
                </a:solidFill>
                <a:latin typeface="Noto Sans SC"/>
                <a:ea typeface="Noto Sans SC"/>
                <a:cs typeface="Noto Sans SC"/>
                <a:sym typeface="Noto Sans SC"/>
              </a:rPr>
              <a:t>window.addEventListener('scroll', function() { ... }) 监听滚动事件</a:t>
            </a:r>
            <a:endParaRPr lang="en-US" sz="1100"/>
          </a:p>
        </p:txBody>
      </p:sp>
      <p:cxnSp>
        <p:nvCxnSpPr>
          <p:cNvPr name="Connector 17" id="17"/>
          <p:cNvCxnSpPr/>
          <p:nvPr/>
        </p:nvCxnSpPr>
        <p:spPr>
          <a:xfrm rot="5228255" flipH="false" flipV="false">
            <a:off x="5969000" y="5073809"/>
            <a:ext cx="254000" cy="12700"/>
          </a:xfrm>
          <a:prstGeom prst="straightConnector1">
            <a:avLst/>
          </a:prstGeom>
          <a:solidFill>
            <a:srgbClr val="DEE0E3">
              <a:alpha val="100000"/>
            </a:srgbClr>
          </a:solidFill>
          <a:ln w="25400" cmpd="sng" cap="flat">
            <a:solidFill>
              <a:srgbClr val="0D1326">
                <a:alpha val="100000"/>
              </a:srgbClr>
            </a:solidFill>
            <a:prstDash val="solid"/>
            <a:round/>
            <a:headEnd type="none" w="lg" len="lg"/>
            <a:tailEnd type="arrow" w="lg" len="lg"/>
          </a:ln>
        </p:spPr>
      </p:cxnSp>
      <p:sp>
        <p:nvSpPr>
          <p:cNvPr name="AutoShape 18" id="18"/>
          <p:cNvSpPr/>
          <p:nvPr/>
        </p:nvSpPr>
        <p:spPr>
          <a:xfrm rot="0" flipH="false" flipV="false">
            <a:off x="508000" y="5207000"/>
            <a:ext cx="11176000" cy="762000"/>
          </a:xfrm>
          <a:prstGeom prst="roundRect">
            <a:avLst>
              <a:gd name="adj" fmla="val 0"/>
            </a:avLst>
          </a:prstGeom>
          <a:solidFill>
            <a:srgbClr val="2563E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9" id="19"/>
          <p:cNvSpPr/>
          <p:nvPr/>
        </p:nvSpPr>
        <p:spPr>
          <a:xfrm rot="0" flipH="false" flipV="false">
            <a:off x="762000" y="5397500"/>
            <a:ext cx="10668000" cy="381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300">
                <a:solidFill>
                  <a:srgbClr val="FFFFFF"/>
                </a:solidFill>
                <a:latin typeface="Noto Sans SC"/>
                <a:ea typeface="Noto Sans SC"/>
                <a:cs typeface="Noto Sans SC"/>
                <a:sym typeface="Noto Sans SC"/>
              </a:rPr>
              <a:t>progress = window.scrollY / (document.body.scrollHeight - window.innerHeight) * 100</a:t>
            </a:r>
            <a:endParaRPr lang="en-US" sz="1100"/>
          </a:p>
        </p:txBody>
      </p:sp>
      <p:cxnSp>
        <p:nvCxnSpPr>
          <p:cNvPr name="Connector 20" id="20"/>
          <p:cNvCxnSpPr/>
          <p:nvPr/>
        </p:nvCxnSpPr>
        <p:spPr>
          <a:xfrm rot="5228255" flipH="false" flipV="false">
            <a:off x="5969000" y="6089809"/>
            <a:ext cx="254000" cy="12700"/>
          </a:xfrm>
          <a:prstGeom prst="straightConnector1">
            <a:avLst/>
          </a:prstGeom>
          <a:solidFill>
            <a:srgbClr val="DEE0E3">
              <a:alpha val="100000"/>
            </a:srgbClr>
          </a:solidFill>
          <a:ln w="25400" cmpd="sng" cap="flat">
            <a:solidFill>
              <a:srgbClr val="0D1326">
                <a:alpha val="100000"/>
              </a:srgbClr>
            </a:solidFill>
            <a:prstDash val="solid"/>
            <a:round/>
            <a:headEnd type="none" w="lg" len="lg"/>
            <a:tailEnd type="arrow" w="lg" len="lg"/>
          </a:ln>
        </p:spPr>
      </p:cxnSp>
      <p:sp>
        <p:nvSpPr>
          <p:cNvPr name="AutoShape 21" id="21"/>
          <p:cNvSpPr/>
          <p:nvPr/>
        </p:nvSpPr>
        <p:spPr>
          <a:xfrm rot="0" flipH="false" flipV="false">
            <a:off x="508000" y="6223000"/>
            <a:ext cx="11176000" cy="508000"/>
          </a:xfrm>
          <a:prstGeom prst="roundRect">
            <a:avLst>
              <a:gd name="adj" fmla="val 0"/>
            </a:avLst>
          </a:prstGeom>
          <a:solidFill>
            <a:srgbClr val="BFD7F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2" id="22"/>
          <p:cNvSpPr/>
          <p:nvPr/>
        </p:nvSpPr>
        <p:spPr>
          <a:xfrm rot="0" flipH="false" flipV="false">
            <a:off x="762000" y="6324600"/>
            <a:ext cx="10668000" cy="3175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300">
                <a:solidFill>
                  <a:srgbClr val="0D1326"/>
                </a:solidFill>
                <a:latin typeface="Noto Sans SC"/>
                <a:ea typeface="Noto Sans SC"/>
                <a:cs typeface="Noto Sans SC"/>
                <a:sym typeface="Noto Sans SC"/>
              </a:rPr>
              <a:t>document.getElementById('progress-bar').style.width = progress + '%'</a:t>
            </a:r>
            <a:endParaRPr lang="en-US" sz="1100"/>
          </a:p>
        </p:txBody>
      </p:sp>
    </p:spTree>
  </p:cSld>
  <p:clrMapOvr>
    <a:masterClrMapping/>
  </p:clrMapOvr>
</p:sld>
</file>

<file path=ppt/slides/slide9.xml><?xml version="1.0" encoding="utf-8"?>
<p:sld xmlns:p="http://schemas.openxmlformats.org/presentationml/2006/main" xmlns:a="http://schemas.openxmlformats.org/drawingml/2006/main">
  <p:cSld>
    <p:bg>
      <p:bgPr>
        <a:solidFill>
          <a:srgbClr val="F2F4F8">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762000"/>
          </a:xfrm>
          <a:prstGeom prst="roundRect">
            <a:avLst>
              <a:gd name="adj" fmla="val 0"/>
            </a:avLst>
          </a:prstGeom>
          <a:solidFill>
            <a:srgbClr val="0D132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508000" y="152400"/>
            <a:ext cx="7620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200">
                <a:solidFill>
                  <a:srgbClr val="FFFFFF"/>
                </a:solidFill>
                <a:latin typeface="Noto Sans SC"/>
                <a:ea typeface="Noto Sans SC"/>
                <a:cs typeface="Noto Sans SC"/>
                <a:sym typeface="Noto Sans SC"/>
              </a:rPr>
              <a:t>演示数据</a:t>
            </a:r>
            <a:endParaRPr lang="en-US" sz="1100"/>
          </a:p>
        </p:txBody>
      </p:sp>
      <p:sp>
        <p:nvSpPr>
          <p:cNvPr name="AutoShape 4" id="4"/>
          <p:cNvSpPr/>
          <p:nvPr/>
        </p:nvSpPr>
        <p:spPr>
          <a:xfrm rot="0" flipH="false" flipV="false">
            <a:off x="9525000" y="228600"/>
            <a:ext cx="2159000" cy="381000"/>
          </a:xfrm>
          <a:prstGeom prst="rect">
            <a:avLst/>
          </a:prstGeom>
          <a:noFill/>
          <a:ln w="12700" cmpd="sng" cap="flat">
            <a:noFill/>
            <a:prstDash val="solid"/>
            <a:round/>
          </a:ln>
        </p:spPr>
        <p:txBody>
          <a:bodyPr anchor="ctr" rtlCol="false" anchorCtr="false" vert="horz" wrap="square" lIns="0" rIns="0" tIns="0" bIns="0"/>
          <a:lstStyle/>
          <a:p>
            <a:pPr algn="r" marL="0" indent="0">
              <a:lnSpc>
                <a:spcPct val="125000"/>
              </a:lnSpc>
              <a:defRPr/>
            </a:pPr>
            <a:r>
              <a:rPr lang="en-US" b="false" i="false" strike="noStrike" u="none" sz="1200">
                <a:solidFill>
                  <a:srgbClr val="BFD7FF"/>
                </a:solidFill>
                <a:latin typeface="Noto Sans SC"/>
                <a:ea typeface="Noto Sans SC"/>
                <a:cs typeface="Noto Sans SC"/>
                <a:sym typeface="Noto Sans SC"/>
              </a:rPr>
              <a:t>实验01 / 共13页</a:t>
            </a:r>
            <a:endParaRPr lang="en-US" sz="1100"/>
          </a:p>
        </p:txBody>
      </p:sp>
      <p:sp>
        <p:nvSpPr>
          <p:cNvPr name="AutoShape 5" id="5"/>
          <p:cNvSpPr/>
          <p:nvPr/>
        </p:nvSpPr>
        <p:spPr>
          <a:xfrm rot="0" flipH="false" flipV="false">
            <a:off x="508000" y="1079500"/>
            <a:ext cx="2540000" cy="1270000"/>
          </a:xfrm>
          <a:prstGeom prst="roundRect">
            <a:avLst>
              <a:gd name="adj" fmla="val 0"/>
            </a:avLst>
          </a:prstGeom>
          <a:solidFill>
            <a:srgbClr val="2563E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508000" y="1206500"/>
            <a:ext cx="2540000" cy="635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4800">
                <a:solidFill>
                  <a:srgbClr val="FFFFFF"/>
                </a:solidFill>
                <a:latin typeface="Noto Sans SC"/>
                <a:ea typeface="Noto Sans SC"/>
                <a:cs typeface="Noto Sans SC"/>
                <a:sym typeface="Noto Sans SC"/>
              </a:rPr>
              <a:t>8</a:t>
            </a:r>
            <a:endParaRPr lang="en-US" sz="1100"/>
          </a:p>
        </p:txBody>
      </p:sp>
      <p:sp>
        <p:nvSpPr>
          <p:cNvPr name="AutoShape 7" id="7"/>
          <p:cNvSpPr/>
          <p:nvPr/>
        </p:nvSpPr>
        <p:spPr>
          <a:xfrm rot="0" flipH="false" flipV="false">
            <a:off x="508000" y="1905000"/>
            <a:ext cx="2540000" cy="3175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400">
                <a:solidFill>
                  <a:srgbClr val="FFFFFF"/>
                </a:solidFill>
                <a:latin typeface="Noto Sans SC"/>
                <a:ea typeface="Noto Sans SC"/>
                <a:cs typeface="Noto Sans SC"/>
                <a:sym typeface="Noto Sans SC"/>
              </a:rPr>
              <a:t>篇文章</a:t>
            </a:r>
            <a:endParaRPr lang="en-US" sz="1100"/>
          </a:p>
        </p:txBody>
      </p:sp>
      <p:sp>
        <p:nvSpPr>
          <p:cNvPr name="AutoShape 8" id="8"/>
          <p:cNvSpPr/>
          <p:nvPr/>
        </p:nvSpPr>
        <p:spPr>
          <a:xfrm rot="0" flipH="false" flipV="false">
            <a:off x="3556000" y="1079500"/>
            <a:ext cx="2540000" cy="1270000"/>
          </a:xfrm>
          <a:prstGeom prst="roundRect">
            <a:avLst>
              <a:gd name="adj" fmla="val 0"/>
            </a:avLst>
          </a:prstGeom>
          <a:solidFill>
            <a:srgbClr val="0D132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3556000" y="1206500"/>
            <a:ext cx="2540000" cy="635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4800">
                <a:solidFill>
                  <a:srgbClr val="FFFFFF"/>
                </a:solidFill>
                <a:latin typeface="Noto Sans SC"/>
                <a:ea typeface="Noto Sans SC"/>
                <a:cs typeface="Noto Sans SC"/>
                <a:sym typeface="Noto Sans SC"/>
              </a:rPr>
              <a:t>3</a:t>
            </a:r>
            <a:endParaRPr lang="en-US" sz="1100"/>
          </a:p>
        </p:txBody>
      </p:sp>
      <p:sp>
        <p:nvSpPr>
          <p:cNvPr name="AutoShape 10" id="10"/>
          <p:cNvSpPr/>
          <p:nvPr/>
        </p:nvSpPr>
        <p:spPr>
          <a:xfrm rot="0" flipH="false" flipV="false">
            <a:off x="3556000" y="1905000"/>
            <a:ext cx="2540000" cy="3175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400">
                <a:solidFill>
                  <a:srgbClr val="FFFFFF"/>
                </a:solidFill>
                <a:latin typeface="Noto Sans SC"/>
                <a:ea typeface="Noto Sans SC"/>
                <a:cs typeface="Noto Sans SC"/>
                <a:sym typeface="Noto Sans SC"/>
              </a:rPr>
              <a:t>个标签</a:t>
            </a:r>
            <a:endParaRPr lang="en-US" sz="1100"/>
          </a:p>
        </p:txBody>
      </p:sp>
      <p:sp>
        <p:nvSpPr>
          <p:cNvPr name="AutoShape 11" id="11"/>
          <p:cNvSpPr/>
          <p:nvPr/>
        </p:nvSpPr>
        <p:spPr>
          <a:xfrm rot="0" flipH="false" flipV="false">
            <a:off x="6604000" y="1079500"/>
            <a:ext cx="2540000" cy="1270000"/>
          </a:xfrm>
          <a:prstGeom prst="roundRect">
            <a:avLst>
              <a:gd name="adj" fmla="val 0"/>
            </a:avLst>
          </a:prstGeom>
          <a:solidFill>
            <a:srgbClr val="2563E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6604000" y="1206500"/>
            <a:ext cx="2540000" cy="635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4800">
                <a:solidFill>
                  <a:srgbClr val="FFFFFF"/>
                </a:solidFill>
                <a:latin typeface="Noto Sans SC"/>
                <a:ea typeface="Noto Sans SC"/>
                <a:cs typeface="Noto Sans SC"/>
                <a:sym typeface="Noto Sans SC"/>
              </a:rPr>
              <a:t>2</a:t>
            </a:r>
            <a:endParaRPr lang="en-US" sz="1100"/>
          </a:p>
        </p:txBody>
      </p:sp>
      <p:sp>
        <p:nvSpPr>
          <p:cNvPr name="AutoShape 13" id="13"/>
          <p:cNvSpPr/>
          <p:nvPr/>
        </p:nvSpPr>
        <p:spPr>
          <a:xfrm rot="0" flipH="false" flipV="false">
            <a:off x="6604000" y="1905000"/>
            <a:ext cx="2540000" cy="3175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400">
                <a:solidFill>
                  <a:srgbClr val="FFFFFF"/>
                </a:solidFill>
                <a:latin typeface="Noto Sans SC"/>
                <a:ea typeface="Noto Sans SC"/>
                <a:cs typeface="Noto Sans SC"/>
                <a:sym typeface="Noto Sans SC"/>
              </a:rPr>
              <a:t>个会员</a:t>
            </a:r>
            <a:endParaRPr lang="en-US" sz="1100"/>
          </a:p>
        </p:txBody>
      </p:sp>
      <p:sp>
        <p:nvSpPr>
          <p:cNvPr name="AutoShape 14" id="14"/>
          <p:cNvSpPr/>
          <p:nvPr/>
        </p:nvSpPr>
        <p:spPr>
          <a:xfrm rot="0" flipH="false" flipV="false">
            <a:off x="9652000" y="1079500"/>
            <a:ext cx="2032000" cy="1270000"/>
          </a:xfrm>
          <a:prstGeom prst="roundRect">
            <a:avLst>
              <a:gd name="adj" fmla="val 0"/>
            </a:avLst>
          </a:prstGeom>
          <a:solidFill>
            <a:srgbClr val="0D132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9652000" y="1206500"/>
            <a:ext cx="2032000" cy="635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4800">
                <a:solidFill>
                  <a:srgbClr val="FFFFFF"/>
                </a:solidFill>
                <a:latin typeface="Noto Sans SC"/>
                <a:ea typeface="Noto Sans SC"/>
                <a:cs typeface="Noto Sans SC"/>
                <a:sym typeface="Noto Sans SC"/>
              </a:rPr>
              <a:t>5</a:t>
            </a:r>
            <a:endParaRPr lang="en-US" sz="1100"/>
          </a:p>
        </p:txBody>
      </p:sp>
      <p:sp>
        <p:nvSpPr>
          <p:cNvPr name="AutoShape 16" id="16"/>
          <p:cNvSpPr/>
          <p:nvPr/>
        </p:nvSpPr>
        <p:spPr>
          <a:xfrm rot="0" flipH="false" flipV="false">
            <a:off x="9652000" y="1905000"/>
            <a:ext cx="2032000" cy="3175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400">
                <a:solidFill>
                  <a:srgbClr val="FFFFFF"/>
                </a:solidFill>
                <a:latin typeface="Noto Sans SC"/>
                <a:ea typeface="Noto Sans SC"/>
                <a:cs typeface="Noto Sans SC"/>
                <a:sym typeface="Noto Sans SC"/>
              </a:rPr>
              <a:t>条评论</a:t>
            </a:r>
            <a:endParaRPr lang="en-US" sz="1100"/>
          </a:p>
        </p:txBody>
      </p:sp>
      <p:sp>
        <p:nvSpPr>
          <p:cNvPr name="AutoShape 17" id="17"/>
          <p:cNvSpPr/>
          <p:nvPr/>
        </p:nvSpPr>
        <p:spPr>
          <a:xfrm rot="0" flipH="false" flipV="false">
            <a:off x="508000" y="2667000"/>
            <a:ext cx="55880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0D1326"/>
                </a:solidFill>
                <a:latin typeface="Noto Sans SC"/>
                <a:ea typeface="Noto Sans SC"/>
                <a:cs typeface="Noto Sans SC"/>
                <a:sym typeface="Noto Sans SC"/>
              </a:rPr>
              <a:t>文章列表（覆盖技术/生活/数据库主题）</a:t>
            </a:r>
            <a:endParaRPr lang="en-US" sz="1100"/>
          </a:p>
        </p:txBody>
      </p:sp>
      <p:cxnSp>
        <p:nvCxnSpPr>
          <p:cNvPr name="Connector 18" id="18"/>
          <p:cNvCxnSpPr/>
          <p:nvPr/>
        </p:nvCxnSpPr>
        <p:spPr>
          <a:xfrm rot="-42969" flipH="false" flipV="false">
            <a:off x="508040" y="3105150"/>
            <a:ext cx="1016000" cy="12700"/>
          </a:xfrm>
          <a:prstGeom prst="straightConnector1">
            <a:avLst/>
          </a:prstGeom>
          <a:solidFill>
            <a:srgbClr val="DEE0E3">
              <a:alpha val="100000"/>
            </a:srgbClr>
          </a:solidFill>
          <a:ln w="25400" cmpd="sng" cap="flat">
            <a:solidFill>
              <a:srgbClr val="2563EB">
                <a:alpha val="100000"/>
              </a:srgbClr>
            </a:solidFill>
            <a:prstDash val="solid"/>
            <a:round/>
            <a:headEnd type="none" w="lg" len="lg"/>
            <a:tailEnd type="none" w="lg" len="lg"/>
          </a:ln>
        </p:spPr>
      </p:cxnSp>
      <p:graphicFrame>
        <p:nvGraphicFramePr>
          <p:cNvPr name="Table 19" id="19"/>
          <p:cNvGraphicFramePr>
            <a:graphicFrameLocks noGrp="true"/>
          </p:cNvGraphicFramePr>
          <p:nvPr/>
        </p:nvGraphicFramePr>
        <p:xfrm>
          <a:off x="508000" y="3302000"/>
          <a:ext cx="5588000" cy="3225800"/>
        </p:xfrm>
        <a:graphic>
          <a:graphicData uri="http://schemas.openxmlformats.org/drawingml/2006/table">
            <a:tbl>
              <a:tblPr>
                <a:effectLst/>
              </a:tblPr>
              <a:tblGrid>
                <a:gridCol w="508000"/>
                <a:gridCol w="3810000"/>
                <a:gridCol w="1270000"/>
              </a:tblGrid>
              <a:tr h="381000">
                <a:tc>
                  <a:txBody>
                    <a:bodyPr anchor="t" rtlCol="false"/>
                    <a:lstStyle/>
                    <a:p>
                      <a:pPr algn="ctr" marL="0" indent="0">
                        <a:lnSpc>
                          <a:spcPct val="100000"/>
                        </a:lnSpc>
                        <a:defRPr/>
                      </a:pPr>
                      <a:r>
                        <a:rPr lang="en-US" b="true" i="false" strike="noStrike" u="none" sz="1100">
                          <a:solidFill>
                            <a:srgbClr val="FFFFFF"/>
                          </a:solidFill>
                          <a:latin typeface="Noto Sans SC"/>
                          <a:ea typeface="Noto Sans SC"/>
                          <a:cs typeface="Noto Sans SC"/>
                          <a:sym typeface="Noto Sans SC"/>
                        </a:rPr>
                        <a:t>#</a:t>
                      </a:r>
                      <a:endParaRPr lang="en-US" sz="1100"/>
                    </a:p>
                  </a:txBody>
                  <a:tcPr anchor="ctr" anchorCtr="false" marL="101600" marR="101600" marT="101600" marB="101600">
                    <a:lnL>
                      <a:noFill/>
                    </a:lnL>
                    <a:lnR>
                      <a:noFill/>
                    </a:lnR>
                    <a:lnT>
                      <a:noFill/>
                    </a:lnT>
                    <a:lnB>
                      <a:noFill/>
                    </a:lnB>
                    <a:solidFill>
                      <a:srgbClr val="0D1326">
                        <a:alpha val="100000"/>
                      </a:srgbClr>
                    </a:solidFill>
                  </a:tcPr>
                </a:tc>
                <a:tc>
                  <a:txBody>
                    <a:bodyPr anchor="t" rtlCol="false"/>
                    <a:lstStyle/>
                    <a:p>
                      <a:pPr algn="ctr" marL="0" indent="0">
                        <a:lnSpc>
                          <a:spcPct val="100000"/>
                        </a:lnSpc>
                        <a:defRPr/>
                      </a:pPr>
                      <a:r>
                        <a:rPr lang="en-US" b="true" i="false" strike="noStrike" u="none" sz="1100">
                          <a:solidFill>
                            <a:srgbClr val="FFFFFF"/>
                          </a:solidFill>
                          <a:latin typeface="Noto Sans SC"/>
                          <a:ea typeface="Noto Sans SC"/>
                          <a:cs typeface="Noto Sans SC"/>
                          <a:sym typeface="Noto Sans SC"/>
                        </a:rPr>
                        <a:t>标题</a:t>
                      </a:r>
                      <a:endParaRPr lang="en-US" sz="1100"/>
                    </a:p>
                  </a:txBody>
                  <a:tcPr anchor="ctr" anchorCtr="false" marL="101600" marR="101600" marT="101600" marB="101600">
                    <a:lnL>
                      <a:noFill/>
                    </a:lnL>
                    <a:lnR>
                      <a:noFill/>
                    </a:lnR>
                    <a:lnT>
                      <a:noFill/>
                    </a:lnT>
                    <a:lnB>
                      <a:noFill/>
                    </a:lnB>
                    <a:solidFill>
                      <a:srgbClr val="0D1326">
                        <a:alpha val="100000"/>
                      </a:srgbClr>
                    </a:solidFill>
                  </a:tcPr>
                </a:tc>
                <a:tc>
                  <a:txBody>
                    <a:bodyPr anchor="t" rtlCol="false"/>
                    <a:lstStyle/>
                    <a:p>
                      <a:pPr algn="ctr" marL="0" indent="0">
                        <a:lnSpc>
                          <a:spcPct val="100000"/>
                        </a:lnSpc>
                        <a:defRPr/>
                      </a:pPr>
                      <a:r>
                        <a:rPr lang="en-US" b="true" i="false" strike="noStrike" u="none" sz="1100">
                          <a:solidFill>
                            <a:srgbClr val="FFFFFF"/>
                          </a:solidFill>
                          <a:latin typeface="Noto Sans SC"/>
                          <a:ea typeface="Noto Sans SC"/>
                          <a:cs typeface="Noto Sans SC"/>
                          <a:sym typeface="Noto Sans SC"/>
                        </a:rPr>
                        <a:t>标签</a:t>
                      </a:r>
                      <a:endParaRPr lang="en-US" sz="1100"/>
                    </a:p>
                  </a:txBody>
                  <a:tcPr anchor="ctr" anchorCtr="false" marL="101600" marR="101600" marT="101600" marB="101600">
                    <a:lnL>
                      <a:noFill/>
                    </a:lnL>
                    <a:lnR>
                      <a:noFill/>
                    </a:lnR>
                    <a:lnT>
                      <a:noFill/>
                    </a:lnT>
                    <a:lnB>
                      <a:noFill/>
                    </a:lnB>
                    <a:solidFill>
                      <a:srgbClr val="0D1326">
                        <a:alpha val="100000"/>
                      </a:srgbClr>
                    </a:solidFill>
                  </a:tcPr>
                </a:tc>
              </a:tr>
              <a:tr h="355600">
                <a:tc>
                  <a:txBody>
                    <a:bodyPr anchor="t" rtlCol="false"/>
                    <a:lstStyle/>
                    <a:p>
                      <a:pPr algn="ctr" marL="0" indent="0">
                        <a:lnSpc>
                          <a:spcPct val="100000"/>
                        </a:lnSpc>
                        <a:defRPr/>
                      </a:pPr>
                      <a:r>
                        <a:rPr lang="en-US" b="false" i="false" strike="noStrike" u="none" sz="1000">
                          <a:solidFill>
                            <a:srgbClr val="1F2329"/>
                          </a:solidFill>
                          <a:latin typeface="Noto Sans SC"/>
                          <a:ea typeface="Noto Sans SC"/>
                          <a:cs typeface="Noto Sans SC"/>
                          <a:sym typeface="Noto Sans SC"/>
                        </a:rPr>
                        <a:t>1</a:t>
                      </a:r>
                      <a:endParaRPr lang="en-US" sz="1100"/>
                    </a:p>
                  </a:txBody>
                  <a:tcPr anchor="ctr" anchorCtr="false" marL="101600" marR="101600" marT="101600" marB="101600">
                    <a:lnL>
                      <a:noFill/>
                    </a:lnL>
                    <a:lnR>
                      <a:noFill/>
                    </a:lnR>
                    <a:lnT>
                      <a:noFill/>
                    </a:lnT>
                    <a:lnB>
                      <a:noFill/>
                    </a:lnB>
                    <a:noFill/>
                  </a:tcPr>
                </a:tc>
                <a:tc>
                  <a:txBody>
                    <a:bodyPr anchor="t" rtlCol="false"/>
                    <a:lstStyle/>
                    <a:p>
                      <a:pPr algn="l" marL="0" indent="0">
                        <a:lnSpc>
                          <a:spcPct val="100000"/>
                        </a:lnSpc>
                        <a:defRPr/>
                      </a:pPr>
                      <a:r>
                        <a:rPr lang="en-US" b="false" i="false" strike="noStrike" u="none" sz="1000">
                          <a:solidFill>
                            <a:srgbClr val="1F2329"/>
                          </a:solidFill>
                          <a:latin typeface="Noto Sans SC"/>
                          <a:ea typeface="Noto Sans SC"/>
                          <a:cs typeface="Noto Sans SC"/>
                          <a:sym typeface="Noto Sans SC"/>
                        </a:rPr>
                        <a:t>开源软件二次开发实践</a:t>
                      </a:r>
                      <a:endParaRPr lang="en-US" sz="1100"/>
                    </a:p>
                  </a:txBody>
                  <a:tcPr anchor="ctr" anchorCtr="false" marL="101600" marR="101600" marT="101600" marB="101600">
                    <a:lnL>
                      <a:noFill/>
                    </a:lnL>
                    <a:lnR>
                      <a:noFill/>
                    </a:lnR>
                    <a:lnT>
                      <a:noFill/>
                    </a:lnT>
                    <a:lnB>
                      <a:noFill/>
                    </a:lnB>
                    <a:noFill/>
                  </a:tcPr>
                </a:tc>
                <a:tc>
                  <a:txBody>
                    <a:bodyPr anchor="t" rtlCol="false"/>
                    <a:lstStyle/>
                    <a:p>
                      <a:pPr algn="ctr" marL="0" indent="0">
                        <a:lnSpc>
                          <a:spcPct val="100000"/>
                        </a:lnSpc>
                        <a:defRPr/>
                      </a:pPr>
                      <a:r>
                        <a:rPr lang="en-US" b="false" i="false" strike="noStrike" u="none" sz="1000">
                          <a:solidFill>
                            <a:srgbClr val="1F2329"/>
                          </a:solidFill>
                          <a:latin typeface="Noto Sans SC"/>
                          <a:ea typeface="Noto Sans SC"/>
                          <a:cs typeface="Noto Sans SC"/>
                          <a:sym typeface="Noto Sans SC"/>
                        </a:rPr>
                        <a:t>技术</a:t>
                      </a:r>
                      <a:endParaRPr lang="en-US" sz="1100"/>
                    </a:p>
                  </a:txBody>
                  <a:tcPr anchor="ctr" anchorCtr="false" marL="101600" marR="101600" marT="101600" marB="101600">
                    <a:lnL>
                      <a:noFill/>
                    </a:lnL>
                    <a:lnR>
                      <a:noFill/>
                    </a:lnR>
                    <a:lnT>
                      <a:noFill/>
                    </a:lnT>
                    <a:lnB>
                      <a:noFill/>
                    </a:lnB>
                    <a:noFill/>
                  </a:tcPr>
                </a:tc>
              </a:tr>
              <a:tr h="355600">
                <a:tc>
                  <a:txBody>
                    <a:bodyPr anchor="t" rtlCol="false"/>
                    <a:lstStyle/>
                    <a:p>
                      <a:pPr algn="ctr" marL="0" indent="0">
                        <a:lnSpc>
                          <a:spcPct val="100000"/>
                        </a:lnSpc>
                        <a:defRPr/>
                      </a:pPr>
                      <a:r>
                        <a:rPr lang="en-US" b="false" i="false" strike="noStrike" u="none" sz="1000">
                          <a:solidFill>
                            <a:srgbClr val="1F2329"/>
                          </a:solidFill>
                          <a:latin typeface="Noto Sans SC"/>
                          <a:ea typeface="Noto Sans SC"/>
                          <a:cs typeface="Noto Sans SC"/>
                          <a:sym typeface="Noto Sans SC"/>
                        </a:rPr>
                        <a:t>2</a:t>
                      </a:r>
                      <a:endParaRPr lang="en-US" sz="1100"/>
                    </a:p>
                  </a:txBody>
                  <a:tcPr anchor="ctr" anchorCtr="false" marL="101600" marR="101600" marT="101600" marB="101600">
                    <a:lnL>
                      <a:noFill/>
                    </a:lnL>
                    <a:lnR>
                      <a:noFill/>
                    </a:lnR>
                    <a:lnT>
                      <a:noFill/>
                    </a:lnT>
                    <a:lnB>
                      <a:noFill/>
                    </a:lnB>
                    <a:noFill/>
                  </a:tcPr>
                </a:tc>
                <a:tc>
                  <a:txBody>
                    <a:bodyPr anchor="t" rtlCol="false"/>
                    <a:lstStyle/>
                    <a:p>
                      <a:pPr algn="l" marL="0" indent="0">
                        <a:lnSpc>
                          <a:spcPct val="100000"/>
                        </a:lnSpc>
                        <a:defRPr/>
                      </a:pPr>
                      <a:r>
                        <a:rPr lang="en-US" b="false" i="false" strike="noStrike" u="none" sz="1000">
                          <a:solidFill>
                            <a:srgbClr val="1F2329"/>
                          </a:solidFill>
                          <a:latin typeface="Noto Sans SC"/>
                          <a:ea typeface="Noto Sans SC"/>
                          <a:cs typeface="Noto Sans SC"/>
                          <a:sym typeface="Noto Sans SC"/>
                        </a:rPr>
                        <a:t>Node.js性能优化技巧</a:t>
                      </a:r>
                      <a:endParaRPr lang="en-US" sz="1100"/>
                    </a:p>
                  </a:txBody>
                  <a:tcPr anchor="ctr" anchorCtr="false" marL="101600" marR="101600" marT="101600" marB="101600">
                    <a:lnL>
                      <a:noFill/>
                    </a:lnL>
                    <a:lnR>
                      <a:noFill/>
                    </a:lnR>
                    <a:lnT>
                      <a:noFill/>
                    </a:lnT>
                    <a:lnB>
                      <a:noFill/>
                    </a:lnB>
                    <a:noFill/>
                  </a:tcPr>
                </a:tc>
                <a:tc>
                  <a:txBody>
                    <a:bodyPr anchor="t" rtlCol="false"/>
                    <a:lstStyle/>
                    <a:p>
                      <a:pPr algn="ctr" marL="0" indent="0">
                        <a:lnSpc>
                          <a:spcPct val="100000"/>
                        </a:lnSpc>
                        <a:defRPr/>
                      </a:pPr>
                      <a:r>
                        <a:rPr lang="en-US" b="false" i="false" strike="noStrike" u="none" sz="1000">
                          <a:solidFill>
                            <a:srgbClr val="1F2329"/>
                          </a:solidFill>
                          <a:latin typeface="Noto Sans SC"/>
                          <a:ea typeface="Noto Sans SC"/>
                          <a:cs typeface="Noto Sans SC"/>
                          <a:sym typeface="Noto Sans SC"/>
                        </a:rPr>
                        <a:t>技术</a:t>
                      </a:r>
                      <a:endParaRPr lang="en-US" sz="1100"/>
                    </a:p>
                  </a:txBody>
                  <a:tcPr anchor="ctr" anchorCtr="false" marL="101600" marR="101600" marT="101600" marB="101600">
                    <a:lnL>
                      <a:noFill/>
                    </a:lnL>
                    <a:lnR>
                      <a:noFill/>
                    </a:lnR>
                    <a:lnT>
                      <a:noFill/>
                    </a:lnT>
                    <a:lnB>
                      <a:noFill/>
                    </a:lnB>
                    <a:noFill/>
                  </a:tcPr>
                </a:tc>
              </a:tr>
              <a:tr h="355600">
                <a:tc>
                  <a:txBody>
                    <a:bodyPr anchor="t" rtlCol="false"/>
                    <a:lstStyle/>
                    <a:p>
                      <a:pPr algn="ctr" marL="0" indent="0">
                        <a:lnSpc>
                          <a:spcPct val="100000"/>
                        </a:lnSpc>
                        <a:defRPr/>
                      </a:pPr>
                      <a:r>
                        <a:rPr lang="en-US" b="false" i="false" strike="noStrike" u="none" sz="1000">
                          <a:solidFill>
                            <a:srgbClr val="1F2329"/>
                          </a:solidFill>
                          <a:latin typeface="Noto Sans SC"/>
                          <a:ea typeface="Noto Sans SC"/>
                          <a:cs typeface="Noto Sans SC"/>
                          <a:sym typeface="Noto Sans SC"/>
                        </a:rPr>
                        <a:t>3</a:t>
                      </a:r>
                      <a:endParaRPr lang="en-US" sz="1100"/>
                    </a:p>
                  </a:txBody>
                  <a:tcPr anchor="ctr" anchorCtr="false" marL="101600" marR="101600" marT="101600" marB="101600">
                    <a:lnL>
                      <a:noFill/>
                    </a:lnL>
                    <a:lnR>
                      <a:noFill/>
                    </a:lnR>
                    <a:lnT>
                      <a:noFill/>
                    </a:lnT>
                    <a:lnB>
                      <a:noFill/>
                    </a:lnB>
                    <a:noFill/>
                  </a:tcPr>
                </a:tc>
                <a:tc>
                  <a:txBody>
                    <a:bodyPr anchor="t" rtlCol="false"/>
                    <a:lstStyle/>
                    <a:p>
                      <a:pPr algn="l" marL="0" indent="0">
                        <a:lnSpc>
                          <a:spcPct val="100000"/>
                        </a:lnSpc>
                        <a:defRPr/>
                      </a:pPr>
                      <a:r>
                        <a:rPr lang="en-US" b="false" i="false" strike="noStrike" u="none" sz="1000">
                          <a:solidFill>
                            <a:srgbClr val="1F2329"/>
                          </a:solidFill>
                          <a:latin typeface="Noto Sans SC"/>
                          <a:ea typeface="Noto Sans SC"/>
                          <a:cs typeface="Noto Sans SC"/>
                          <a:sym typeface="Noto Sans SC"/>
                        </a:rPr>
                        <a:t>SQLite数据库深入理解</a:t>
                      </a:r>
                      <a:endParaRPr lang="en-US" sz="1100"/>
                    </a:p>
                  </a:txBody>
                  <a:tcPr anchor="ctr" anchorCtr="false" marL="101600" marR="101600" marT="101600" marB="101600">
                    <a:lnL>
                      <a:noFill/>
                    </a:lnL>
                    <a:lnR>
                      <a:noFill/>
                    </a:lnR>
                    <a:lnT>
                      <a:noFill/>
                    </a:lnT>
                    <a:lnB>
                      <a:noFill/>
                    </a:lnB>
                    <a:noFill/>
                  </a:tcPr>
                </a:tc>
                <a:tc>
                  <a:txBody>
                    <a:bodyPr anchor="t" rtlCol="false"/>
                    <a:lstStyle/>
                    <a:p>
                      <a:pPr algn="ctr" marL="0" indent="0">
                        <a:lnSpc>
                          <a:spcPct val="100000"/>
                        </a:lnSpc>
                        <a:defRPr/>
                      </a:pPr>
                      <a:r>
                        <a:rPr lang="en-US" b="false" i="false" strike="noStrike" u="none" sz="1000">
                          <a:solidFill>
                            <a:srgbClr val="1F2329"/>
                          </a:solidFill>
                          <a:latin typeface="Noto Sans SC"/>
                          <a:ea typeface="Noto Sans SC"/>
                          <a:cs typeface="Noto Sans SC"/>
                          <a:sym typeface="Noto Sans SC"/>
                        </a:rPr>
                        <a:t>数据库</a:t>
                      </a:r>
                      <a:endParaRPr lang="en-US" sz="1100"/>
                    </a:p>
                  </a:txBody>
                  <a:tcPr anchor="ctr" anchorCtr="false" marL="101600" marR="101600" marT="101600" marB="101600">
                    <a:lnL>
                      <a:noFill/>
                    </a:lnL>
                    <a:lnR>
                      <a:noFill/>
                    </a:lnR>
                    <a:lnT>
                      <a:noFill/>
                    </a:lnT>
                    <a:lnB>
                      <a:noFill/>
                    </a:lnB>
                    <a:noFill/>
                  </a:tcPr>
                </a:tc>
              </a:tr>
              <a:tr h="355600">
                <a:tc>
                  <a:txBody>
                    <a:bodyPr anchor="t" rtlCol="false"/>
                    <a:lstStyle/>
                    <a:p>
                      <a:pPr algn="ctr" marL="0" indent="0">
                        <a:lnSpc>
                          <a:spcPct val="100000"/>
                        </a:lnSpc>
                        <a:defRPr/>
                      </a:pPr>
                      <a:r>
                        <a:rPr lang="en-US" b="false" i="false" strike="noStrike" u="none" sz="1000">
                          <a:solidFill>
                            <a:srgbClr val="1F2329"/>
                          </a:solidFill>
                          <a:latin typeface="Noto Sans SC"/>
                          <a:ea typeface="Noto Sans SC"/>
                          <a:cs typeface="Noto Sans SC"/>
                          <a:sym typeface="Noto Sans SC"/>
                        </a:rPr>
                        <a:t>4</a:t>
                      </a:r>
                      <a:endParaRPr lang="en-US" sz="1100"/>
                    </a:p>
                  </a:txBody>
                  <a:tcPr anchor="ctr" anchorCtr="false" marL="101600" marR="101600" marT="101600" marB="101600">
                    <a:lnL>
                      <a:noFill/>
                    </a:lnL>
                    <a:lnR>
                      <a:noFill/>
                    </a:lnR>
                    <a:lnT>
                      <a:noFill/>
                    </a:lnT>
                    <a:lnB>
                      <a:noFill/>
                    </a:lnB>
                    <a:noFill/>
                  </a:tcPr>
                </a:tc>
                <a:tc>
                  <a:txBody>
                    <a:bodyPr anchor="t" rtlCol="false"/>
                    <a:lstStyle/>
                    <a:p>
                      <a:pPr algn="l" marL="0" indent="0">
                        <a:lnSpc>
                          <a:spcPct val="100000"/>
                        </a:lnSpc>
                        <a:defRPr/>
                      </a:pPr>
                      <a:r>
                        <a:rPr lang="en-US" b="false" i="false" strike="noStrike" u="none" sz="1000">
                          <a:solidFill>
                            <a:srgbClr val="1F2329"/>
                          </a:solidFill>
                          <a:latin typeface="Noto Sans SC"/>
                          <a:ea typeface="Noto Sans SC"/>
                          <a:cs typeface="Noto Sans SC"/>
                          <a:sym typeface="Noto Sans SC"/>
                        </a:rPr>
                        <a:t>我的编程学习之路</a:t>
                      </a:r>
                      <a:endParaRPr lang="en-US" sz="1100"/>
                    </a:p>
                  </a:txBody>
                  <a:tcPr anchor="ctr" anchorCtr="false" marL="101600" marR="101600" marT="101600" marB="101600">
                    <a:lnL>
                      <a:noFill/>
                    </a:lnL>
                    <a:lnR>
                      <a:noFill/>
                    </a:lnR>
                    <a:lnT>
                      <a:noFill/>
                    </a:lnT>
                    <a:lnB>
                      <a:noFill/>
                    </a:lnB>
                    <a:noFill/>
                  </a:tcPr>
                </a:tc>
                <a:tc>
                  <a:txBody>
                    <a:bodyPr anchor="t" rtlCol="false"/>
                    <a:lstStyle/>
                    <a:p>
                      <a:pPr algn="ctr" marL="0" indent="0">
                        <a:lnSpc>
                          <a:spcPct val="100000"/>
                        </a:lnSpc>
                        <a:defRPr/>
                      </a:pPr>
                      <a:r>
                        <a:rPr lang="en-US" b="false" i="false" strike="noStrike" u="none" sz="1000">
                          <a:solidFill>
                            <a:srgbClr val="1F2329"/>
                          </a:solidFill>
                          <a:latin typeface="Noto Sans SC"/>
                          <a:ea typeface="Noto Sans SC"/>
                          <a:cs typeface="Noto Sans SC"/>
                          <a:sym typeface="Noto Sans SC"/>
                        </a:rPr>
                        <a:t>生活</a:t>
                      </a:r>
                      <a:endParaRPr lang="en-US" sz="1100"/>
                    </a:p>
                  </a:txBody>
                  <a:tcPr anchor="ctr" anchorCtr="false" marL="101600" marR="101600" marT="101600" marB="101600">
                    <a:lnL>
                      <a:noFill/>
                    </a:lnL>
                    <a:lnR>
                      <a:noFill/>
                    </a:lnR>
                    <a:lnT>
                      <a:noFill/>
                    </a:lnT>
                    <a:lnB>
                      <a:noFill/>
                    </a:lnB>
                    <a:noFill/>
                  </a:tcPr>
                </a:tc>
              </a:tr>
              <a:tr h="355600">
                <a:tc>
                  <a:txBody>
                    <a:bodyPr anchor="t" rtlCol="false"/>
                    <a:lstStyle/>
                    <a:p>
                      <a:pPr algn="ctr" marL="0" indent="0">
                        <a:lnSpc>
                          <a:spcPct val="100000"/>
                        </a:lnSpc>
                        <a:defRPr/>
                      </a:pPr>
                      <a:r>
                        <a:rPr lang="en-US" b="false" i="false" strike="noStrike" u="none" sz="1000">
                          <a:solidFill>
                            <a:srgbClr val="1F2329"/>
                          </a:solidFill>
                          <a:latin typeface="Noto Sans SC"/>
                          <a:ea typeface="Noto Sans SC"/>
                          <a:cs typeface="Noto Sans SC"/>
                          <a:sym typeface="Noto Sans SC"/>
                        </a:rPr>
                        <a:t>5</a:t>
                      </a:r>
                      <a:endParaRPr lang="en-US" sz="1100"/>
                    </a:p>
                  </a:txBody>
                  <a:tcPr anchor="ctr" anchorCtr="false" marL="101600" marR="101600" marT="101600" marB="101600">
                    <a:lnL>
                      <a:noFill/>
                    </a:lnL>
                    <a:lnR>
                      <a:noFill/>
                    </a:lnR>
                    <a:lnT>
                      <a:noFill/>
                    </a:lnT>
                    <a:lnB>
                      <a:noFill/>
                    </a:lnB>
                    <a:noFill/>
                  </a:tcPr>
                </a:tc>
                <a:tc>
                  <a:txBody>
                    <a:bodyPr anchor="t" rtlCol="false"/>
                    <a:lstStyle/>
                    <a:p>
                      <a:pPr algn="l" marL="0" indent="0">
                        <a:lnSpc>
                          <a:spcPct val="100000"/>
                        </a:lnSpc>
                        <a:defRPr/>
                      </a:pPr>
                      <a:r>
                        <a:rPr lang="en-US" b="false" i="false" strike="noStrike" u="none" sz="1000">
                          <a:solidFill>
                            <a:srgbClr val="1F2329"/>
                          </a:solidFill>
                          <a:latin typeface="Noto Sans SC"/>
                          <a:ea typeface="Noto Sans SC"/>
                          <a:cs typeface="Noto Sans SC"/>
                          <a:sym typeface="Noto Sans SC"/>
                        </a:rPr>
                        <a:t>关系型数据库设计原则</a:t>
                      </a:r>
                      <a:endParaRPr lang="en-US" sz="1100"/>
                    </a:p>
                  </a:txBody>
                  <a:tcPr anchor="ctr" anchorCtr="false" marL="101600" marR="101600" marT="101600" marB="101600">
                    <a:lnL>
                      <a:noFill/>
                    </a:lnL>
                    <a:lnR>
                      <a:noFill/>
                    </a:lnR>
                    <a:lnT>
                      <a:noFill/>
                    </a:lnT>
                    <a:lnB>
                      <a:noFill/>
                    </a:lnB>
                    <a:noFill/>
                  </a:tcPr>
                </a:tc>
                <a:tc>
                  <a:txBody>
                    <a:bodyPr anchor="t" rtlCol="false"/>
                    <a:lstStyle/>
                    <a:p>
                      <a:pPr algn="ctr" marL="0" indent="0">
                        <a:lnSpc>
                          <a:spcPct val="100000"/>
                        </a:lnSpc>
                        <a:defRPr/>
                      </a:pPr>
                      <a:r>
                        <a:rPr lang="en-US" b="false" i="false" strike="noStrike" u="none" sz="1000">
                          <a:solidFill>
                            <a:srgbClr val="1F2329"/>
                          </a:solidFill>
                          <a:latin typeface="Noto Sans SC"/>
                          <a:ea typeface="Noto Sans SC"/>
                          <a:cs typeface="Noto Sans SC"/>
                          <a:sym typeface="Noto Sans SC"/>
                        </a:rPr>
                        <a:t>数据库</a:t>
                      </a:r>
                      <a:endParaRPr lang="en-US" sz="1100"/>
                    </a:p>
                  </a:txBody>
                  <a:tcPr anchor="ctr" anchorCtr="false" marL="101600" marR="101600" marT="101600" marB="101600">
                    <a:lnL>
                      <a:noFill/>
                    </a:lnL>
                    <a:lnR>
                      <a:noFill/>
                    </a:lnR>
                    <a:lnT>
                      <a:noFill/>
                    </a:lnT>
                    <a:lnB>
                      <a:noFill/>
                    </a:lnB>
                    <a:noFill/>
                  </a:tcPr>
                </a:tc>
              </a:tr>
              <a:tr h="355600">
                <a:tc>
                  <a:txBody>
                    <a:bodyPr anchor="t" rtlCol="false"/>
                    <a:lstStyle/>
                    <a:p>
                      <a:pPr algn="ctr" marL="0" indent="0">
                        <a:lnSpc>
                          <a:spcPct val="100000"/>
                        </a:lnSpc>
                        <a:defRPr/>
                      </a:pPr>
                      <a:r>
                        <a:rPr lang="en-US" b="false" i="false" strike="noStrike" u="none" sz="1000">
                          <a:solidFill>
                            <a:srgbClr val="1F2329"/>
                          </a:solidFill>
                          <a:latin typeface="Noto Sans SC"/>
                          <a:ea typeface="Noto Sans SC"/>
                          <a:cs typeface="Noto Sans SC"/>
                          <a:sym typeface="Noto Sans SC"/>
                        </a:rPr>
                        <a:t>6</a:t>
                      </a:r>
                      <a:endParaRPr lang="en-US" sz="1100"/>
                    </a:p>
                  </a:txBody>
                  <a:tcPr anchor="ctr" anchorCtr="false" marL="101600" marR="101600" marT="101600" marB="101600">
                    <a:lnL>
                      <a:noFill/>
                    </a:lnL>
                    <a:lnR>
                      <a:noFill/>
                    </a:lnR>
                    <a:lnT>
                      <a:noFill/>
                    </a:lnT>
                    <a:lnB>
                      <a:noFill/>
                    </a:lnB>
                    <a:noFill/>
                  </a:tcPr>
                </a:tc>
                <a:tc>
                  <a:txBody>
                    <a:bodyPr anchor="t" rtlCol="false"/>
                    <a:lstStyle/>
                    <a:p>
                      <a:pPr algn="l" marL="0" indent="0">
                        <a:lnSpc>
                          <a:spcPct val="100000"/>
                        </a:lnSpc>
                        <a:defRPr/>
                      </a:pPr>
                      <a:r>
                        <a:rPr lang="en-US" b="false" i="false" strike="noStrike" u="none" sz="1000">
                          <a:solidFill>
                            <a:srgbClr val="1F2329"/>
                          </a:solidFill>
                          <a:latin typeface="Noto Sans SC"/>
                          <a:ea typeface="Noto Sans SC"/>
                          <a:cs typeface="Noto Sans SC"/>
                          <a:sym typeface="Noto Sans SC"/>
                        </a:rPr>
                        <a:t>前端开发工具链演进</a:t>
                      </a:r>
                      <a:endParaRPr lang="en-US" sz="1100"/>
                    </a:p>
                  </a:txBody>
                  <a:tcPr anchor="ctr" anchorCtr="false" marL="101600" marR="101600" marT="101600" marB="101600">
                    <a:lnL>
                      <a:noFill/>
                    </a:lnL>
                    <a:lnR>
                      <a:noFill/>
                    </a:lnR>
                    <a:lnT>
                      <a:noFill/>
                    </a:lnT>
                    <a:lnB>
                      <a:noFill/>
                    </a:lnB>
                    <a:noFill/>
                  </a:tcPr>
                </a:tc>
                <a:tc>
                  <a:txBody>
                    <a:bodyPr anchor="t" rtlCol="false"/>
                    <a:lstStyle/>
                    <a:p>
                      <a:pPr algn="ctr" marL="0" indent="0">
                        <a:lnSpc>
                          <a:spcPct val="100000"/>
                        </a:lnSpc>
                        <a:defRPr/>
                      </a:pPr>
                      <a:r>
                        <a:rPr lang="en-US" b="false" i="false" strike="noStrike" u="none" sz="1000">
                          <a:solidFill>
                            <a:srgbClr val="1F2329"/>
                          </a:solidFill>
                          <a:latin typeface="Noto Sans SC"/>
                          <a:ea typeface="Noto Sans SC"/>
                          <a:cs typeface="Noto Sans SC"/>
                          <a:sym typeface="Noto Sans SC"/>
                        </a:rPr>
                        <a:t>技术</a:t>
                      </a:r>
                      <a:endParaRPr lang="en-US" sz="1100"/>
                    </a:p>
                  </a:txBody>
                  <a:tcPr anchor="ctr" anchorCtr="false" marL="101600" marR="101600" marT="101600" marB="101600">
                    <a:lnL>
                      <a:noFill/>
                    </a:lnL>
                    <a:lnR>
                      <a:noFill/>
                    </a:lnR>
                    <a:lnT>
                      <a:noFill/>
                    </a:lnT>
                    <a:lnB>
                      <a:noFill/>
                    </a:lnB>
                    <a:noFill/>
                  </a:tcPr>
                </a:tc>
              </a:tr>
              <a:tr h="355600">
                <a:tc>
                  <a:txBody>
                    <a:bodyPr anchor="t" rtlCol="false"/>
                    <a:lstStyle/>
                    <a:p>
                      <a:pPr algn="ctr" marL="0" indent="0">
                        <a:lnSpc>
                          <a:spcPct val="100000"/>
                        </a:lnSpc>
                        <a:defRPr/>
                      </a:pPr>
                      <a:r>
                        <a:rPr lang="en-US" b="false" i="false" strike="noStrike" u="none" sz="1000">
                          <a:solidFill>
                            <a:srgbClr val="1F2329"/>
                          </a:solidFill>
                          <a:latin typeface="Noto Sans SC"/>
                          <a:ea typeface="Noto Sans SC"/>
                          <a:cs typeface="Noto Sans SC"/>
                          <a:sym typeface="Noto Sans SC"/>
                        </a:rPr>
                        <a:t>7</a:t>
                      </a:r>
                      <a:endParaRPr lang="en-US" sz="1100"/>
                    </a:p>
                  </a:txBody>
                  <a:tcPr anchor="ctr" anchorCtr="false" marL="101600" marR="101600" marT="101600" marB="101600">
                    <a:lnL>
                      <a:noFill/>
                    </a:lnL>
                    <a:lnR>
                      <a:noFill/>
                    </a:lnR>
                    <a:lnT>
                      <a:noFill/>
                    </a:lnT>
                    <a:lnB>
                      <a:noFill/>
                    </a:lnB>
                    <a:noFill/>
                  </a:tcPr>
                </a:tc>
                <a:tc>
                  <a:txBody>
                    <a:bodyPr anchor="t" rtlCol="false"/>
                    <a:lstStyle/>
                    <a:p>
                      <a:pPr algn="l" marL="0" indent="0">
                        <a:lnSpc>
                          <a:spcPct val="100000"/>
                        </a:lnSpc>
                        <a:defRPr/>
                      </a:pPr>
                      <a:r>
                        <a:rPr lang="en-US" b="false" i="false" strike="noStrike" u="none" sz="1000">
                          <a:solidFill>
                            <a:srgbClr val="1F2329"/>
                          </a:solidFill>
                          <a:latin typeface="Noto Sans SC"/>
                          <a:ea typeface="Noto Sans SC"/>
                          <a:cs typeface="Noto Sans SC"/>
                          <a:sym typeface="Noto Sans SC"/>
                        </a:rPr>
                        <a:t>读书笔记：代码整洁之道</a:t>
                      </a:r>
                      <a:endParaRPr lang="en-US" sz="1100"/>
                    </a:p>
                  </a:txBody>
                  <a:tcPr anchor="ctr" anchorCtr="false" marL="101600" marR="101600" marT="101600" marB="101600">
                    <a:lnL>
                      <a:noFill/>
                    </a:lnL>
                    <a:lnR>
                      <a:noFill/>
                    </a:lnR>
                    <a:lnT>
                      <a:noFill/>
                    </a:lnT>
                    <a:lnB>
                      <a:noFill/>
                    </a:lnB>
                    <a:noFill/>
                  </a:tcPr>
                </a:tc>
                <a:tc>
                  <a:txBody>
                    <a:bodyPr anchor="t" rtlCol="false"/>
                    <a:lstStyle/>
                    <a:p>
                      <a:pPr algn="ctr" marL="0" indent="0">
                        <a:lnSpc>
                          <a:spcPct val="100000"/>
                        </a:lnSpc>
                        <a:defRPr/>
                      </a:pPr>
                      <a:r>
                        <a:rPr lang="en-US" b="false" i="false" strike="noStrike" u="none" sz="1000">
                          <a:solidFill>
                            <a:srgbClr val="1F2329"/>
                          </a:solidFill>
                          <a:latin typeface="Noto Sans SC"/>
                          <a:ea typeface="Noto Sans SC"/>
                          <a:cs typeface="Noto Sans SC"/>
                          <a:sym typeface="Noto Sans SC"/>
                        </a:rPr>
                        <a:t>生活</a:t>
                      </a:r>
                      <a:endParaRPr lang="en-US" sz="1100"/>
                    </a:p>
                  </a:txBody>
                  <a:tcPr anchor="ctr" anchorCtr="false" marL="101600" marR="101600" marT="101600" marB="101600">
                    <a:lnL>
                      <a:noFill/>
                    </a:lnL>
                    <a:lnR>
                      <a:noFill/>
                    </a:lnR>
                    <a:lnT>
                      <a:noFill/>
                    </a:lnT>
                    <a:lnB>
                      <a:noFill/>
                    </a:lnB>
                    <a:noFill/>
                  </a:tcPr>
                </a:tc>
              </a:tr>
              <a:tr h="355600">
                <a:tc>
                  <a:txBody>
                    <a:bodyPr anchor="t" rtlCol="false"/>
                    <a:lstStyle/>
                    <a:p>
                      <a:pPr algn="ctr" marL="0" indent="0">
                        <a:lnSpc>
                          <a:spcPct val="100000"/>
                        </a:lnSpc>
                        <a:defRPr/>
                      </a:pPr>
                      <a:r>
                        <a:rPr lang="en-US" b="false" i="false" strike="noStrike" u="none" sz="1000">
                          <a:solidFill>
                            <a:srgbClr val="1F2329"/>
                          </a:solidFill>
                          <a:latin typeface="Noto Sans SC"/>
                          <a:ea typeface="Noto Sans SC"/>
                          <a:cs typeface="Noto Sans SC"/>
                          <a:sym typeface="Noto Sans SC"/>
                        </a:rPr>
                        <a:t>8</a:t>
                      </a:r>
                      <a:endParaRPr lang="en-US" sz="1100"/>
                    </a:p>
                  </a:txBody>
                  <a:tcPr anchor="ctr" anchorCtr="false" marL="101600" marR="101600" marT="101600" marB="101600">
                    <a:lnL>
                      <a:noFill/>
                    </a:lnL>
                    <a:lnR>
                      <a:noFill/>
                    </a:lnR>
                    <a:lnT>
                      <a:noFill/>
                    </a:lnT>
                    <a:lnB>
                      <a:noFill/>
                    </a:lnB>
                    <a:noFill/>
                  </a:tcPr>
                </a:tc>
                <a:tc>
                  <a:txBody>
                    <a:bodyPr anchor="t" rtlCol="false"/>
                    <a:lstStyle/>
                    <a:p>
                      <a:pPr algn="l" marL="0" indent="0">
                        <a:lnSpc>
                          <a:spcPct val="100000"/>
                        </a:lnSpc>
                        <a:defRPr/>
                      </a:pPr>
                      <a:r>
                        <a:rPr lang="en-US" b="false" i="false" strike="noStrike" u="none" sz="1000">
                          <a:solidFill>
                            <a:srgbClr val="1F2329"/>
                          </a:solidFill>
                          <a:latin typeface="Noto Sans SC"/>
                          <a:ea typeface="Noto Sans SC"/>
                          <a:cs typeface="Noto Sans SC"/>
                          <a:sym typeface="Noto Sans SC"/>
                        </a:rPr>
                        <a:t>MongoDB与SQLite对比分析</a:t>
                      </a:r>
                      <a:endParaRPr lang="en-US" sz="1100"/>
                    </a:p>
                  </a:txBody>
                  <a:tcPr anchor="ctr" anchorCtr="false" marL="101600" marR="101600" marT="101600" marB="101600">
                    <a:lnL>
                      <a:noFill/>
                    </a:lnL>
                    <a:lnR>
                      <a:noFill/>
                    </a:lnR>
                    <a:lnT>
                      <a:noFill/>
                    </a:lnT>
                    <a:lnB>
                      <a:noFill/>
                    </a:lnB>
                    <a:noFill/>
                  </a:tcPr>
                </a:tc>
                <a:tc>
                  <a:txBody>
                    <a:bodyPr anchor="t" rtlCol="false"/>
                    <a:lstStyle/>
                    <a:p>
                      <a:pPr algn="ctr" marL="0" indent="0">
                        <a:lnSpc>
                          <a:spcPct val="100000"/>
                        </a:lnSpc>
                        <a:defRPr/>
                      </a:pPr>
                      <a:r>
                        <a:rPr lang="en-US" b="false" i="false" strike="noStrike" u="none" sz="1000">
                          <a:solidFill>
                            <a:srgbClr val="1F2329"/>
                          </a:solidFill>
                          <a:latin typeface="Noto Sans SC"/>
                          <a:ea typeface="Noto Sans SC"/>
                          <a:cs typeface="Noto Sans SC"/>
                          <a:sym typeface="Noto Sans SC"/>
                        </a:rPr>
                        <a:t>数据库</a:t>
                      </a:r>
                      <a:endParaRPr lang="en-US" sz="1100"/>
                    </a:p>
                  </a:txBody>
                  <a:tcPr anchor="ctr" anchorCtr="false" marL="101600" marR="101600" marT="101600" marB="101600">
                    <a:lnL>
                      <a:noFill/>
                    </a:lnL>
                    <a:lnR>
                      <a:noFill/>
                    </a:lnR>
                    <a:lnT>
                      <a:noFill/>
                    </a:lnT>
                    <a:lnB>
                      <a:noFill/>
                    </a:lnB>
                    <a:noFill/>
                  </a:tcPr>
                </a:tc>
              </a:tr>
            </a:tbl>
          </a:graphicData>
        </a:graphic>
      </p:graphicFrame>
      <p:sp>
        <p:nvSpPr>
          <p:cNvPr name="AutoShape 20" id="20"/>
          <p:cNvSpPr/>
          <p:nvPr/>
        </p:nvSpPr>
        <p:spPr>
          <a:xfrm rot="0" flipH="false" flipV="false">
            <a:off x="6604000" y="2667000"/>
            <a:ext cx="50800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0D1326"/>
                </a:solidFill>
                <a:latin typeface="Noto Sans SC"/>
                <a:ea typeface="Noto Sans SC"/>
                <a:cs typeface="Noto Sans SC"/>
                <a:sym typeface="Noto Sans SC"/>
              </a:rPr>
              <a:t>边界情况覆盖</a:t>
            </a:r>
            <a:endParaRPr lang="en-US" sz="1100"/>
          </a:p>
        </p:txBody>
      </p:sp>
      <p:cxnSp>
        <p:nvCxnSpPr>
          <p:cNvPr name="Connector 21" id="21"/>
          <p:cNvCxnSpPr/>
          <p:nvPr/>
        </p:nvCxnSpPr>
        <p:spPr>
          <a:xfrm rot="-42969" flipH="false" flipV="false">
            <a:off x="6604040" y="3105150"/>
            <a:ext cx="1016000" cy="12700"/>
          </a:xfrm>
          <a:prstGeom prst="straightConnector1">
            <a:avLst/>
          </a:prstGeom>
          <a:solidFill>
            <a:srgbClr val="DEE0E3">
              <a:alpha val="100000"/>
            </a:srgbClr>
          </a:solidFill>
          <a:ln w="25400" cmpd="sng" cap="flat">
            <a:solidFill>
              <a:srgbClr val="2563EB">
                <a:alpha val="100000"/>
              </a:srgbClr>
            </a:solidFill>
            <a:prstDash val="solid"/>
            <a:round/>
            <a:headEnd type="none" w="lg" len="lg"/>
            <a:tailEnd type="none" w="lg" len="lg"/>
          </a:ln>
        </p:spPr>
      </p:cxnSp>
      <p:sp>
        <p:nvSpPr>
          <p:cNvPr name="AutoShape 22" id="22"/>
          <p:cNvSpPr/>
          <p:nvPr/>
        </p:nvSpPr>
        <p:spPr>
          <a:xfrm rot="0" flipH="false" flipV="false">
            <a:off x="6604000" y="3302000"/>
            <a:ext cx="5080000" cy="2794000"/>
          </a:xfrm>
          <a:prstGeom prst="roundRect">
            <a:avLst>
              <a:gd name="adj" fmla="val 0"/>
            </a:avLst>
          </a:prstGeom>
          <a:solidFill>
            <a:srgbClr val="FFFFFF">
              <a:alpha val="100000"/>
            </a:srgbClr>
          </a:solidFill>
          <a:ln w="12700" cmpd="sng" cap="flat">
            <a:solidFill>
              <a:srgbClr val="BFD7FF">
                <a:alpha val="100000"/>
              </a:srgbClr>
            </a:solidFill>
            <a:prstDash val="solid"/>
            <a:round/>
          </a:ln>
        </p:spPr>
        <p:txBody>
          <a:bodyPr anchor="ctr" rtlCol="false" vert="horz" wrap="square" lIns="63500" rIns="63500" tIns="63500" bIns="63500"/>
          <a:lstStyle/>
          <a:p>
            <a:pPr algn="ctr">
              <a:defRPr/>
            </a:pPr>
            <a:endParaRPr/>
          </a:p>
        </p:txBody>
      </p:sp>
      <p:sp>
        <p:nvSpPr>
          <p:cNvPr name="AutoShape 23" id="23"/>
          <p:cNvSpPr/>
          <p:nvPr/>
        </p:nvSpPr>
        <p:spPr>
          <a:xfrm rot="0" flipH="false" flipV="false">
            <a:off x="6858000" y="3492500"/>
            <a:ext cx="4572000" cy="2540000"/>
          </a:xfrm>
          <a:prstGeom prst="rect">
            <a:avLst/>
          </a:prstGeom>
          <a:noFill/>
          <a:ln w="12700" cmpd="sng" cap="flat">
            <a:noFill/>
            <a:prstDash val="solid"/>
            <a:round/>
          </a:ln>
        </p:spPr>
        <p:txBody>
          <a:bodyPr anchor="ctr" rtlCol="false" anchorCtr="false" vert="horz" wrap="square" lIns="0" rIns="0" tIns="0" bIns="0"/>
          <a:lstStyle/>
          <a:p>
            <a:pPr algn="l" indent="-152400" marL="152400">
              <a:lnSpc>
                <a:spcPct val="150000"/>
              </a:lnSpc>
              <a:buClr>
                <a:srgbClr val="2563EB"/>
              </a:buClr>
              <a:buChar char="•"/>
              <a:defRPr/>
            </a:pPr>
            <a:r>
              <a:rPr lang="en-US" b="true" i="false" strike="noStrike" u="none" sz="1200">
                <a:solidFill>
                  <a:srgbClr val="2563EB"/>
                </a:solidFill>
                <a:latin typeface="Noto Sans SC"/>
                <a:ea typeface="Noto Sans SC"/>
                <a:cs typeface="Noto Sans SC"/>
                <a:sym typeface="Noto Sans SC"/>
              </a:rPr>
              <a:t>长标题：</a:t>
            </a:r>
            <a:r>
              <a:rPr lang="en-US" b="false" i="false" strike="noStrike" u="none" sz="1200">
                <a:solidFill>
                  <a:srgbClr val="536174"/>
                </a:solidFill>
                <a:latin typeface="Noto Sans SC"/>
                <a:ea typeface="Noto Sans SC"/>
                <a:cs typeface="Noto Sans SC"/>
                <a:sym typeface="Noto Sans SC"/>
              </a:rPr>
              <a:t>"开源软件二次开发实践：基于 Ghost 构建个人博客系统"</a:t>
            </a:r>
            <a:endParaRPr lang="en-US" sz="1100"/>
          </a:p>
          <a:p>
            <a:pPr algn="l" indent="-152400" marL="152400">
              <a:lnSpc>
                <a:spcPct val="150000"/>
              </a:lnSpc>
              <a:buClr>
                <a:srgbClr val="2563EB"/>
              </a:buClr>
              <a:buChar char="•"/>
            </a:pPr>
            <a:r>
              <a:rPr lang="en-US" b="true" i="false" strike="noStrike" u="none" sz="1200">
                <a:solidFill>
                  <a:srgbClr val="2563EB"/>
                </a:solidFill>
                <a:latin typeface="Noto Sans SC"/>
                <a:ea typeface="Noto Sans SC"/>
                <a:cs typeface="Noto Sans SC"/>
                <a:sym typeface="Noto Sans SC"/>
              </a:rPr>
              <a:t>无封面图：</a:t>
            </a:r>
            <a:r>
              <a:rPr lang="en-US" b="false" i="false" strike="noStrike" u="none" sz="1200">
                <a:solidFill>
                  <a:srgbClr val="536174"/>
                </a:solidFill>
                <a:latin typeface="Noto Sans SC"/>
                <a:ea typeface="Noto Sans SC"/>
                <a:cs typeface="Noto Sans SC"/>
                <a:sym typeface="Noto Sans SC"/>
              </a:rPr>
              <a:t>所有演示文章均无封面图</a:t>
            </a:r>
          </a:p>
          <a:p>
            <a:pPr algn="l" indent="-152400" marL="152400">
              <a:lnSpc>
                <a:spcPct val="150000"/>
              </a:lnSpc>
              <a:buClr>
                <a:srgbClr val="2563EB"/>
              </a:buClr>
              <a:buChar char="•"/>
            </a:pPr>
            <a:r>
              <a:rPr lang="en-US" b="true" i="false" strike="noStrike" u="none" sz="1200">
                <a:solidFill>
                  <a:srgbClr val="2563EB"/>
                </a:solidFill>
                <a:latin typeface="Noto Sans SC"/>
                <a:ea typeface="Noto Sans SC"/>
                <a:cs typeface="Noto Sans SC"/>
                <a:sym typeface="Noto Sans SC"/>
              </a:rPr>
              <a:t>代码块：</a:t>
            </a:r>
            <a:r>
              <a:rPr lang="en-US" b="false" i="false" strike="noStrike" u="none" sz="1200">
                <a:solidFill>
                  <a:srgbClr val="536174"/>
                </a:solidFill>
                <a:latin typeface="Noto Sans SC"/>
                <a:ea typeface="Noto Sans SC"/>
                <a:cs typeface="Noto Sans SC"/>
                <a:sym typeface="Noto Sans SC"/>
              </a:rPr>
              <a:t>"SQLite 数据库深入理解"包含代码示例</a:t>
            </a:r>
          </a:p>
          <a:p>
            <a:pPr algn="l" indent="-152400" marL="152400">
              <a:lnSpc>
                <a:spcPct val="150000"/>
              </a:lnSpc>
              <a:buClr>
                <a:srgbClr val="2563EB"/>
              </a:buClr>
              <a:buChar char="•"/>
            </a:pPr>
            <a:r>
              <a:rPr lang="en-US" b="true" i="false" strike="noStrike" u="none" sz="1200">
                <a:solidFill>
                  <a:srgbClr val="2563EB"/>
                </a:solidFill>
                <a:latin typeface="Noto Sans SC"/>
                <a:ea typeface="Noto Sans SC"/>
                <a:cs typeface="Noto Sans SC"/>
                <a:sym typeface="Noto Sans SC"/>
              </a:rPr>
              <a:t>中文搜索词：</a:t>
            </a:r>
            <a:r>
              <a:rPr lang="en-US" b="false" i="false" strike="noStrike" u="none" sz="1200">
                <a:solidFill>
                  <a:srgbClr val="536174"/>
                </a:solidFill>
                <a:latin typeface="Noto Sans SC"/>
                <a:ea typeface="Noto Sans SC"/>
                <a:cs typeface="Noto Sans SC"/>
                <a:sym typeface="Noto Sans SC"/>
              </a:rPr>
              <a:t>"数据库"、"Node.js"等关键词</a:t>
            </a:r>
          </a:p>
          <a:p>
            <a:pPr algn="l" indent="-152400" marL="152400">
              <a:lnSpc>
                <a:spcPct val="150000"/>
              </a:lnSpc>
              <a:buClr>
                <a:srgbClr val="2563EB"/>
              </a:buClr>
              <a:buChar char="•"/>
            </a:pPr>
            <a:r>
              <a:rPr lang="en-US" b="true" i="false" strike="noStrike" u="none" sz="1200">
                <a:solidFill>
                  <a:srgbClr val="2563EB"/>
                </a:solidFill>
                <a:latin typeface="Noto Sans SC"/>
                <a:ea typeface="Noto Sans SC"/>
                <a:cs typeface="Noto Sans SC"/>
                <a:sym typeface="Noto Sans SC"/>
              </a:rPr>
              <a:t>空评论：</a:t>
            </a:r>
            <a:r>
              <a:rPr lang="en-US" b="false" i="false" strike="noStrike" u="none" sz="1200">
                <a:solidFill>
                  <a:srgbClr val="536174"/>
                </a:solidFill>
                <a:latin typeface="Noto Sans SC"/>
                <a:ea typeface="Noto Sans SC"/>
                <a:cs typeface="Noto Sans SC"/>
                <a:sym typeface="Noto Sans SC"/>
              </a:rPr>
              <a:t>部分文章评论数为 0</a:t>
            </a:r>
          </a:p>
          <a:p>
            <a:pPr algn="l" indent="-152400" marL="152400">
              <a:lnSpc>
                <a:spcPct val="150000"/>
              </a:lnSpc>
              <a:buClr>
                <a:srgbClr val="2563EB"/>
              </a:buClr>
              <a:buChar char="•"/>
            </a:pPr>
            <a:r>
              <a:rPr lang="en-US" b="true" i="false" strike="noStrike" u="none" sz="1200">
                <a:solidFill>
                  <a:srgbClr val="2563EB"/>
                </a:solidFill>
                <a:latin typeface="Noto Sans SC"/>
                <a:ea typeface="Noto Sans SC"/>
                <a:cs typeface="Noto Sans SC"/>
                <a:sym typeface="Noto Sans SC"/>
              </a:rPr>
              <a:t>会员账号：</a:t>
            </a:r>
            <a:r>
              <a:rPr lang="en-US" b="false" i="false" strike="noStrike" u="none" sz="1200">
                <a:solidFill>
                  <a:srgbClr val="536174"/>
                </a:solidFill>
                <a:latin typeface="Noto Sans SC"/>
                <a:ea typeface="Noto Sans SC"/>
                <a:cs typeface="Noto Sans SC"/>
                <a:sym typeface="Noto Sans SC"/>
              </a:rPr>
              <a:t>张三 zhangsan@example.com、李四 lisi@example.com</a:t>
            </a:r>
          </a:p>
        </p:txBody>
      </p:sp>
    </p:spTree>
  </p:cSld>
  <p:clrMapOvr>
    <a:masterClrMapping/>
  </p:clrMapOvr>
</p:sld>
</file>

<file path=ppt/slides/slide10.xml><?xml version="1.0" encoding="utf-8"?>
<p:sld xmlns:p="http://schemas.openxmlformats.org/presentationml/2006/main" xmlns:a="http://schemas.openxmlformats.org/drawingml/2006/main">
  <p:cSld>
    <p:bg>
      <p:bgPr>
        <a:solidFill>
          <a:srgbClr val="F2F4F8">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762000"/>
          </a:xfrm>
          <a:prstGeom prst="roundRect">
            <a:avLst>
              <a:gd name="adj" fmla="val 0"/>
            </a:avLst>
          </a:prstGeom>
          <a:solidFill>
            <a:srgbClr val="0D132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508000" y="152400"/>
            <a:ext cx="7620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200">
                <a:solidFill>
                  <a:srgbClr val="FFFFFF"/>
                </a:solidFill>
                <a:latin typeface="Noto Sans SC"/>
                <a:ea typeface="Noto Sans SC"/>
                <a:cs typeface="Noto Sans SC"/>
                <a:sym typeface="Noto Sans SC"/>
              </a:rPr>
              <a:t>06 测试结果</a:t>
            </a:r>
            <a:endParaRPr lang="en-US" sz="1100"/>
          </a:p>
        </p:txBody>
      </p:sp>
      <p:sp>
        <p:nvSpPr>
          <p:cNvPr name="AutoShape 4" id="4"/>
          <p:cNvSpPr/>
          <p:nvPr/>
        </p:nvSpPr>
        <p:spPr>
          <a:xfrm rot="0" flipH="false" flipV="false">
            <a:off x="9525000" y="228600"/>
            <a:ext cx="2159000" cy="381000"/>
          </a:xfrm>
          <a:prstGeom prst="rect">
            <a:avLst/>
          </a:prstGeom>
          <a:noFill/>
          <a:ln w="12700" cmpd="sng" cap="flat">
            <a:noFill/>
            <a:prstDash val="solid"/>
            <a:round/>
          </a:ln>
        </p:spPr>
        <p:txBody>
          <a:bodyPr anchor="ctr" rtlCol="false" anchorCtr="false" vert="horz" wrap="square" lIns="0" rIns="0" tIns="0" bIns="0"/>
          <a:lstStyle/>
          <a:p>
            <a:pPr algn="r" marL="0" indent="0">
              <a:lnSpc>
                <a:spcPct val="125000"/>
              </a:lnSpc>
              <a:defRPr/>
            </a:pPr>
            <a:r>
              <a:rPr lang="en-US" b="false" i="false" strike="noStrike" u="none" sz="1200">
                <a:solidFill>
                  <a:srgbClr val="BFD7FF"/>
                </a:solidFill>
                <a:latin typeface="Noto Sans SC"/>
                <a:ea typeface="Noto Sans SC"/>
                <a:cs typeface="Noto Sans SC"/>
                <a:sym typeface="Noto Sans SC"/>
              </a:rPr>
              <a:t>实验01 / 共13页</a:t>
            </a:r>
            <a:endParaRPr lang="en-US" sz="1100"/>
          </a:p>
        </p:txBody>
      </p:sp>
      <p:sp>
        <p:nvSpPr>
          <p:cNvPr name="AutoShape 5" id="5"/>
          <p:cNvSpPr/>
          <p:nvPr/>
        </p:nvSpPr>
        <p:spPr>
          <a:xfrm rot="0" flipH="false" flipV="false">
            <a:off x="508000" y="1079500"/>
            <a:ext cx="3556000" cy="1524000"/>
          </a:xfrm>
          <a:prstGeom prst="roundRect">
            <a:avLst>
              <a:gd name="adj" fmla="val 0"/>
            </a:avLst>
          </a:prstGeom>
          <a:solidFill>
            <a:srgbClr val="2563E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508000" y="1206500"/>
            <a:ext cx="3556000" cy="762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5600">
                <a:solidFill>
                  <a:srgbClr val="FFFFFF"/>
                </a:solidFill>
                <a:latin typeface="Noto Sans SC"/>
                <a:ea typeface="Noto Sans SC"/>
                <a:cs typeface="Noto Sans SC"/>
                <a:sym typeface="Noto Sans SC"/>
              </a:rPr>
              <a:t>18</a:t>
            </a:r>
            <a:endParaRPr lang="en-US" sz="1100"/>
          </a:p>
        </p:txBody>
      </p:sp>
      <p:sp>
        <p:nvSpPr>
          <p:cNvPr name="AutoShape 7" id="7"/>
          <p:cNvSpPr/>
          <p:nvPr/>
        </p:nvSpPr>
        <p:spPr>
          <a:xfrm rot="0" flipH="false" flipV="false">
            <a:off x="508000" y="2032000"/>
            <a:ext cx="3556000" cy="381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600">
                <a:solidFill>
                  <a:srgbClr val="FFFFFF"/>
                </a:solidFill>
                <a:latin typeface="Noto Sans SC"/>
                <a:ea typeface="Noto Sans SC"/>
                <a:cs typeface="Noto Sans SC"/>
                <a:sym typeface="Noto Sans SC"/>
              </a:rPr>
              <a:t>项测试全部通过</a:t>
            </a:r>
            <a:endParaRPr lang="en-US" sz="1100"/>
          </a:p>
        </p:txBody>
      </p:sp>
      <p:sp>
        <p:nvSpPr>
          <p:cNvPr name="AutoShape 8" id="8"/>
          <p:cNvSpPr/>
          <p:nvPr/>
        </p:nvSpPr>
        <p:spPr>
          <a:xfrm rot="0" flipH="false" flipV="false">
            <a:off x="4572000" y="1079500"/>
            <a:ext cx="7112000" cy="1524000"/>
          </a:xfrm>
          <a:prstGeom prst="roundRect">
            <a:avLst>
              <a:gd name="adj" fmla="val 0"/>
            </a:avLst>
          </a:prstGeom>
          <a:solidFill>
            <a:srgbClr val="FFFFFF">
              <a:alpha val="100000"/>
            </a:srgbClr>
          </a:solidFill>
          <a:ln w="12700" cmpd="sng" cap="flat">
            <a:solidFill>
              <a:srgbClr val="BFD7FF">
                <a:alpha val="100000"/>
              </a:srgbClr>
            </a:solid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4826000" y="1270000"/>
            <a:ext cx="6604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0D1326"/>
                </a:solidFill>
                <a:latin typeface="Noto Sans SC"/>
                <a:ea typeface="Noto Sans SC"/>
                <a:cs typeface="Noto Sans SC"/>
                <a:sym typeface="Noto Sans SC"/>
              </a:rPr>
              <a:t>测试维度分布</a:t>
            </a:r>
            <a:endParaRPr lang="en-US" sz="1100"/>
          </a:p>
        </p:txBody>
      </p:sp>
      <p:sp>
        <p:nvSpPr>
          <p:cNvPr name="AutoShape 10" id="10"/>
          <p:cNvSpPr/>
          <p:nvPr/>
        </p:nvSpPr>
        <p:spPr>
          <a:xfrm rot="0" flipH="false" flipV="false">
            <a:off x="4826000" y="1778000"/>
            <a:ext cx="1524000" cy="635000"/>
          </a:xfrm>
          <a:prstGeom prst="roundRect">
            <a:avLst>
              <a:gd name="adj" fmla="val 0"/>
            </a:avLst>
          </a:prstGeom>
          <a:solidFill>
            <a:srgbClr val="2563E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4826000" y="1879600"/>
            <a:ext cx="1524000" cy="4445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400">
                <a:solidFill>
                  <a:srgbClr val="FFFFFF"/>
                </a:solidFill>
                <a:latin typeface="Noto Sans SC"/>
                <a:ea typeface="Noto Sans SC"/>
                <a:cs typeface="Noto Sans SC"/>
                <a:sym typeface="Noto Sans SC"/>
              </a:rPr>
              <a:t>功能测试</a:t>
            </a:r>
            <a:endParaRPr lang="en-US" sz="1100"/>
          </a:p>
          <a:p>
            <a:pPr algn="ctr" marL="0" indent="0">
              <a:lnSpc>
                <a:spcPct val="125000"/>
              </a:lnSpc>
            </a:pPr>
            <a:r>
              <a:rPr lang="en-US" b="true" i="false" strike="noStrike" u="none" sz="1400">
                <a:solidFill>
                  <a:srgbClr val="FFFFFF"/>
                </a:solidFill>
                <a:latin typeface="Noto Sans SC"/>
                <a:ea typeface="Noto Sans SC"/>
                <a:cs typeface="Noto Sans SC"/>
                <a:sym typeface="Noto Sans SC"/>
              </a:rPr>
              <a:t>8项</a:t>
            </a:r>
          </a:p>
        </p:txBody>
      </p:sp>
      <p:sp>
        <p:nvSpPr>
          <p:cNvPr name="AutoShape 12" id="12"/>
          <p:cNvSpPr/>
          <p:nvPr/>
        </p:nvSpPr>
        <p:spPr>
          <a:xfrm rot="0" flipH="false" flipV="false">
            <a:off x="6604000" y="1778000"/>
            <a:ext cx="1524000" cy="635000"/>
          </a:xfrm>
          <a:prstGeom prst="roundRect">
            <a:avLst>
              <a:gd name="adj" fmla="val 0"/>
            </a:avLst>
          </a:prstGeom>
          <a:solidFill>
            <a:srgbClr val="0D132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6604000" y="1879600"/>
            <a:ext cx="1524000" cy="4445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400">
                <a:solidFill>
                  <a:srgbClr val="FFFFFF"/>
                </a:solidFill>
                <a:latin typeface="Noto Sans SC"/>
                <a:ea typeface="Noto Sans SC"/>
                <a:cs typeface="Noto Sans SC"/>
                <a:sym typeface="Noto Sans SC"/>
              </a:rPr>
              <a:t>权限测试</a:t>
            </a:r>
            <a:endParaRPr lang="en-US" sz="1100"/>
          </a:p>
          <a:p>
            <a:pPr algn="ctr" marL="0" indent="0">
              <a:lnSpc>
                <a:spcPct val="125000"/>
              </a:lnSpc>
            </a:pPr>
            <a:r>
              <a:rPr lang="en-US" b="true" i="false" strike="noStrike" u="none" sz="1400">
                <a:solidFill>
                  <a:srgbClr val="FFFFFF"/>
                </a:solidFill>
                <a:latin typeface="Noto Sans SC"/>
                <a:ea typeface="Noto Sans SC"/>
                <a:cs typeface="Noto Sans SC"/>
                <a:sym typeface="Noto Sans SC"/>
              </a:rPr>
              <a:t>4项</a:t>
            </a:r>
          </a:p>
        </p:txBody>
      </p:sp>
      <p:sp>
        <p:nvSpPr>
          <p:cNvPr name="AutoShape 14" id="14"/>
          <p:cNvSpPr/>
          <p:nvPr/>
        </p:nvSpPr>
        <p:spPr>
          <a:xfrm rot="0" flipH="false" flipV="false">
            <a:off x="8382000" y="1778000"/>
            <a:ext cx="1524000" cy="635000"/>
          </a:xfrm>
          <a:prstGeom prst="roundRect">
            <a:avLst>
              <a:gd name="adj" fmla="val 0"/>
            </a:avLst>
          </a:prstGeom>
          <a:solidFill>
            <a:srgbClr val="2563E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8382000" y="1879600"/>
            <a:ext cx="1524000" cy="4445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400">
                <a:solidFill>
                  <a:srgbClr val="FFFFFF"/>
                </a:solidFill>
                <a:latin typeface="Noto Sans SC"/>
                <a:ea typeface="Noto Sans SC"/>
                <a:cs typeface="Noto Sans SC"/>
                <a:sym typeface="Noto Sans SC"/>
              </a:rPr>
              <a:t>界面测试</a:t>
            </a:r>
            <a:endParaRPr lang="en-US" sz="1100"/>
          </a:p>
          <a:p>
            <a:pPr algn="ctr" marL="0" indent="0">
              <a:lnSpc>
                <a:spcPct val="125000"/>
              </a:lnSpc>
            </a:pPr>
            <a:r>
              <a:rPr lang="en-US" b="true" i="false" strike="noStrike" u="none" sz="1400">
                <a:solidFill>
                  <a:srgbClr val="FFFFFF"/>
                </a:solidFill>
                <a:latin typeface="Noto Sans SC"/>
                <a:ea typeface="Noto Sans SC"/>
                <a:cs typeface="Noto Sans SC"/>
                <a:sym typeface="Noto Sans SC"/>
              </a:rPr>
              <a:t>4项</a:t>
            </a:r>
          </a:p>
        </p:txBody>
      </p:sp>
      <p:sp>
        <p:nvSpPr>
          <p:cNvPr name="AutoShape 16" id="16"/>
          <p:cNvSpPr/>
          <p:nvPr/>
        </p:nvSpPr>
        <p:spPr>
          <a:xfrm rot="0" flipH="false" flipV="false">
            <a:off x="10160000" y="1778000"/>
            <a:ext cx="1270000" cy="635000"/>
          </a:xfrm>
          <a:prstGeom prst="roundRect">
            <a:avLst>
              <a:gd name="adj" fmla="val 0"/>
            </a:avLst>
          </a:prstGeom>
          <a:solidFill>
            <a:srgbClr val="0D132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10160000" y="1879600"/>
            <a:ext cx="1270000" cy="4445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400">
                <a:solidFill>
                  <a:srgbClr val="FFFFFF"/>
                </a:solidFill>
                <a:latin typeface="Noto Sans SC"/>
                <a:ea typeface="Noto Sans SC"/>
                <a:cs typeface="Noto Sans SC"/>
                <a:sym typeface="Noto Sans SC"/>
              </a:rPr>
              <a:t>恢复测试</a:t>
            </a:r>
            <a:endParaRPr lang="en-US" sz="1100"/>
          </a:p>
          <a:p>
            <a:pPr algn="ctr" marL="0" indent="0">
              <a:lnSpc>
                <a:spcPct val="125000"/>
              </a:lnSpc>
            </a:pPr>
            <a:r>
              <a:rPr lang="en-US" b="true" i="false" strike="noStrike" u="none" sz="1400">
                <a:solidFill>
                  <a:srgbClr val="FFFFFF"/>
                </a:solidFill>
                <a:latin typeface="Noto Sans SC"/>
                <a:ea typeface="Noto Sans SC"/>
                <a:cs typeface="Noto Sans SC"/>
                <a:sym typeface="Noto Sans SC"/>
              </a:rPr>
              <a:t>2项</a:t>
            </a:r>
          </a:p>
        </p:txBody>
      </p:sp>
      <p:sp>
        <p:nvSpPr>
          <p:cNvPr name="AutoShape 18" id="18"/>
          <p:cNvSpPr/>
          <p:nvPr/>
        </p:nvSpPr>
        <p:spPr>
          <a:xfrm rot="0" flipH="false" flipV="false">
            <a:off x="508000" y="2921000"/>
            <a:ext cx="111760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0D1326"/>
                </a:solidFill>
                <a:latin typeface="Noto Sans SC"/>
                <a:ea typeface="Noto Sans SC"/>
                <a:cs typeface="Noto Sans SC"/>
                <a:sym typeface="Noto Sans SC"/>
              </a:rPr>
              <a:t>关键测试用例</a:t>
            </a:r>
            <a:endParaRPr lang="en-US" sz="1100"/>
          </a:p>
        </p:txBody>
      </p:sp>
      <p:cxnSp>
        <p:nvCxnSpPr>
          <p:cNvPr name="Connector 19" id="19"/>
          <p:cNvCxnSpPr/>
          <p:nvPr/>
        </p:nvCxnSpPr>
        <p:spPr>
          <a:xfrm rot="-42969" flipH="false" flipV="false">
            <a:off x="508040" y="3422650"/>
            <a:ext cx="1016000" cy="12700"/>
          </a:xfrm>
          <a:prstGeom prst="straightConnector1">
            <a:avLst/>
          </a:prstGeom>
          <a:solidFill>
            <a:srgbClr val="DEE0E3">
              <a:alpha val="100000"/>
            </a:srgbClr>
          </a:solidFill>
          <a:ln w="25400" cmpd="sng" cap="flat">
            <a:solidFill>
              <a:srgbClr val="2563EB">
                <a:alpha val="100000"/>
              </a:srgbClr>
            </a:solidFill>
            <a:prstDash val="solid"/>
            <a:round/>
            <a:headEnd type="none" w="lg" len="lg"/>
            <a:tailEnd type="none" w="lg" len="lg"/>
          </a:ln>
        </p:spPr>
      </p:cxnSp>
      <p:graphicFrame>
        <p:nvGraphicFramePr>
          <p:cNvPr name="Table 20" id="20"/>
          <p:cNvGraphicFramePr>
            <a:graphicFrameLocks noGrp="true"/>
          </p:cNvGraphicFramePr>
          <p:nvPr/>
        </p:nvGraphicFramePr>
        <p:xfrm>
          <a:off x="508000" y="3619500"/>
          <a:ext cx="11176000" cy="2540000"/>
        </p:xfrm>
        <a:graphic>
          <a:graphicData uri="http://schemas.openxmlformats.org/drawingml/2006/table">
            <a:tbl>
              <a:tblPr>
                <a:effectLst/>
              </a:tblPr>
              <a:tblGrid>
                <a:gridCol w="1016000"/>
                <a:gridCol w="1270000"/>
                <a:gridCol w="3810000"/>
                <a:gridCol w="3810000"/>
                <a:gridCol w="1270000"/>
              </a:tblGrid>
              <a:tr h="406400">
                <a:tc>
                  <a:txBody>
                    <a:bodyPr anchor="t" rtlCol="false"/>
                    <a:lstStyle/>
                    <a:p>
                      <a:pPr algn="ctr" marL="0" indent="0">
                        <a:lnSpc>
                          <a:spcPct val="100000"/>
                        </a:lnSpc>
                        <a:defRPr/>
                      </a:pPr>
                      <a:r>
                        <a:rPr lang="en-US" b="true" i="false" strike="noStrike" u="none" sz="1100">
                          <a:solidFill>
                            <a:srgbClr val="FFFFFF"/>
                          </a:solidFill>
                          <a:latin typeface="Noto Sans SC"/>
                          <a:ea typeface="Noto Sans SC"/>
                          <a:cs typeface="Noto Sans SC"/>
                          <a:sym typeface="Noto Sans SC"/>
                        </a:rPr>
                        <a:t>编号</a:t>
                      </a:r>
                      <a:endParaRPr lang="en-US" sz="1100"/>
                    </a:p>
                  </a:txBody>
                  <a:tcPr anchor="ctr" anchorCtr="false" marL="101600" marR="101600" marT="101600" marB="101600">
                    <a:lnL>
                      <a:noFill/>
                    </a:lnL>
                    <a:lnR>
                      <a:noFill/>
                    </a:lnR>
                    <a:lnT>
                      <a:noFill/>
                    </a:lnT>
                    <a:lnB>
                      <a:noFill/>
                    </a:lnB>
                    <a:solidFill>
                      <a:srgbClr val="0D1326">
                        <a:alpha val="100000"/>
                      </a:srgbClr>
                    </a:solidFill>
                  </a:tcPr>
                </a:tc>
                <a:tc>
                  <a:txBody>
                    <a:bodyPr anchor="t" rtlCol="false"/>
                    <a:lstStyle/>
                    <a:p>
                      <a:pPr algn="ctr" marL="0" indent="0">
                        <a:lnSpc>
                          <a:spcPct val="100000"/>
                        </a:lnSpc>
                        <a:defRPr/>
                      </a:pPr>
                      <a:r>
                        <a:rPr lang="en-US" b="true" i="false" strike="noStrike" u="none" sz="1100">
                          <a:solidFill>
                            <a:srgbClr val="FFFFFF"/>
                          </a:solidFill>
                          <a:latin typeface="Noto Sans SC"/>
                          <a:ea typeface="Noto Sans SC"/>
                          <a:cs typeface="Noto Sans SC"/>
                          <a:sym typeface="Noto Sans SC"/>
                        </a:rPr>
                        <a:t>类别</a:t>
                      </a:r>
                      <a:endParaRPr lang="en-US" sz="1100"/>
                    </a:p>
                  </a:txBody>
                  <a:tcPr anchor="ctr" anchorCtr="false" marL="101600" marR="101600" marT="101600" marB="101600">
                    <a:lnL>
                      <a:noFill/>
                    </a:lnL>
                    <a:lnR>
                      <a:noFill/>
                    </a:lnR>
                    <a:lnT>
                      <a:noFill/>
                    </a:lnT>
                    <a:lnB>
                      <a:noFill/>
                    </a:lnB>
                    <a:solidFill>
                      <a:srgbClr val="0D1326">
                        <a:alpha val="100000"/>
                      </a:srgbClr>
                    </a:solidFill>
                  </a:tcPr>
                </a:tc>
                <a:tc>
                  <a:txBody>
                    <a:bodyPr anchor="t" rtlCol="false"/>
                    <a:lstStyle/>
                    <a:p>
                      <a:pPr algn="ctr" marL="0" indent="0">
                        <a:lnSpc>
                          <a:spcPct val="100000"/>
                        </a:lnSpc>
                        <a:defRPr/>
                      </a:pPr>
                      <a:r>
                        <a:rPr lang="en-US" b="true" i="false" strike="noStrike" u="none" sz="1100">
                          <a:solidFill>
                            <a:srgbClr val="FFFFFF"/>
                          </a:solidFill>
                          <a:latin typeface="Noto Sans SC"/>
                          <a:ea typeface="Noto Sans SC"/>
                          <a:cs typeface="Noto Sans SC"/>
                          <a:sym typeface="Noto Sans SC"/>
                        </a:rPr>
                        <a:t>测试项</a:t>
                      </a:r>
                      <a:endParaRPr lang="en-US" sz="1100"/>
                    </a:p>
                  </a:txBody>
                  <a:tcPr anchor="ctr" anchorCtr="false" marL="101600" marR="101600" marT="101600" marB="101600">
                    <a:lnL>
                      <a:noFill/>
                    </a:lnL>
                    <a:lnR>
                      <a:noFill/>
                    </a:lnR>
                    <a:lnT>
                      <a:noFill/>
                    </a:lnT>
                    <a:lnB>
                      <a:noFill/>
                    </a:lnB>
                    <a:solidFill>
                      <a:srgbClr val="0D1326">
                        <a:alpha val="100000"/>
                      </a:srgbClr>
                    </a:solidFill>
                  </a:tcPr>
                </a:tc>
                <a:tc>
                  <a:txBody>
                    <a:bodyPr anchor="t" rtlCol="false"/>
                    <a:lstStyle/>
                    <a:p>
                      <a:pPr algn="ctr" marL="0" indent="0">
                        <a:lnSpc>
                          <a:spcPct val="100000"/>
                        </a:lnSpc>
                        <a:defRPr/>
                      </a:pPr>
                      <a:r>
                        <a:rPr lang="en-US" b="true" i="false" strike="noStrike" u="none" sz="1100">
                          <a:solidFill>
                            <a:srgbClr val="FFFFFF"/>
                          </a:solidFill>
                          <a:latin typeface="Noto Sans SC"/>
                          <a:ea typeface="Noto Sans SC"/>
                          <a:cs typeface="Noto Sans SC"/>
                          <a:sym typeface="Noto Sans SC"/>
                        </a:rPr>
                        <a:t>预期结果</a:t>
                      </a:r>
                      <a:endParaRPr lang="en-US" sz="1100"/>
                    </a:p>
                  </a:txBody>
                  <a:tcPr anchor="ctr" anchorCtr="false" marL="101600" marR="101600" marT="101600" marB="101600">
                    <a:lnL>
                      <a:noFill/>
                    </a:lnL>
                    <a:lnR>
                      <a:noFill/>
                    </a:lnR>
                    <a:lnT>
                      <a:noFill/>
                    </a:lnT>
                    <a:lnB>
                      <a:noFill/>
                    </a:lnB>
                    <a:solidFill>
                      <a:srgbClr val="0D1326">
                        <a:alpha val="100000"/>
                      </a:srgbClr>
                    </a:solidFill>
                  </a:tcPr>
                </a:tc>
                <a:tc>
                  <a:txBody>
                    <a:bodyPr anchor="t" rtlCol="false"/>
                    <a:lstStyle/>
                    <a:p>
                      <a:pPr algn="ctr" marL="0" indent="0">
                        <a:lnSpc>
                          <a:spcPct val="100000"/>
                        </a:lnSpc>
                        <a:defRPr/>
                      </a:pPr>
                      <a:r>
                        <a:rPr lang="en-US" b="true" i="false" strike="noStrike" u="none" sz="1100">
                          <a:solidFill>
                            <a:srgbClr val="FFFFFF"/>
                          </a:solidFill>
                          <a:latin typeface="Noto Sans SC"/>
                          <a:ea typeface="Noto Sans SC"/>
                          <a:cs typeface="Noto Sans SC"/>
                          <a:sym typeface="Noto Sans SC"/>
                        </a:rPr>
                        <a:t>状态</a:t>
                      </a:r>
                      <a:endParaRPr lang="en-US" sz="1100"/>
                    </a:p>
                  </a:txBody>
                  <a:tcPr anchor="ctr" anchorCtr="false" marL="101600" marR="101600" marT="101600" marB="101600">
                    <a:lnL>
                      <a:noFill/>
                    </a:lnL>
                    <a:lnR>
                      <a:noFill/>
                    </a:lnR>
                    <a:lnT>
                      <a:noFill/>
                    </a:lnT>
                    <a:lnB>
                      <a:noFill/>
                    </a:lnB>
                    <a:solidFill>
                      <a:srgbClr val="0D1326">
                        <a:alpha val="100000"/>
                      </a:srgbClr>
                    </a:solidFill>
                  </a:tcPr>
                </a:tc>
              </a:tr>
              <a:tr h="355600">
                <a:tc>
                  <a:txBody>
                    <a:bodyPr anchor="t" rtlCol="false"/>
                    <a:lstStyle/>
                    <a:p>
                      <a:pPr algn="ctr" marL="0" indent="0">
                        <a:lnSpc>
                          <a:spcPct val="100000"/>
                        </a:lnSpc>
                        <a:defRPr/>
                      </a:pPr>
                      <a:r>
                        <a:rPr lang="en-US" b="false" i="false" strike="noStrike" u="none" sz="1000">
                          <a:solidFill>
                            <a:srgbClr val="1F2329"/>
                          </a:solidFill>
                          <a:latin typeface="Noto Sans SC"/>
                          <a:ea typeface="Noto Sans SC"/>
                          <a:cs typeface="Noto Sans SC"/>
                          <a:sym typeface="Noto Sans SC"/>
                        </a:rPr>
                        <a:t>TC-F01</a:t>
                      </a:r>
                      <a:endParaRPr lang="en-US" sz="1100"/>
                    </a:p>
                  </a:txBody>
                  <a:tcPr anchor="ctr" anchorCtr="false" marL="101600" marR="101600" marT="101600" marB="101600">
                    <a:lnL>
                      <a:noFill/>
                    </a:lnL>
                    <a:lnR>
                      <a:noFill/>
                    </a:lnR>
                    <a:lnT>
                      <a:noFill/>
                    </a:lnT>
                    <a:lnB>
                      <a:noFill/>
                    </a:lnB>
                    <a:noFill/>
                  </a:tcPr>
                </a:tc>
                <a:tc>
                  <a:txBody>
                    <a:bodyPr anchor="t" rtlCol="false"/>
                    <a:lstStyle/>
                    <a:p>
                      <a:pPr algn="ctr" marL="0" indent="0">
                        <a:lnSpc>
                          <a:spcPct val="100000"/>
                        </a:lnSpc>
                        <a:defRPr/>
                      </a:pPr>
                      <a:r>
                        <a:rPr lang="en-US" b="false" i="false" strike="noStrike" u="none" sz="1000">
                          <a:solidFill>
                            <a:srgbClr val="1F2329"/>
                          </a:solidFill>
                          <a:latin typeface="Noto Sans SC"/>
                          <a:ea typeface="Noto Sans SC"/>
                          <a:cs typeface="Noto Sans SC"/>
                          <a:sym typeface="Noto Sans SC"/>
                        </a:rPr>
                        <a:t>功能</a:t>
                      </a:r>
                      <a:endParaRPr lang="en-US" sz="1100"/>
                    </a:p>
                  </a:txBody>
                  <a:tcPr anchor="ctr" anchorCtr="false" marL="101600" marR="101600" marT="101600" marB="101600">
                    <a:lnL>
                      <a:noFill/>
                    </a:lnL>
                    <a:lnR>
                      <a:noFill/>
                    </a:lnR>
                    <a:lnT>
                      <a:noFill/>
                    </a:lnT>
                    <a:lnB>
                      <a:noFill/>
                    </a:lnB>
                    <a:noFill/>
                  </a:tcPr>
                </a:tc>
                <a:tc>
                  <a:txBody>
                    <a:bodyPr anchor="t" rtlCol="false"/>
                    <a:lstStyle/>
                    <a:p>
                      <a:pPr algn="l" marL="0" indent="0">
                        <a:lnSpc>
                          <a:spcPct val="100000"/>
                        </a:lnSpc>
                        <a:defRPr/>
                      </a:pPr>
                      <a:r>
                        <a:rPr lang="en-US" b="false" i="false" strike="noStrike" u="none" sz="1000">
                          <a:solidFill>
                            <a:srgbClr val="1F2329"/>
                          </a:solidFill>
                          <a:latin typeface="Noto Sans SC"/>
                          <a:ea typeface="Noto Sans SC"/>
                          <a:cs typeface="Noto Sans SC"/>
                          <a:sym typeface="Noto Sans SC"/>
                        </a:rPr>
                        <a:t>首页文章列表</a:t>
                      </a:r>
                      <a:endParaRPr lang="en-US" sz="1100"/>
                    </a:p>
                  </a:txBody>
                  <a:tcPr anchor="ctr" anchorCtr="false" marL="101600" marR="101600" marT="101600" marB="101600">
                    <a:lnL>
                      <a:noFill/>
                    </a:lnL>
                    <a:lnR>
                      <a:noFill/>
                    </a:lnR>
                    <a:lnT>
                      <a:noFill/>
                    </a:lnT>
                    <a:lnB>
                      <a:noFill/>
                    </a:lnB>
                    <a:noFill/>
                  </a:tcPr>
                </a:tc>
                <a:tc>
                  <a:txBody>
                    <a:bodyPr anchor="t" rtlCol="false"/>
                    <a:lstStyle/>
                    <a:p>
                      <a:pPr algn="l" marL="0" indent="0">
                        <a:lnSpc>
                          <a:spcPct val="100000"/>
                        </a:lnSpc>
                        <a:defRPr/>
                      </a:pPr>
                      <a:r>
                        <a:rPr lang="en-US" b="false" i="false" strike="noStrike" u="none" sz="1000">
                          <a:solidFill>
                            <a:srgbClr val="1F2329"/>
                          </a:solidFill>
                          <a:latin typeface="Noto Sans SC"/>
                          <a:ea typeface="Noto Sans SC"/>
                          <a:cs typeface="Noto Sans SC"/>
                          <a:sym typeface="Noto Sans SC"/>
                        </a:rPr>
                        <a:t>显示8篇文章</a:t>
                      </a:r>
                      <a:endParaRPr lang="en-US" sz="1100"/>
                    </a:p>
                  </a:txBody>
                  <a:tcPr anchor="ctr" anchorCtr="false" marL="101600" marR="101600" marT="101600" marB="101600">
                    <a:lnL>
                      <a:noFill/>
                    </a:lnL>
                    <a:lnR>
                      <a:noFill/>
                    </a:lnR>
                    <a:lnT>
                      <a:noFill/>
                    </a:lnT>
                    <a:lnB>
                      <a:noFill/>
                    </a:lnB>
                    <a:noFill/>
                  </a:tcPr>
                </a:tc>
                <a:tc>
                  <a:txBody>
                    <a:bodyPr anchor="t" rtlCol="false"/>
                    <a:lstStyle/>
                    <a:p>
                      <a:pPr algn="ctr" marL="0" indent="0">
                        <a:lnSpc>
                          <a:spcPct val="100000"/>
                        </a:lnSpc>
                        <a:defRPr/>
                      </a:pPr>
                      <a:r>
                        <a:rPr lang="en-US" b="true" i="false" strike="noStrike" u="none" sz="1000">
                          <a:solidFill>
                            <a:srgbClr val="2563EB"/>
                          </a:solidFill>
                          <a:latin typeface="Noto Sans SC"/>
                          <a:ea typeface="Noto Sans SC"/>
                          <a:cs typeface="Noto Sans SC"/>
                          <a:sym typeface="Noto Sans SC"/>
                        </a:rPr>
                        <a:t>通过</a:t>
                      </a:r>
                      <a:endParaRPr lang="en-US" sz="1100"/>
                    </a:p>
                  </a:txBody>
                  <a:tcPr anchor="ctr" anchorCtr="false" marL="101600" marR="101600" marT="101600" marB="101600">
                    <a:lnL>
                      <a:noFill/>
                    </a:lnL>
                    <a:lnR>
                      <a:noFill/>
                    </a:lnR>
                    <a:lnT>
                      <a:noFill/>
                    </a:lnT>
                    <a:lnB>
                      <a:noFill/>
                    </a:lnB>
                    <a:noFill/>
                  </a:tcPr>
                </a:tc>
              </a:tr>
              <a:tr h="355600">
                <a:tc>
                  <a:txBody>
                    <a:bodyPr anchor="t" rtlCol="false"/>
                    <a:lstStyle/>
                    <a:p>
                      <a:pPr algn="ctr" marL="0" indent="0">
                        <a:lnSpc>
                          <a:spcPct val="100000"/>
                        </a:lnSpc>
                        <a:defRPr/>
                      </a:pPr>
                      <a:r>
                        <a:rPr lang="en-US" b="false" i="false" strike="noStrike" u="none" sz="1000">
                          <a:solidFill>
                            <a:srgbClr val="1F2329"/>
                          </a:solidFill>
                          <a:latin typeface="Noto Sans SC"/>
                          <a:ea typeface="Noto Sans SC"/>
                          <a:cs typeface="Noto Sans SC"/>
                          <a:sym typeface="Noto Sans SC"/>
                        </a:rPr>
                        <a:t>TC-F07</a:t>
                      </a:r>
                      <a:endParaRPr lang="en-US" sz="1100"/>
                    </a:p>
                  </a:txBody>
                  <a:tcPr anchor="ctr" anchorCtr="false" marL="101600" marR="101600" marT="101600" marB="101600">
                    <a:lnL>
                      <a:noFill/>
                    </a:lnL>
                    <a:lnR>
                      <a:noFill/>
                    </a:lnR>
                    <a:lnT>
                      <a:noFill/>
                    </a:lnT>
                    <a:lnB>
                      <a:noFill/>
                    </a:lnB>
                    <a:noFill/>
                  </a:tcPr>
                </a:tc>
                <a:tc>
                  <a:txBody>
                    <a:bodyPr anchor="t" rtlCol="false"/>
                    <a:lstStyle/>
                    <a:p>
                      <a:pPr algn="ctr" marL="0" indent="0">
                        <a:lnSpc>
                          <a:spcPct val="100000"/>
                        </a:lnSpc>
                        <a:defRPr/>
                      </a:pPr>
                      <a:r>
                        <a:rPr lang="en-US" b="false" i="false" strike="noStrike" u="none" sz="1000">
                          <a:solidFill>
                            <a:srgbClr val="1F2329"/>
                          </a:solidFill>
                          <a:latin typeface="Noto Sans SC"/>
                          <a:ea typeface="Noto Sans SC"/>
                          <a:cs typeface="Noto Sans SC"/>
                          <a:sym typeface="Noto Sans SC"/>
                        </a:rPr>
                        <a:t>功能</a:t>
                      </a:r>
                      <a:endParaRPr lang="en-US" sz="1100"/>
                    </a:p>
                  </a:txBody>
                  <a:tcPr anchor="ctr" anchorCtr="false" marL="101600" marR="101600" marT="101600" marB="101600">
                    <a:lnL>
                      <a:noFill/>
                    </a:lnL>
                    <a:lnR>
                      <a:noFill/>
                    </a:lnR>
                    <a:lnT>
                      <a:noFill/>
                    </a:lnT>
                    <a:lnB>
                      <a:noFill/>
                    </a:lnB>
                    <a:noFill/>
                  </a:tcPr>
                </a:tc>
                <a:tc>
                  <a:txBody>
                    <a:bodyPr anchor="t" rtlCol="false"/>
                    <a:lstStyle/>
                    <a:p>
                      <a:pPr algn="l" marL="0" indent="0">
                        <a:lnSpc>
                          <a:spcPct val="100000"/>
                        </a:lnSpc>
                        <a:defRPr/>
                      </a:pPr>
                      <a:r>
                        <a:rPr lang="en-US" b="false" i="false" strike="noStrike" u="none" sz="1000">
                          <a:solidFill>
                            <a:srgbClr val="1F2329"/>
                          </a:solidFill>
                          <a:latin typeface="Noto Sans SC"/>
                          <a:ea typeface="Noto Sans SC"/>
                          <a:cs typeface="Noto Sans SC"/>
                          <a:sym typeface="Noto Sans SC"/>
                        </a:rPr>
                        <a:t>相关文章推荐</a:t>
                      </a:r>
                      <a:endParaRPr lang="en-US" sz="1100"/>
                    </a:p>
                  </a:txBody>
                  <a:tcPr anchor="ctr" anchorCtr="false" marL="101600" marR="101600" marT="101600" marB="101600">
                    <a:lnL>
                      <a:noFill/>
                    </a:lnL>
                    <a:lnR>
                      <a:noFill/>
                    </a:lnR>
                    <a:lnT>
                      <a:noFill/>
                    </a:lnT>
                    <a:lnB>
                      <a:noFill/>
                    </a:lnB>
                    <a:noFill/>
                  </a:tcPr>
                </a:tc>
                <a:tc>
                  <a:txBody>
                    <a:bodyPr anchor="t" rtlCol="false"/>
                    <a:lstStyle/>
                    <a:p>
                      <a:pPr algn="l" marL="0" indent="0">
                        <a:lnSpc>
                          <a:spcPct val="100000"/>
                        </a:lnSpc>
                        <a:defRPr/>
                      </a:pPr>
                      <a:r>
                        <a:rPr lang="en-US" b="false" i="false" strike="noStrike" u="none" sz="1000">
                          <a:solidFill>
                            <a:srgbClr val="1F2329"/>
                          </a:solidFill>
                          <a:latin typeface="Noto Sans SC"/>
                          <a:ea typeface="Noto Sans SC"/>
                          <a:cs typeface="Noto Sans SC"/>
                          <a:sym typeface="Noto Sans SC"/>
                        </a:rPr>
                        <a:t>详情页显示3篇推荐</a:t>
                      </a:r>
                      <a:endParaRPr lang="en-US" sz="1100"/>
                    </a:p>
                  </a:txBody>
                  <a:tcPr anchor="ctr" anchorCtr="false" marL="101600" marR="101600" marT="101600" marB="101600">
                    <a:lnL>
                      <a:noFill/>
                    </a:lnL>
                    <a:lnR>
                      <a:noFill/>
                    </a:lnR>
                    <a:lnT>
                      <a:noFill/>
                    </a:lnT>
                    <a:lnB>
                      <a:noFill/>
                    </a:lnB>
                    <a:noFill/>
                  </a:tcPr>
                </a:tc>
                <a:tc>
                  <a:txBody>
                    <a:bodyPr anchor="t" rtlCol="false"/>
                    <a:lstStyle/>
                    <a:p>
                      <a:pPr algn="ctr" marL="0" indent="0">
                        <a:lnSpc>
                          <a:spcPct val="100000"/>
                        </a:lnSpc>
                        <a:defRPr/>
                      </a:pPr>
                      <a:r>
                        <a:rPr lang="en-US" b="true" i="false" strike="noStrike" u="none" sz="1000">
                          <a:solidFill>
                            <a:srgbClr val="2563EB"/>
                          </a:solidFill>
                          <a:latin typeface="Noto Sans SC"/>
                          <a:ea typeface="Noto Sans SC"/>
                          <a:cs typeface="Noto Sans SC"/>
                          <a:sym typeface="Noto Sans SC"/>
                        </a:rPr>
                        <a:t>通过</a:t>
                      </a:r>
                      <a:endParaRPr lang="en-US" sz="1100"/>
                    </a:p>
                  </a:txBody>
                  <a:tcPr anchor="ctr" anchorCtr="false" marL="101600" marR="101600" marT="101600" marB="101600">
                    <a:lnL>
                      <a:noFill/>
                    </a:lnL>
                    <a:lnR>
                      <a:noFill/>
                    </a:lnR>
                    <a:lnT>
                      <a:noFill/>
                    </a:lnT>
                    <a:lnB>
                      <a:noFill/>
                    </a:lnB>
                    <a:noFill/>
                  </a:tcPr>
                </a:tc>
              </a:tr>
              <a:tr h="355600">
                <a:tc>
                  <a:txBody>
                    <a:bodyPr anchor="t" rtlCol="false"/>
                    <a:lstStyle/>
                    <a:p>
                      <a:pPr algn="ctr" marL="0" indent="0">
                        <a:lnSpc>
                          <a:spcPct val="100000"/>
                        </a:lnSpc>
                        <a:defRPr/>
                      </a:pPr>
                      <a:r>
                        <a:rPr lang="en-US" b="false" i="false" strike="noStrike" u="none" sz="1000">
                          <a:solidFill>
                            <a:srgbClr val="1F2329"/>
                          </a:solidFill>
                          <a:latin typeface="Noto Sans SC"/>
                          <a:ea typeface="Noto Sans SC"/>
                          <a:cs typeface="Noto Sans SC"/>
                          <a:sym typeface="Noto Sans SC"/>
                        </a:rPr>
                        <a:t>TC-F08</a:t>
                      </a:r>
                      <a:endParaRPr lang="en-US" sz="1100"/>
                    </a:p>
                  </a:txBody>
                  <a:tcPr anchor="ctr" anchorCtr="false" marL="101600" marR="101600" marT="101600" marB="101600">
                    <a:lnL>
                      <a:noFill/>
                    </a:lnL>
                    <a:lnR>
                      <a:noFill/>
                    </a:lnR>
                    <a:lnT>
                      <a:noFill/>
                    </a:lnT>
                    <a:lnB>
                      <a:noFill/>
                    </a:lnB>
                    <a:noFill/>
                  </a:tcPr>
                </a:tc>
                <a:tc>
                  <a:txBody>
                    <a:bodyPr anchor="t" rtlCol="false"/>
                    <a:lstStyle/>
                    <a:p>
                      <a:pPr algn="ctr" marL="0" indent="0">
                        <a:lnSpc>
                          <a:spcPct val="100000"/>
                        </a:lnSpc>
                        <a:defRPr/>
                      </a:pPr>
                      <a:r>
                        <a:rPr lang="en-US" b="false" i="false" strike="noStrike" u="none" sz="1000">
                          <a:solidFill>
                            <a:srgbClr val="1F2329"/>
                          </a:solidFill>
                          <a:latin typeface="Noto Sans SC"/>
                          <a:ea typeface="Noto Sans SC"/>
                          <a:cs typeface="Noto Sans SC"/>
                          <a:sym typeface="Noto Sans SC"/>
                        </a:rPr>
                        <a:t>功能</a:t>
                      </a:r>
                      <a:endParaRPr lang="en-US" sz="1100"/>
                    </a:p>
                  </a:txBody>
                  <a:tcPr anchor="ctr" anchorCtr="false" marL="101600" marR="101600" marT="101600" marB="101600">
                    <a:lnL>
                      <a:noFill/>
                    </a:lnL>
                    <a:lnR>
                      <a:noFill/>
                    </a:lnR>
                    <a:lnT>
                      <a:noFill/>
                    </a:lnT>
                    <a:lnB>
                      <a:noFill/>
                    </a:lnB>
                    <a:noFill/>
                  </a:tcPr>
                </a:tc>
                <a:tc>
                  <a:txBody>
                    <a:bodyPr anchor="t" rtlCol="false"/>
                    <a:lstStyle/>
                    <a:p>
                      <a:pPr algn="l" marL="0" indent="0">
                        <a:lnSpc>
                          <a:spcPct val="100000"/>
                        </a:lnSpc>
                        <a:defRPr/>
                      </a:pPr>
                      <a:r>
                        <a:rPr lang="en-US" b="false" i="false" strike="noStrike" u="none" sz="1000">
                          <a:solidFill>
                            <a:srgbClr val="1F2329"/>
                          </a:solidFill>
                          <a:latin typeface="Noto Sans SC"/>
                          <a:ea typeface="Noto Sans SC"/>
                          <a:cs typeface="Noto Sans SC"/>
                          <a:sym typeface="Noto Sans SC"/>
                        </a:rPr>
                        <a:t>阅读进度条</a:t>
                      </a:r>
                      <a:endParaRPr lang="en-US" sz="1100"/>
                    </a:p>
                  </a:txBody>
                  <a:tcPr anchor="ctr" anchorCtr="false" marL="101600" marR="101600" marT="101600" marB="101600">
                    <a:lnL>
                      <a:noFill/>
                    </a:lnL>
                    <a:lnR>
                      <a:noFill/>
                    </a:lnR>
                    <a:lnT>
                      <a:noFill/>
                    </a:lnT>
                    <a:lnB>
                      <a:noFill/>
                    </a:lnB>
                    <a:noFill/>
                  </a:tcPr>
                </a:tc>
                <a:tc>
                  <a:txBody>
                    <a:bodyPr anchor="t" rtlCol="false"/>
                    <a:lstStyle/>
                    <a:p>
                      <a:pPr algn="l" marL="0" indent="0">
                        <a:lnSpc>
                          <a:spcPct val="100000"/>
                        </a:lnSpc>
                        <a:defRPr/>
                      </a:pPr>
                      <a:r>
                        <a:rPr lang="en-US" b="false" i="false" strike="noStrike" u="none" sz="1000">
                          <a:solidFill>
                            <a:srgbClr val="1F2329"/>
                          </a:solidFill>
                          <a:latin typeface="Noto Sans SC"/>
                          <a:ea typeface="Noto Sans SC"/>
                          <a:cs typeface="Noto Sans SC"/>
                          <a:sym typeface="Noto Sans SC"/>
                        </a:rPr>
                        <a:t>随滚动实时更新</a:t>
                      </a:r>
                      <a:endParaRPr lang="en-US" sz="1100"/>
                    </a:p>
                  </a:txBody>
                  <a:tcPr anchor="ctr" anchorCtr="false" marL="101600" marR="101600" marT="101600" marB="101600">
                    <a:lnL>
                      <a:noFill/>
                    </a:lnL>
                    <a:lnR>
                      <a:noFill/>
                    </a:lnR>
                    <a:lnT>
                      <a:noFill/>
                    </a:lnT>
                    <a:lnB>
                      <a:noFill/>
                    </a:lnB>
                    <a:noFill/>
                  </a:tcPr>
                </a:tc>
                <a:tc>
                  <a:txBody>
                    <a:bodyPr anchor="t" rtlCol="false"/>
                    <a:lstStyle/>
                    <a:p>
                      <a:pPr algn="ctr" marL="0" indent="0">
                        <a:lnSpc>
                          <a:spcPct val="100000"/>
                        </a:lnSpc>
                        <a:defRPr/>
                      </a:pPr>
                      <a:r>
                        <a:rPr lang="en-US" b="true" i="false" strike="noStrike" u="none" sz="1000">
                          <a:solidFill>
                            <a:srgbClr val="2563EB"/>
                          </a:solidFill>
                          <a:latin typeface="Noto Sans SC"/>
                          <a:ea typeface="Noto Sans SC"/>
                          <a:cs typeface="Noto Sans SC"/>
                          <a:sym typeface="Noto Sans SC"/>
                        </a:rPr>
                        <a:t>通过</a:t>
                      </a:r>
                      <a:endParaRPr lang="en-US" sz="1100"/>
                    </a:p>
                  </a:txBody>
                  <a:tcPr anchor="ctr" anchorCtr="false" marL="101600" marR="101600" marT="101600" marB="101600">
                    <a:lnL>
                      <a:noFill/>
                    </a:lnL>
                    <a:lnR>
                      <a:noFill/>
                    </a:lnR>
                    <a:lnT>
                      <a:noFill/>
                    </a:lnT>
                    <a:lnB>
                      <a:noFill/>
                    </a:lnB>
                    <a:noFill/>
                  </a:tcPr>
                </a:tc>
              </a:tr>
              <a:tr h="355600">
                <a:tc>
                  <a:txBody>
                    <a:bodyPr anchor="t" rtlCol="false"/>
                    <a:lstStyle/>
                    <a:p>
                      <a:pPr algn="ctr" marL="0" indent="0">
                        <a:lnSpc>
                          <a:spcPct val="100000"/>
                        </a:lnSpc>
                        <a:defRPr/>
                      </a:pPr>
                      <a:r>
                        <a:rPr lang="en-US" b="false" i="false" strike="noStrike" u="none" sz="1000">
                          <a:solidFill>
                            <a:srgbClr val="1F2329"/>
                          </a:solidFill>
                          <a:latin typeface="Noto Sans SC"/>
                          <a:ea typeface="Noto Sans SC"/>
                          <a:cs typeface="Noto Sans SC"/>
                          <a:sym typeface="Noto Sans SC"/>
                        </a:rPr>
                        <a:t>TC-P02</a:t>
                      </a:r>
                      <a:endParaRPr lang="en-US" sz="1100"/>
                    </a:p>
                  </a:txBody>
                  <a:tcPr anchor="ctr" anchorCtr="false" marL="101600" marR="101600" marT="101600" marB="101600">
                    <a:lnL>
                      <a:noFill/>
                    </a:lnL>
                    <a:lnR>
                      <a:noFill/>
                    </a:lnR>
                    <a:lnT>
                      <a:noFill/>
                    </a:lnT>
                    <a:lnB>
                      <a:noFill/>
                    </a:lnB>
                    <a:noFill/>
                  </a:tcPr>
                </a:tc>
                <a:tc>
                  <a:txBody>
                    <a:bodyPr anchor="t" rtlCol="false"/>
                    <a:lstStyle/>
                    <a:p>
                      <a:pPr algn="ctr" marL="0" indent="0">
                        <a:lnSpc>
                          <a:spcPct val="100000"/>
                        </a:lnSpc>
                        <a:defRPr/>
                      </a:pPr>
                      <a:r>
                        <a:rPr lang="en-US" b="false" i="false" strike="noStrike" u="none" sz="1000">
                          <a:solidFill>
                            <a:srgbClr val="1F2329"/>
                          </a:solidFill>
                          <a:latin typeface="Noto Sans SC"/>
                          <a:ea typeface="Noto Sans SC"/>
                          <a:cs typeface="Noto Sans SC"/>
                          <a:sym typeface="Noto Sans SC"/>
                        </a:rPr>
                        <a:t>权限</a:t>
                      </a:r>
                      <a:endParaRPr lang="en-US" sz="1100"/>
                    </a:p>
                  </a:txBody>
                  <a:tcPr anchor="ctr" anchorCtr="false" marL="101600" marR="101600" marT="101600" marB="101600">
                    <a:lnL>
                      <a:noFill/>
                    </a:lnL>
                    <a:lnR>
                      <a:noFill/>
                    </a:lnR>
                    <a:lnT>
                      <a:noFill/>
                    </a:lnT>
                    <a:lnB>
                      <a:noFill/>
                    </a:lnB>
                    <a:noFill/>
                  </a:tcPr>
                </a:tc>
                <a:tc>
                  <a:txBody>
                    <a:bodyPr anchor="t" rtlCol="false"/>
                    <a:lstStyle/>
                    <a:p>
                      <a:pPr algn="l" marL="0" indent="0">
                        <a:lnSpc>
                          <a:spcPct val="100000"/>
                        </a:lnSpc>
                        <a:defRPr/>
                      </a:pPr>
                      <a:r>
                        <a:rPr lang="en-US" b="false" i="false" strike="noStrike" u="none" sz="1000">
                          <a:solidFill>
                            <a:srgbClr val="1F2329"/>
                          </a:solidFill>
                          <a:latin typeface="Noto Sans SC"/>
                          <a:ea typeface="Noto Sans SC"/>
                          <a:cs typeface="Noto Sans SC"/>
                          <a:sym typeface="Noto Sans SC"/>
                        </a:rPr>
                        <a:t>未登录用户限制</a:t>
                      </a:r>
                      <a:endParaRPr lang="en-US" sz="1100"/>
                    </a:p>
                  </a:txBody>
                  <a:tcPr anchor="ctr" anchorCtr="false" marL="101600" marR="101600" marT="101600" marB="101600">
                    <a:lnL>
                      <a:noFill/>
                    </a:lnL>
                    <a:lnR>
                      <a:noFill/>
                    </a:lnR>
                    <a:lnT>
                      <a:noFill/>
                    </a:lnT>
                    <a:lnB>
                      <a:noFill/>
                    </a:lnB>
                    <a:noFill/>
                  </a:tcPr>
                </a:tc>
                <a:tc>
                  <a:txBody>
                    <a:bodyPr anchor="t" rtlCol="false"/>
                    <a:lstStyle/>
                    <a:p>
                      <a:pPr algn="l" marL="0" indent="0">
                        <a:lnSpc>
                          <a:spcPct val="100000"/>
                        </a:lnSpc>
                        <a:defRPr/>
                      </a:pPr>
                      <a:r>
                        <a:rPr lang="en-US" b="false" i="false" strike="noStrike" u="none" sz="1000">
                          <a:solidFill>
                            <a:srgbClr val="1F2329"/>
                          </a:solidFill>
                          <a:latin typeface="Noto Sans SC"/>
                          <a:ea typeface="Noto Sans SC"/>
                          <a:cs typeface="Noto Sans SC"/>
                          <a:sym typeface="Noto Sans SC"/>
                        </a:rPr>
                        <a:t>管理API返回401</a:t>
                      </a:r>
                      <a:endParaRPr lang="en-US" sz="1100"/>
                    </a:p>
                  </a:txBody>
                  <a:tcPr anchor="ctr" anchorCtr="false" marL="101600" marR="101600" marT="101600" marB="101600">
                    <a:lnL>
                      <a:noFill/>
                    </a:lnL>
                    <a:lnR>
                      <a:noFill/>
                    </a:lnR>
                    <a:lnT>
                      <a:noFill/>
                    </a:lnT>
                    <a:lnB>
                      <a:noFill/>
                    </a:lnB>
                    <a:noFill/>
                  </a:tcPr>
                </a:tc>
                <a:tc>
                  <a:txBody>
                    <a:bodyPr anchor="t" rtlCol="false"/>
                    <a:lstStyle/>
                    <a:p>
                      <a:pPr algn="ctr" marL="0" indent="0">
                        <a:lnSpc>
                          <a:spcPct val="100000"/>
                        </a:lnSpc>
                        <a:defRPr/>
                      </a:pPr>
                      <a:r>
                        <a:rPr lang="en-US" b="true" i="false" strike="noStrike" u="none" sz="1000">
                          <a:solidFill>
                            <a:srgbClr val="2563EB"/>
                          </a:solidFill>
                          <a:latin typeface="Noto Sans SC"/>
                          <a:ea typeface="Noto Sans SC"/>
                          <a:cs typeface="Noto Sans SC"/>
                          <a:sym typeface="Noto Sans SC"/>
                        </a:rPr>
                        <a:t>通过</a:t>
                      </a:r>
                      <a:endParaRPr lang="en-US" sz="1100"/>
                    </a:p>
                  </a:txBody>
                  <a:tcPr anchor="ctr" anchorCtr="false" marL="101600" marR="101600" marT="101600" marB="101600">
                    <a:lnL>
                      <a:noFill/>
                    </a:lnL>
                    <a:lnR>
                      <a:noFill/>
                    </a:lnR>
                    <a:lnT>
                      <a:noFill/>
                    </a:lnT>
                    <a:lnB>
                      <a:noFill/>
                    </a:lnB>
                    <a:noFill/>
                  </a:tcPr>
                </a:tc>
              </a:tr>
              <a:tr h="355600">
                <a:tc>
                  <a:txBody>
                    <a:bodyPr anchor="t" rtlCol="false"/>
                    <a:lstStyle/>
                    <a:p>
                      <a:pPr algn="ctr" marL="0" indent="0">
                        <a:lnSpc>
                          <a:spcPct val="100000"/>
                        </a:lnSpc>
                        <a:defRPr/>
                      </a:pPr>
                      <a:r>
                        <a:rPr lang="en-US" b="false" i="false" strike="noStrike" u="none" sz="1000">
                          <a:solidFill>
                            <a:srgbClr val="1F2329"/>
                          </a:solidFill>
                          <a:latin typeface="Noto Sans SC"/>
                          <a:ea typeface="Noto Sans SC"/>
                          <a:cs typeface="Noto Sans SC"/>
                          <a:sym typeface="Noto Sans SC"/>
                        </a:rPr>
                        <a:t>TC-U03</a:t>
                      </a:r>
                      <a:endParaRPr lang="en-US" sz="1100"/>
                    </a:p>
                  </a:txBody>
                  <a:tcPr anchor="ctr" anchorCtr="false" marL="101600" marR="101600" marT="101600" marB="101600">
                    <a:lnL>
                      <a:noFill/>
                    </a:lnL>
                    <a:lnR>
                      <a:noFill/>
                    </a:lnR>
                    <a:lnT>
                      <a:noFill/>
                    </a:lnT>
                    <a:lnB>
                      <a:noFill/>
                    </a:lnB>
                    <a:noFill/>
                  </a:tcPr>
                </a:tc>
                <a:tc>
                  <a:txBody>
                    <a:bodyPr anchor="t" rtlCol="false"/>
                    <a:lstStyle/>
                    <a:p>
                      <a:pPr algn="ctr" marL="0" indent="0">
                        <a:lnSpc>
                          <a:spcPct val="100000"/>
                        </a:lnSpc>
                        <a:defRPr/>
                      </a:pPr>
                      <a:r>
                        <a:rPr lang="en-US" b="false" i="false" strike="noStrike" u="none" sz="1000">
                          <a:solidFill>
                            <a:srgbClr val="1F2329"/>
                          </a:solidFill>
                          <a:latin typeface="Noto Sans SC"/>
                          <a:ea typeface="Noto Sans SC"/>
                          <a:cs typeface="Noto Sans SC"/>
                          <a:sym typeface="Noto Sans SC"/>
                        </a:rPr>
                        <a:t>界面</a:t>
                      </a:r>
                      <a:endParaRPr lang="en-US" sz="1100"/>
                    </a:p>
                  </a:txBody>
                  <a:tcPr anchor="ctr" anchorCtr="false" marL="101600" marR="101600" marT="101600" marB="101600">
                    <a:lnL>
                      <a:noFill/>
                    </a:lnL>
                    <a:lnR>
                      <a:noFill/>
                    </a:lnR>
                    <a:lnT>
                      <a:noFill/>
                    </a:lnT>
                    <a:lnB>
                      <a:noFill/>
                    </a:lnB>
                    <a:noFill/>
                  </a:tcPr>
                </a:tc>
                <a:tc>
                  <a:txBody>
                    <a:bodyPr anchor="t" rtlCol="false"/>
                    <a:lstStyle/>
                    <a:p>
                      <a:pPr algn="l" marL="0" indent="0">
                        <a:lnSpc>
                          <a:spcPct val="100000"/>
                        </a:lnSpc>
                        <a:defRPr/>
                      </a:pPr>
                      <a:r>
                        <a:rPr lang="en-US" b="false" i="false" strike="noStrike" u="none" sz="1000">
                          <a:solidFill>
                            <a:srgbClr val="1F2329"/>
                          </a:solidFill>
                          <a:latin typeface="Noto Sans SC"/>
                          <a:ea typeface="Noto Sans SC"/>
                          <a:cs typeface="Noto Sans SC"/>
                          <a:sym typeface="Noto Sans SC"/>
                        </a:rPr>
                        <a:t>自定义404页面</a:t>
                      </a:r>
                      <a:endParaRPr lang="en-US" sz="1100"/>
                    </a:p>
                  </a:txBody>
                  <a:tcPr anchor="ctr" anchorCtr="false" marL="101600" marR="101600" marT="101600" marB="101600">
                    <a:lnL>
                      <a:noFill/>
                    </a:lnL>
                    <a:lnR>
                      <a:noFill/>
                    </a:lnR>
                    <a:lnT>
                      <a:noFill/>
                    </a:lnT>
                    <a:lnB>
                      <a:noFill/>
                    </a:lnB>
                    <a:noFill/>
                  </a:tcPr>
                </a:tc>
                <a:tc>
                  <a:txBody>
                    <a:bodyPr anchor="t" rtlCol="false"/>
                    <a:lstStyle/>
                    <a:p>
                      <a:pPr algn="l" marL="0" indent="0">
                        <a:lnSpc>
                          <a:spcPct val="100000"/>
                        </a:lnSpc>
                        <a:defRPr/>
                      </a:pPr>
                      <a:r>
                        <a:rPr lang="en-US" b="false" i="false" strike="noStrike" u="none" sz="1000">
                          <a:solidFill>
                            <a:srgbClr val="1F2329"/>
                          </a:solidFill>
                          <a:latin typeface="Noto Sans SC"/>
                          <a:ea typeface="Noto Sans SC"/>
                          <a:cs typeface="Noto Sans SC"/>
                          <a:sym typeface="Noto Sans SC"/>
                        </a:rPr>
                        <a:t>返回404，中文提示</a:t>
                      </a:r>
                      <a:endParaRPr lang="en-US" sz="1100"/>
                    </a:p>
                  </a:txBody>
                  <a:tcPr anchor="ctr" anchorCtr="false" marL="101600" marR="101600" marT="101600" marB="101600">
                    <a:lnL>
                      <a:noFill/>
                    </a:lnL>
                    <a:lnR>
                      <a:noFill/>
                    </a:lnR>
                    <a:lnT>
                      <a:noFill/>
                    </a:lnT>
                    <a:lnB>
                      <a:noFill/>
                    </a:lnB>
                    <a:noFill/>
                  </a:tcPr>
                </a:tc>
                <a:tc>
                  <a:txBody>
                    <a:bodyPr anchor="t" rtlCol="false"/>
                    <a:lstStyle/>
                    <a:p>
                      <a:pPr algn="ctr" marL="0" indent="0">
                        <a:lnSpc>
                          <a:spcPct val="100000"/>
                        </a:lnSpc>
                        <a:defRPr/>
                      </a:pPr>
                      <a:r>
                        <a:rPr lang="en-US" b="true" i="false" strike="noStrike" u="none" sz="1000">
                          <a:solidFill>
                            <a:srgbClr val="2563EB"/>
                          </a:solidFill>
                          <a:latin typeface="Noto Sans SC"/>
                          <a:ea typeface="Noto Sans SC"/>
                          <a:cs typeface="Noto Sans SC"/>
                          <a:sym typeface="Noto Sans SC"/>
                        </a:rPr>
                        <a:t>通过</a:t>
                      </a:r>
                      <a:endParaRPr lang="en-US" sz="1100"/>
                    </a:p>
                  </a:txBody>
                  <a:tcPr anchor="ctr" anchorCtr="false" marL="101600" marR="101600" marT="101600" marB="101600">
                    <a:lnL>
                      <a:noFill/>
                    </a:lnL>
                    <a:lnR>
                      <a:noFill/>
                    </a:lnR>
                    <a:lnT>
                      <a:noFill/>
                    </a:lnT>
                    <a:lnB>
                      <a:noFill/>
                    </a:lnB>
                    <a:noFill/>
                  </a:tcPr>
                </a:tc>
              </a:tr>
              <a:tr h="355600">
                <a:tc>
                  <a:txBody>
                    <a:bodyPr anchor="t" rtlCol="false"/>
                    <a:lstStyle/>
                    <a:p>
                      <a:pPr algn="ctr" marL="0" indent="0">
                        <a:lnSpc>
                          <a:spcPct val="100000"/>
                        </a:lnSpc>
                        <a:defRPr/>
                      </a:pPr>
                      <a:r>
                        <a:rPr lang="en-US" b="false" i="false" strike="noStrike" u="none" sz="1000">
                          <a:solidFill>
                            <a:srgbClr val="1F2329"/>
                          </a:solidFill>
                          <a:latin typeface="Noto Sans SC"/>
                          <a:ea typeface="Noto Sans SC"/>
                          <a:cs typeface="Noto Sans SC"/>
                          <a:sym typeface="Noto Sans SC"/>
                        </a:rPr>
                        <a:t>TC-R01</a:t>
                      </a:r>
                      <a:endParaRPr lang="en-US" sz="1100"/>
                    </a:p>
                  </a:txBody>
                  <a:tcPr anchor="ctr" anchorCtr="false" marL="101600" marR="101600" marT="101600" marB="101600">
                    <a:lnL>
                      <a:noFill/>
                    </a:lnL>
                    <a:lnR>
                      <a:noFill/>
                    </a:lnR>
                    <a:lnT>
                      <a:noFill/>
                    </a:lnT>
                    <a:lnB>
                      <a:noFill/>
                    </a:lnB>
                    <a:noFill/>
                  </a:tcPr>
                </a:tc>
                <a:tc>
                  <a:txBody>
                    <a:bodyPr anchor="t" rtlCol="false"/>
                    <a:lstStyle/>
                    <a:p>
                      <a:pPr algn="ctr" marL="0" indent="0">
                        <a:lnSpc>
                          <a:spcPct val="100000"/>
                        </a:lnSpc>
                        <a:defRPr/>
                      </a:pPr>
                      <a:r>
                        <a:rPr lang="en-US" b="false" i="false" strike="noStrike" u="none" sz="1000">
                          <a:solidFill>
                            <a:srgbClr val="1F2329"/>
                          </a:solidFill>
                          <a:latin typeface="Noto Sans SC"/>
                          <a:ea typeface="Noto Sans SC"/>
                          <a:cs typeface="Noto Sans SC"/>
                          <a:sym typeface="Noto Sans SC"/>
                        </a:rPr>
                        <a:t>恢复</a:t>
                      </a:r>
                      <a:endParaRPr lang="en-US" sz="1100"/>
                    </a:p>
                  </a:txBody>
                  <a:tcPr anchor="ctr" anchorCtr="false" marL="101600" marR="101600" marT="101600" marB="101600">
                    <a:lnL>
                      <a:noFill/>
                    </a:lnL>
                    <a:lnR>
                      <a:noFill/>
                    </a:lnR>
                    <a:lnT>
                      <a:noFill/>
                    </a:lnT>
                    <a:lnB>
                      <a:noFill/>
                    </a:lnB>
                    <a:noFill/>
                  </a:tcPr>
                </a:tc>
                <a:tc>
                  <a:txBody>
                    <a:bodyPr anchor="t" rtlCol="false"/>
                    <a:lstStyle/>
                    <a:p>
                      <a:pPr algn="l" marL="0" indent="0">
                        <a:lnSpc>
                          <a:spcPct val="100000"/>
                        </a:lnSpc>
                        <a:defRPr/>
                      </a:pPr>
                      <a:r>
                        <a:rPr lang="en-US" b="false" i="false" strike="noStrike" u="none" sz="1000">
                          <a:solidFill>
                            <a:srgbClr val="1F2329"/>
                          </a:solidFill>
                          <a:latin typeface="Noto Sans SC"/>
                          <a:ea typeface="Noto Sans SC"/>
                          <a:cs typeface="Noto Sans SC"/>
                          <a:sym typeface="Noto Sans SC"/>
                        </a:rPr>
                        <a:t>数据库备份</a:t>
                      </a:r>
                      <a:endParaRPr lang="en-US" sz="1100"/>
                    </a:p>
                  </a:txBody>
                  <a:tcPr anchor="ctr" anchorCtr="false" marL="101600" marR="101600" marT="101600" marB="101600">
                    <a:lnL>
                      <a:noFill/>
                    </a:lnL>
                    <a:lnR>
                      <a:noFill/>
                    </a:lnR>
                    <a:lnT>
                      <a:noFill/>
                    </a:lnT>
                    <a:lnB>
                      <a:noFill/>
                    </a:lnB>
                    <a:noFill/>
                  </a:tcPr>
                </a:tc>
                <a:tc>
                  <a:txBody>
                    <a:bodyPr anchor="t" rtlCol="false"/>
                    <a:lstStyle/>
                    <a:p>
                      <a:pPr algn="l" marL="0" indent="0">
                        <a:lnSpc>
                          <a:spcPct val="100000"/>
                        </a:lnSpc>
                        <a:defRPr/>
                      </a:pPr>
                      <a:r>
                        <a:rPr lang="en-US" b="false" i="false" strike="noStrike" u="none" sz="1000">
                          <a:solidFill>
                            <a:srgbClr val="1F2329"/>
                          </a:solidFill>
                          <a:latin typeface="Noto Sans SC"/>
                          <a:ea typeface="Noto Sans SC"/>
                          <a:cs typeface="Noto Sans SC"/>
                          <a:sym typeface="Noto Sans SC"/>
                        </a:rPr>
                        <a:t>备份文件创建成功</a:t>
                      </a:r>
                      <a:endParaRPr lang="en-US" sz="1100"/>
                    </a:p>
                  </a:txBody>
                  <a:tcPr anchor="ctr" anchorCtr="false" marL="101600" marR="101600" marT="101600" marB="101600">
                    <a:lnL>
                      <a:noFill/>
                    </a:lnL>
                    <a:lnR>
                      <a:noFill/>
                    </a:lnR>
                    <a:lnT>
                      <a:noFill/>
                    </a:lnT>
                    <a:lnB>
                      <a:noFill/>
                    </a:lnB>
                    <a:noFill/>
                  </a:tcPr>
                </a:tc>
                <a:tc>
                  <a:txBody>
                    <a:bodyPr anchor="t" rtlCol="false"/>
                    <a:lstStyle/>
                    <a:p>
                      <a:pPr algn="ctr" marL="0" indent="0">
                        <a:lnSpc>
                          <a:spcPct val="100000"/>
                        </a:lnSpc>
                        <a:defRPr/>
                      </a:pPr>
                      <a:r>
                        <a:rPr lang="en-US" b="true" i="false" strike="noStrike" u="none" sz="1000">
                          <a:solidFill>
                            <a:srgbClr val="2563EB"/>
                          </a:solidFill>
                          <a:latin typeface="Noto Sans SC"/>
                          <a:ea typeface="Noto Sans SC"/>
                          <a:cs typeface="Noto Sans SC"/>
                          <a:sym typeface="Noto Sans SC"/>
                        </a:rPr>
                        <a:t>通过</a:t>
                      </a:r>
                      <a:endParaRPr lang="en-US" sz="1100"/>
                    </a:p>
                  </a:txBody>
                  <a:tcPr anchor="ctr" anchorCtr="false" marL="101600" marR="101600" marT="101600" marB="101600">
                    <a:lnL>
                      <a:noFill/>
                    </a:lnL>
                    <a:lnR>
                      <a:noFill/>
                    </a:lnR>
                    <a:lnT>
                      <a:noFill/>
                    </a:lnT>
                    <a:lnB>
                      <a:noFill/>
                    </a:lnB>
                    <a:noFill/>
                  </a:tcPr>
                </a:tc>
              </a:tr>
            </a:tbl>
          </a:graphicData>
        </a:graphic>
      </p:graphicFrame>
    </p:spTree>
  </p:cSld>
  <p:clrMapOvr>
    <a:masterClrMapping/>
  </p:clrMapOvr>
</p:sld>
</file>

<file path=ppt/slides/slide11.xml><?xml version="1.0" encoding="utf-8"?>
<p:sld xmlns:p="http://schemas.openxmlformats.org/presentationml/2006/main" xmlns:a="http://schemas.openxmlformats.org/drawingml/2006/main">
  <p:cSld>
    <p:bg>
      <p:bgPr>
        <a:solidFill>
          <a:srgbClr val="F2F4F8">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762000"/>
          </a:xfrm>
          <a:prstGeom prst="roundRect">
            <a:avLst>
              <a:gd name="adj" fmla="val 0"/>
            </a:avLst>
          </a:prstGeom>
          <a:solidFill>
            <a:srgbClr val="0D132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508000" y="152400"/>
            <a:ext cx="7620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200">
                <a:solidFill>
                  <a:srgbClr val="FFFFFF"/>
                </a:solidFill>
                <a:latin typeface="Noto Sans SC"/>
                <a:ea typeface="Noto Sans SC"/>
                <a:cs typeface="Noto Sans SC"/>
                <a:sym typeface="Noto Sans SC"/>
              </a:rPr>
              <a:t>06 Git版本管理</a:t>
            </a:r>
            <a:endParaRPr lang="en-US" sz="1100"/>
          </a:p>
        </p:txBody>
      </p:sp>
      <p:sp>
        <p:nvSpPr>
          <p:cNvPr name="AutoShape 4" id="4"/>
          <p:cNvSpPr/>
          <p:nvPr/>
        </p:nvSpPr>
        <p:spPr>
          <a:xfrm rot="0" flipH="false" flipV="false">
            <a:off x="9525000" y="228600"/>
            <a:ext cx="2159000" cy="381000"/>
          </a:xfrm>
          <a:prstGeom prst="rect">
            <a:avLst/>
          </a:prstGeom>
          <a:noFill/>
          <a:ln w="12700" cmpd="sng" cap="flat">
            <a:noFill/>
            <a:prstDash val="solid"/>
            <a:round/>
          </a:ln>
        </p:spPr>
        <p:txBody>
          <a:bodyPr anchor="ctr" rtlCol="false" anchorCtr="false" vert="horz" wrap="square" lIns="0" rIns="0" tIns="0" bIns="0"/>
          <a:lstStyle/>
          <a:p>
            <a:pPr algn="r" marL="0" indent="0">
              <a:lnSpc>
                <a:spcPct val="125000"/>
              </a:lnSpc>
              <a:defRPr/>
            </a:pPr>
            <a:r>
              <a:rPr lang="en-US" b="false" i="false" strike="noStrike" u="none" sz="1200">
                <a:solidFill>
                  <a:srgbClr val="BFD7FF"/>
                </a:solidFill>
                <a:latin typeface="Noto Sans SC"/>
                <a:ea typeface="Noto Sans SC"/>
                <a:cs typeface="Noto Sans SC"/>
                <a:sym typeface="Noto Sans SC"/>
              </a:rPr>
              <a:t>实验01 / 共13页</a:t>
            </a:r>
            <a:endParaRPr lang="en-US" sz="1100"/>
          </a:p>
        </p:txBody>
      </p:sp>
      <p:sp>
        <p:nvSpPr>
          <p:cNvPr name="AutoShape 5" id="5"/>
          <p:cNvSpPr/>
          <p:nvPr/>
        </p:nvSpPr>
        <p:spPr>
          <a:xfrm rot="0" flipH="false" flipV="false">
            <a:off x="508000" y="1079500"/>
            <a:ext cx="2540000" cy="1016000"/>
          </a:xfrm>
          <a:prstGeom prst="roundRect">
            <a:avLst>
              <a:gd name="adj" fmla="val 0"/>
            </a:avLst>
          </a:prstGeom>
          <a:solidFill>
            <a:srgbClr val="2563E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508000" y="1206500"/>
            <a:ext cx="2540000" cy="508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3600">
                <a:solidFill>
                  <a:srgbClr val="FFFFFF"/>
                </a:solidFill>
                <a:latin typeface="Noto Sans SC"/>
                <a:ea typeface="Noto Sans SC"/>
                <a:cs typeface="Noto Sans SC"/>
                <a:sym typeface="Noto Sans SC"/>
              </a:rPr>
              <a:t>10</a:t>
            </a:r>
            <a:endParaRPr lang="en-US" sz="1100"/>
          </a:p>
        </p:txBody>
      </p:sp>
      <p:sp>
        <p:nvSpPr>
          <p:cNvPr name="AutoShape 7" id="7"/>
          <p:cNvSpPr/>
          <p:nvPr/>
        </p:nvSpPr>
        <p:spPr>
          <a:xfrm rot="0" flipH="false" flipV="false">
            <a:off x="508000" y="1714500"/>
            <a:ext cx="2540000" cy="3175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300">
                <a:solidFill>
                  <a:srgbClr val="FFFFFF"/>
                </a:solidFill>
                <a:latin typeface="Noto Sans SC"/>
                <a:ea typeface="Noto Sans SC"/>
                <a:cs typeface="Noto Sans SC"/>
                <a:sym typeface="Noto Sans SC"/>
              </a:rPr>
              <a:t>个非合并Commit</a:t>
            </a:r>
            <a:endParaRPr lang="en-US" sz="1100"/>
          </a:p>
        </p:txBody>
      </p:sp>
      <p:sp>
        <p:nvSpPr>
          <p:cNvPr name="AutoShape 8" id="8"/>
          <p:cNvSpPr/>
          <p:nvPr/>
        </p:nvSpPr>
        <p:spPr>
          <a:xfrm rot="0" flipH="false" flipV="false">
            <a:off x="3556000" y="1079500"/>
            <a:ext cx="2540000" cy="1016000"/>
          </a:xfrm>
          <a:prstGeom prst="roundRect">
            <a:avLst>
              <a:gd name="adj" fmla="val 0"/>
            </a:avLst>
          </a:prstGeom>
          <a:solidFill>
            <a:srgbClr val="0D132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3556000" y="1206500"/>
            <a:ext cx="2540000" cy="508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3600">
                <a:solidFill>
                  <a:srgbClr val="FFFFFF"/>
                </a:solidFill>
                <a:latin typeface="Noto Sans SC"/>
                <a:ea typeface="Noto Sans SC"/>
                <a:cs typeface="Noto Sans SC"/>
                <a:sym typeface="Noto Sans SC"/>
              </a:rPr>
              <a:t>2</a:t>
            </a:r>
            <a:endParaRPr lang="en-US" sz="1100"/>
          </a:p>
        </p:txBody>
      </p:sp>
      <p:sp>
        <p:nvSpPr>
          <p:cNvPr name="AutoShape 10" id="10"/>
          <p:cNvSpPr/>
          <p:nvPr/>
        </p:nvSpPr>
        <p:spPr>
          <a:xfrm rot="0" flipH="false" flipV="false">
            <a:off x="3556000" y="1714500"/>
            <a:ext cx="2540000" cy="3175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300">
                <a:solidFill>
                  <a:srgbClr val="FFFFFF"/>
                </a:solidFill>
                <a:latin typeface="Noto Sans SC"/>
                <a:ea typeface="Noto Sans SC"/>
                <a:cs typeface="Noto Sans SC"/>
                <a:sym typeface="Noto Sans SC"/>
              </a:rPr>
              <a:t>个Issue</a:t>
            </a:r>
            <a:endParaRPr lang="en-US" sz="1100"/>
          </a:p>
        </p:txBody>
      </p:sp>
      <p:sp>
        <p:nvSpPr>
          <p:cNvPr name="AutoShape 11" id="11"/>
          <p:cNvSpPr/>
          <p:nvPr/>
        </p:nvSpPr>
        <p:spPr>
          <a:xfrm rot="0" flipH="false" flipV="false">
            <a:off x="6604000" y="1079500"/>
            <a:ext cx="2540000" cy="1016000"/>
          </a:xfrm>
          <a:prstGeom prst="roundRect">
            <a:avLst>
              <a:gd name="adj" fmla="val 0"/>
            </a:avLst>
          </a:prstGeom>
          <a:solidFill>
            <a:srgbClr val="2563E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6604000" y="1206500"/>
            <a:ext cx="2540000" cy="508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3600">
                <a:solidFill>
                  <a:srgbClr val="FFFFFF"/>
                </a:solidFill>
                <a:latin typeface="Noto Sans SC"/>
                <a:ea typeface="Noto Sans SC"/>
                <a:cs typeface="Noto Sans SC"/>
                <a:sym typeface="Noto Sans SC"/>
              </a:rPr>
              <a:t>1</a:t>
            </a:r>
            <a:endParaRPr lang="en-US" sz="1100"/>
          </a:p>
        </p:txBody>
      </p:sp>
      <p:sp>
        <p:nvSpPr>
          <p:cNvPr name="AutoShape 13" id="13"/>
          <p:cNvSpPr/>
          <p:nvPr/>
        </p:nvSpPr>
        <p:spPr>
          <a:xfrm rot="0" flipH="false" flipV="false">
            <a:off x="6604000" y="1714500"/>
            <a:ext cx="2540000" cy="3175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300">
                <a:solidFill>
                  <a:srgbClr val="FFFFFF"/>
                </a:solidFill>
                <a:latin typeface="Noto Sans SC"/>
                <a:ea typeface="Noto Sans SC"/>
                <a:cs typeface="Noto Sans SC"/>
                <a:sym typeface="Noto Sans SC"/>
              </a:rPr>
              <a:t>个PR + 1次Review</a:t>
            </a:r>
            <a:endParaRPr lang="en-US" sz="1100"/>
          </a:p>
        </p:txBody>
      </p:sp>
      <p:sp>
        <p:nvSpPr>
          <p:cNvPr name="AutoShape 14" id="14"/>
          <p:cNvSpPr/>
          <p:nvPr/>
        </p:nvSpPr>
        <p:spPr>
          <a:xfrm rot="0" flipH="false" flipV="false">
            <a:off x="9652000" y="1079500"/>
            <a:ext cx="2032000" cy="1016000"/>
          </a:xfrm>
          <a:prstGeom prst="roundRect">
            <a:avLst>
              <a:gd name="adj" fmla="val 0"/>
            </a:avLst>
          </a:prstGeom>
          <a:solidFill>
            <a:srgbClr val="0D132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9652000" y="1206500"/>
            <a:ext cx="2032000" cy="508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3600">
                <a:solidFill>
                  <a:srgbClr val="FFFFFF"/>
                </a:solidFill>
                <a:latin typeface="Noto Sans SC"/>
                <a:ea typeface="Noto Sans SC"/>
                <a:cs typeface="Noto Sans SC"/>
                <a:sym typeface="Noto Sans SC"/>
              </a:rPr>
              <a:t>v1.0</a:t>
            </a:r>
            <a:endParaRPr lang="en-US" sz="1100"/>
          </a:p>
        </p:txBody>
      </p:sp>
      <p:sp>
        <p:nvSpPr>
          <p:cNvPr name="AutoShape 16" id="16"/>
          <p:cNvSpPr/>
          <p:nvPr/>
        </p:nvSpPr>
        <p:spPr>
          <a:xfrm rot="0" flipH="false" flipV="false">
            <a:off x="9652000" y="1714500"/>
            <a:ext cx="2032000" cy="3175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300">
                <a:solidFill>
                  <a:srgbClr val="FFFFFF"/>
                </a:solidFill>
                <a:latin typeface="Noto Sans SC"/>
                <a:ea typeface="Noto Sans SC"/>
                <a:cs typeface="Noto Sans SC"/>
                <a:sym typeface="Noto Sans SC"/>
              </a:rPr>
              <a:t>版本标签</a:t>
            </a:r>
            <a:endParaRPr lang="en-US" sz="1100"/>
          </a:p>
        </p:txBody>
      </p:sp>
      <p:sp>
        <p:nvSpPr>
          <p:cNvPr name="AutoShape 17" id="17"/>
          <p:cNvSpPr/>
          <p:nvPr/>
        </p:nvSpPr>
        <p:spPr>
          <a:xfrm rot="0" flipH="false" flipV="false">
            <a:off x="508000" y="2413000"/>
            <a:ext cx="111760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0D1326"/>
                </a:solidFill>
                <a:latin typeface="Noto Sans SC"/>
                <a:ea typeface="Noto Sans SC"/>
                <a:cs typeface="Noto Sans SC"/>
                <a:sym typeface="Noto Sans SC"/>
              </a:rPr>
              <a:t>Commit历史</a:t>
            </a:r>
            <a:endParaRPr lang="en-US" sz="1100"/>
          </a:p>
        </p:txBody>
      </p:sp>
      <p:cxnSp>
        <p:nvCxnSpPr>
          <p:cNvPr name="Connector 18" id="18"/>
          <p:cNvCxnSpPr/>
          <p:nvPr/>
        </p:nvCxnSpPr>
        <p:spPr>
          <a:xfrm rot="-42969" flipH="false" flipV="false">
            <a:off x="508040" y="2914650"/>
            <a:ext cx="1016000" cy="12700"/>
          </a:xfrm>
          <a:prstGeom prst="straightConnector1">
            <a:avLst/>
          </a:prstGeom>
          <a:solidFill>
            <a:srgbClr val="DEE0E3">
              <a:alpha val="100000"/>
            </a:srgbClr>
          </a:solidFill>
          <a:ln w="25400" cmpd="sng" cap="flat">
            <a:solidFill>
              <a:srgbClr val="2563EB">
                <a:alpha val="100000"/>
              </a:srgbClr>
            </a:solidFill>
            <a:prstDash val="solid"/>
            <a:round/>
            <a:headEnd type="none" w="lg" len="lg"/>
            <a:tailEnd type="none" w="lg" len="lg"/>
          </a:ln>
        </p:spPr>
      </p:cxnSp>
      <p:graphicFrame>
        <p:nvGraphicFramePr>
          <p:cNvPr name="Table 19" id="19"/>
          <p:cNvGraphicFramePr>
            <a:graphicFrameLocks noGrp="true"/>
          </p:cNvGraphicFramePr>
          <p:nvPr/>
        </p:nvGraphicFramePr>
        <p:xfrm>
          <a:off x="508000" y="3111500"/>
          <a:ext cx="11176000" cy="3048000"/>
        </p:xfrm>
        <a:graphic>
          <a:graphicData uri="http://schemas.openxmlformats.org/drawingml/2006/table">
            <a:tbl>
              <a:tblPr>
                <a:effectLst/>
              </a:tblPr>
              <a:tblGrid>
                <a:gridCol w="1270000"/>
                <a:gridCol w="1016000"/>
                <a:gridCol w="6350000"/>
                <a:gridCol w="2540000"/>
              </a:tblGrid>
              <a:tr h="381000">
                <a:tc>
                  <a:txBody>
                    <a:bodyPr anchor="t" rtlCol="false"/>
                    <a:lstStyle/>
                    <a:p>
                      <a:pPr algn="ctr" marL="0" indent="0">
                        <a:lnSpc>
                          <a:spcPct val="100000"/>
                        </a:lnSpc>
                        <a:defRPr/>
                      </a:pPr>
                      <a:r>
                        <a:rPr lang="en-US" b="true" i="false" strike="noStrike" u="none" sz="1100">
                          <a:solidFill>
                            <a:srgbClr val="FFFFFF"/>
                          </a:solidFill>
                          <a:latin typeface="Noto Sans SC"/>
                          <a:ea typeface="Noto Sans SC"/>
                          <a:cs typeface="Noto Sans SC"/>
                          <a:sym typeface="Noto Sans SC"/>
                        </a:rPr>
                        <a:t>Commit</a:t>
                      </a:r>
                      <a:endParaRPr lang="en-US" sz="1100"/>
                    </a:p>
                  </a:txBody>
                  <a:tcPr anchor="ctr" anchorCtr="false" marL="101600" marR="101600" marT="101600" marB="101600">
                    <a:lnL>
                      <a:noFill/>
                    </a:lnL>
                    <a:lnR>
                      <a:noFill/>
                    </a:lnR>
                    <a:lnT>
                      <a:noFill/>
                    </a:lnT>
                    <a:lnB>
                      <a:noFill/>
                    </a:lnB>
                    <a:solidFill>
                      <a:srgbClr val="0D1326">
                        <a:alpha val="100000"/>
                      </a:srgbClr>
                    </a:solidFill>
                  </a:tcPr>
                </a:tc>
                <a:tc>
                  <a:txBody>
                    <a:bodyPr anchor="t" rtlCol="false"/>
                    <a:lstStyle/>
                    <a:p>
                      <a:pPr algn="ctr" marL="0" indent="0">
                        <a:lnSpc>
                          <a:spcPct val="100000"/>
                        </a:lnSpc>
                        <a:defRPr/>
                      </a:pPr>
                      <a:r>
                        <a:rPr lang="en-US" b="true" i="false" strike="noStrike" u="none" sz="1100">
                          <a:solidFill>
                            <a:srgbClr val="FFFFFF"/>
                          </a:solidFill>
                          <a:latin typeface="Noto Sans SC"/>
                          <a:ea typeface="Noto Sans SC"/>
                          <a:cs typeface="Noto Sans SC"/>
                          <a:sym typeface="Noto Sans SC"/>
                        </a:rPr>
                        <a:t>类型</a:t>
                      </a:r>
                      <a:endParaRPr lang="en-US" sz="1100"/>
                    </a:p>
                  </a:txBody>
                  <a:tcPr anchor="ctr" anchorCtr="false" marL="101600" marR="101600" marT="101600" marB="101600">
                    <a:lnL>
                      <a:noFill/>
                    </a:lnL>
                    <a:lnR>
                      <a:noFill/>
                    </a:lnR>
                    <a:lnT>
                      <a:noFill/>
                    </a:lnT>
                    <a:lnB>
                      <a:noFill/>
                    </a:lnB>
                    <a:solidFill>
                      <a:srgbClr val="0D1326">
                        <a:alpha val="100000"/>
                      </a:srgbClr>
                    </a:solidFill>
                  </a:tcPr>
                </a:tc>
                <a:tc>
                  <a:txBody>
                    <a:bodyPr anchor="t" rtlCol="false"/>
                    <a:lstStyle/>
                    <a:p>
                      <a:pPr algn="ctr" marL="0" indent="0">
                        <a:lnSpc>
                          <a:spcPct val="100000"/>
                        </a:lnSpc>
                        <a:defRPr/>
                      </a:pPr>
                      <a:r>
                        <a:rPr lang="en-US" b="true" i="false" strike="noStrike" u="none" sz="1100">
                          <a:solidFill>
                            <a:srgbClr val="FFFFFF"/>
                          </a:solidFill>
                          <a:latin typeface="Noto Sans SC"/>
                          <a:ea typeface="Noto Sans SC"/>
                          <a:cs typeface="Noto Sans SC"/>
                          <a:sym typeface="Noto Sans SC"/>
                        </a:rPr>
                        <a:t>说明</a:t>
                      </a:r>
                      <a:endParaRPr lang="en-US" sz="1100"/>
                    </a:p>
                  </a:txBody>
                  <a:tcPr anchor="ctr" anchorCtr="false" marL="101600" marR="101600" marT="101600" marB="101600">
                    <a:lnL>
                      <a:noFill/>
                    </a:lnL>
                    <a:lnR>
                      <a:noFill/>
                    </a:lnR>
                    <a:lnT>
                      <a:noFill/>
                    </a:lnT>
                    <a:lnB>
                      <a:noFill/>
                    </a:lnB>
                    <a:solidFill>
                      <a:srgbClr val="0D1326">
                        <a:alpha val="100000"/>
                      </a:srgbClr>
                    </a:solidFill>
                  </a:tcPr>
                </a:tc>
                <a:tc>
                  <a:txBody>
                    <a:bodyPr anchor="t" rtlCol="false"/>
                    <a:lstStyle/>
                    <a:p>
                      <a:pPr algn="ctr" marL="0" indent="0">
                        <a:lnSpc>
                          <a:spcPct val="100000"/>
                        </a:lnSpc>
                        <a:defRPr/>
                      </a:pPr>
                      <a:r>
                        <a:rPr lang="en-US" b="true" i="false" strike="noStrike" u="none" sz="1100">
                          <a:solidFill>
                            <a:srgbClr val="FFFFFF"/>
                          </a:solidFill>
                          <a:latin typeface="Noto Sans SC"/>
                          <a:ea typeface="Noto Sans SC"/>
                          <a:cs typeface="Noto Sans SC"/>
                          <a:sym typeface="Noto Sans SC"/>
                        </a:rPr>
                        <a:t>文件数</a:t>
                      </a:r>
                      <a:endParaRPr lang="en-US" sz="1100"/>
                    </a:p>
                  </a:txBody>
                  <a:tcPr anchor="ctr" anchorCtr="false" marL="101600" marR="101600" marT="101600" marB="101600">
                    <a:lnL>
                      <a:noFill/>
                    </a:lnL>
                    <a:lnR>
                      <a:noFill/>
                    </a:lnR>
                    <a:lnT>
                      <a:noFill/>
                    </a:lnT>
                    <a:lnB>
                      <a:noFill/>
                    </a:lnB>
                    <a:solidFill>
                      <a:srgbClr val="0D1326">
                        <a:alpha val="100000"/>
                      </a:srgbClr>
                    </a:solidFill>
                  </a:tcPr>
                </a:tc>
              </a:tr>
              <a:tr h="330200">
                <a:tc>
                  <a:txBody>
                    <a:bodyPr anchor="t" rtlCol="false"/>
                    <a:lstStyle/>
                    <a:p>
                      <a:pPr algn="ctr" marL="0" indent="0">
                        <a:lnSpc>
                          <a:spcPct val="100000"/>
                        </a:lnSpc>
                        <a:defRPr/>
                      </a:pPr>
                      <a:r>
                        <a:rPr lang="en-US" b="false" i="false" strike="noStrike" u="none" sz="1000">
                          <a:solidFill>
                            <a:srgbClr val="1F2329"/>
                          </a:solidFill>
                          <a:latin typeface="Noto Sans SC"/>
                          <a:ea typeface="Noto Sans SC"/>
                          <a:cs typeface="Noto Sans SC"/>
                          <a:sym typeface="Noto Sans SC"/>
                        </a:rPr>
                        <a:t>034c978</a:t>
                      </a:r>
                      <a:endParaRPr lang="en-US" sz="1100"/>
                    </a:p>
                  </a:txBody>
                  <a:tcPr anchor="ctr" anchorCtr="false" marL="101600" marR="101600" marT="88900" marB="88900">
                    <a:lnL>
                      <a:noFill/>
                    </a:lnL>
                    <a:lnR>
                      <a:noFill/>
                    </a:lnR>
                    <a:lnT>
                      <a:noFill/>
                    </a:lnT>
                    <a:lnB>
                      <a:noFill/>
                    </a:lnB>
                    <a:noFill/>
                  </a:tcPr>
                </a:tc>
                <a:tc>
                  <a:txBody>
                    <a:bodyPr anchor="t" rtlCol="false"/>
                    <a:lstStyle/>
                    <a:p>
                      <a:pPr algn="ctr" marL="0" indent="0">
                        <a:lnSpc>
                          <a:spcPct val="100000"/>
                        </a:lnSpc>
                        <a:defRPr/>
                      </a:pPr>
                      <a:r>
                        <a:rPr lang="en-US" b="false" i="false" strike="noStrike" u="none" sz="1000">
                          <a:solidFill>
                            <a:srgbClr val="1F2329"/>
                          </a:solidFill>
                          <a:latin typeface="Noto Sans SC"/>
                          <a:ea typeface="Noto Sans SC"/>
                          <a:cs typeface="Noto Sans SC"/>
                          <a:sym typeface="Noto Sans SC"/>
                        </a:rPr>
                        <a:t>chore</a:t>
                      </a:r>
                      <a:endParaRPr lang="en-US" sz="1100"/>
                    </a:p>
                  </a:txBody>
                  <a:tcPr anchor="ctr" anchorCtr="false" marL="101600" marR="101600" marT="88900" marB="88900">
                    <a:lnL>
                      <a:noFill/>
                    </a:lnL>
                    <a:lnR>
                      <a:noFill/>
                    </a:lnR>
                    <a:lnT>
                      <a:noFill/>
                    </a:lnT>
                    <a:lnB>
                      <a:noFill/>
                    </a:lnB>
                    <a:noFill/>
                  </a:tcPr>
                </a:tc>
                <a:tc>
                  <a:txBody>
                    <a:bodyPr anchor="t" rtlCol="false"/>
                    <a:lstStyle/>
                    <a:p>
                      <a:pPr algn="l" marL="0" indent="0">
                        <a:lnSpc>
                          <a:spcPct val="100000"/>
                        </a:lnSpc>
                        <a:defRPr/>
                      </a:pPr>
                      <a:r>
                        <a:rPr lang="en-US" b="false" i="false" strike="noStrike" u="none" sz="1000">
                          <a:solidFill>
                            <a:srgbClr val="1F2329"/>
                          </a:solidFill>
                          <a:latin typeface="Noto Sans SC"/>
                          <a:ea typeface="Noto Sans SC"/>
                          <a:cs typeface="Noto Sans SC"/>
                          <a:sym typeface="Noto Sans SC"/>
                        </a:rPr>
                        <a:t>初始化项目骨架和.gitignore配置</a:t>
                      </a:r>
                      <a:endParaRPr lang="en-US" sz="1100"/>
                    </a:p>
                  </a:txBody>
                  <a:tcPr anchor="ctr" anchorCtr="false" marL="101600" marR="101600" marT="88900" marB="88900">
                    <a:lnL>
                      <a:noFill/>
                    </a:lnL>
                    <a:lnR>
                      <a:noFill/>
                    </a:lnR>
                    <a:lnT>
                      <a:noFill/>
                    </a:lnT>
                    <a:lnB>
                      <a:noFill/>
                    </a:lnB>
                    <a:noFill/>
                  </a:tcPr>
                </a:tc>
                <a:tc>
                  <a:txBody>
                    <a:bodyPr anchor="t" rtlCol="false"/>
                    <a:lstStyle/>
                    <a:p>
                      <a:pPr algn="ctr" marL="0" indent="0">
                        <a:lnSpc>
                          <a:spcPct val="100000"/>
                        </a:lnSpc>
                        <a:defRPr/>
                      </a:pPr>
                      <a:r>
                        <a:rPr lang="en-US" b="false" i="false" strike="noStrike" u="none" sz="1000">
                          <a:solidFill>
                            <a:srgbClr val="1F2329"/>
                          </a:solidFill>
                          <a:latin typeface="Noto Sans SC"/>
                          <a:ea typeface="Noto Sans SC"/>
                          <a:cs typeface="Noto Sans SC"/>
                          <a:sym typeface="Noto Sans SC"/>
                        </a:rPr>
                        <a:t>1</a:t>
                      </a:r>
                      <a:endParaRPr lang="en-US" sz="1100"/>
                    </a:p>
                  </a:txBody>
                  <a:tcPr anchor="ctr" anchorCtr="false" marL="101600" marR="101600" marT="88900" marB="88900">
                    <a:lnL>
                      <a:noFill/>
                    </a:lnL>
                    <a:lnR>
                      <a:noFill/>
                    </a:lnR>
                    <a:lnT>
                      <a:noFill/>
                    </a:lnT>
                    <a:lnB>
                      <a:noFill/>
                    </a:lnB>
                    <a:noFill/>
                  </a:tcPr>
                </a:tc>
              </a:tr>
              <a:tr h="330200">
                <a:tc>
                  <a:txBody>
                    <a:bodyPr anchor="t" rtlCol="false"/>
                    <a:lstStyle/>
                    <a:p>
                      <a:pPr algn="ctr" marL="0" indent="0">
                        <a:lnSpc>
                          <a:spcPct val="100000"/>
                        </a:lnSpc>
                        <a:defRPr/>
                      </a:pPr>
                      <a:r>
                        <a:rPr lang="en-US" b="false" i="false" strike="noStrike" u="none" sz="1000">
                          <a:solidFill>
                            <a:srgbClr val="1F2329"/>
                          </a:solidFill>
                          <a:latin typeface="Noto Sans SC"/>
                          <a:ea typeface="Noto Sans SC"/>
                          <a:cs typeface="Noto Sans SC"/>
                          <a:sym typeface="Noto Sans SC"/>
                        </a:rPr>
                        <a:t>264767a</a:t>
                      </a:r>
                      <a:endParaRPr lang="en-US" sz="1100"/>
                    </a:p>
                  </a:txBody>
                  <a:tcPr anchor="ctr" anchorCtr="false" marL="101600" marR="101600" marT="88900" marB="88900">
                    <a:lnL>
                      <a:noFill/>
                    </a:lnL>
                    <a:lnR>
                      <a:noFill/>
                    </a:lnR>
                    <a:lnT>
                      <a:noFill/>
                    </a:lnT>
                    <a:lnB>
                      <a:noFill/>
                    </a:lnB>
                    <a:noFill/>
                  </a:tcPr>
                </a:tc>
                <a:tc>
                  <a:txBody>
                    <a:bodyPr anchor="t" rtlCol="false"/>
                    <a:lstStyle/>
                    <a:p>
                      <a:pPr algn="ctr" marL="0" indent="0">
                        <a:lnSpc>
                          <a:spcPct val="100000"/>
                        </a:lnSpc>
                        <a:defRPr/>
                      </a:pPr>
                      <a:r>
                        <a:rPr lang="en-US" b="false" i="false" strike="noStrike" u="none" sz="1000">
                          <a:solidFill>
                            <a:srgbClr val="1F2329"/>
                          </a:solidFill>
                          <a:latin typeface="Noto Sans SC"/>
                          <a:ea typeface="Noto Sans SC"/>
                          <a:cs typeface="Noto Sans SC"/>
                          <a:sym typeface="Noto Sans SC"/>
                        </a:rPr>
                        <a:t>docs</a:t>
                      </a:r>
                      <a:endParaRPr lang="en-US" sz="1100"/>
                    </a:p>
                  </a:txBody>
                  <a:tcPr anchor="ctr" anchorCtr="false" marL="101600" marR="101600" marT="88900" marB="88900">
                    <a:lnL>
                      <a:noFill/>
                    </a:lnL>
                    <a:lnR>
                      <a:noFill/>
                    </a:lnR>
                    <a:lnT>
                      <a:noFill/>
                    </a:lnT>
                    <a:lnB>
                      <a:noFill/>
                    </a:lnB>
                    <a:noFill/>
                  </a:tcPr>
                </a:tc>
                <a:tc>
                  <a:txBody>
                    <a:bodyPr anchor="t" rtlCol="false"/>
                    <a:lstStyle/>
                    <a:p>
                      <a:pPr algn="l" marL="0" indent="0">
                        <a:lnSpc>
                          <a:spcPct val="100000"/>
                        </a:lnSpc>
                        <a:defRPr/>
                      </a:pPr>
                      <a:r>
                        <a:rPr lang="en-US" b="false" i="false" strike="noStrike" u="none" sz="1000">
                          <a:solidFill>
                            <a:srgbClr val="1F2329"/>
                          </a:solidFill>
                          <a:latin typeface="Noto Sans SC"/>
                          <a:ea typeface="Noto Sans SC"/>
                          <a:cs typeface="Noto Sans SC"/>
                          <a:sym typeface="Noto Sans SC"/>
                        </a:rPr>
                        <a:t>添加基线记录和架构文档</a:t>
                      </a:r>
                      <a:endParaRPr lang="en-US" sz="1100"/>
                    </a:p>
                  </a:txBody>
                  <a:tcPr anchor="ctr" anchorCtr="false" marL="101600" marR="101600" marT="88900" marB="88900">
                    <a:lnL>
                      <a:noFill/>
                    </a:lnL>
                    <a:lnR>
                      <a:noFill/>
                    </a:lnR>
                    <a:lnT>
                      <a:noFill/>
                    </a:lnT>
                    <a:lnB>
                      <a:noFill/>
                    </a:lnB>
                    <a:noFill/>
                  </a:tcPr>
                </a:tc>
                <a:tc>
                  <a:txBody>
                    <a:bodyPr anchor="t" rtlCol="false"/>
                    <a:lstStyle/>
                    <a:p>
                      <a:pPr algn="ctr" marL="0" indent="0">
                        <a:lnSpc>
                          <a:spcPct val="100000"/>
                        </a:lnSpc>
                        <a:defRPr/>
                      </a:pPr>
                      <a:r>
                        <a:rPr lang="en-US" b="false" i="false" strike="noStrike" u="none" sz="1000">
                          <a:solidFill>
                            <a:srgbClr val="1F2329"/>
                          </a:solidFill>
                          <a:latin typeface="Noto Sans SC"/>
                          <a:ea typeface="Noto Sans SC"/>
                          <a:cs typeface="Noto Sans SC"/>
                          <a:sym typeface="Noto Sans SC"/>
                        </a:rPr>
                        <a:t>2</a:t>
                      </a:r>
                      <a:endParaRPr lang="en-US" sz="1100"/>
                    </a:p>
                  </a:txBody>
                  <a:tcPr anchor="ctr" anchorCtr="false" marL="101600" marR="101600" marT="88900" marB="88900">
                    <a:lnL>
                      <a:noFill/>
                    </a:lnL>
                    <a:lnR>
                      <a:noFill/>
                    </a:lnR>
                    <a:lnT>
                      <a:noFill/>
                    </a:lnT>
                    <a:lnB>
                      <a:noFill/>
                    </a:lnB>
                    <a:noFill/>
                  </a:tcPr>
                </a:tc>
              </a:tr>
              <a:tr h="330200">
                <a:tc>
                  <a:txBody>
                    <a:bodyPr anchor="t" rtlCol="false"/>
                    <a:lstStyle/>
                    <a:p>
                      <a:pPr algn="ctr" marL="0" indent="0">
                        <a:lnSpc>
                          <a:spcPct val="100000"/>
                        </a:lnSpc>
                        <a:defRPr/>
                      </a:pPr>
                      <a:r>
                        <a:rPr lang="en-US" b="false" i="false" strike="noStrike" u="none" sz="1000">
                          <a:solidFill>
                            <a:srgbClr val="1F2329"/>
                          </a:solidFill>
                          <a:latin typeface="Noto Sans SC"/>
                          <a:ea typeface="Noto Sans SC"/>
                          <a:cs typeface="Noto Sans SC"/>
                          <a:sym typeface="Noto Sans SC"/>
                        </a:rPr>
                        <a:t>651eef0</a:t>
                      </a:r>
                      <a:endParaRPr lang="en-US" sz="1100"/>
                    </a:p>
                  </a:txBody>
                  <a:tcPr anchor="ctr" anchorCtr="false" marL="101600" marR="101600" marT="88900" marB="88900">
                    <a:lnL>
                      <a:noFill/>
                    </a:lnL>
                    <a:lnR>
                      <a:noFill/>
                    </a:lnR>
                    <a:lnT>
                      <a:noFill/>
                    </a:lnT>
                    <a:lnB>
                      <a:noFill/>
                    </a:lnB>
                    <a:noFill/>
                  </a:tcPr>
                </a:tc>
                <a:tc>
                  <a:txBody>
                    <a:bodyPr anchor="t" rtlCol="false"/>
                    <a:lstStyle/>
                    <a:p>
                      <a:pPr algn="ctr" marL="0" indent="0">
                        <a:lnSpc>
                          <a:spcPct val="100000"/>
                        </a:lnSpc>
                        <a:defRPr/>
                      </a:pPr>
                      <a:r>
                        <a:rPr lang="en-US" b="true" i="false" strike="noStrike" u="none" sz="1000">
                          <a:solidFill>
                            <a:srgbClr val="2563EB"/>
                          </a:solidFill>
                          <a:latin typeface="Noto Sans SC"/>
                          <a:ea typeface="Noto Sans SC"/>
                          <a:cs typeface="Noto Sans SC"/>
                          <a:sym typeface="Noto Sans SC"/>
                        </a:rPr>
                        <a:t>feat</a:t>
                      </a:r>
                      <a:endParaRPr lang="en-US" sz="1100"/>
                    </a:p>
                  </a:txBody>
                  <a:tcPr anchor="ctr" anchorCtr="false" marL="101600" marR="101600" marT="88900" marB="88900">
                    <a:lnL>
                      <a:noFill/>
                    </a:lnL>
                    <a:lnR>
                      <a:noFill/>
                    </a:lnR>
                    <a:lnT>
                      <a:noFill/>
                    </a:lnT>
                    <a:lnB>
                      <a:noFill/>
                    </a:lnB>
                    <a:noFill/>
                  </a:tcPr>
                </a:tc>
                <a:tc>
                  <a:txBody>
                    <a:bodyPr anchor="t" rtlCol="false"/>
                    <a:lstStyle/>
                    <a:p>
                      <a:pPr algn="l" marL="0" indent="0">
                        <a:lnSpc>
                          <a:spcPct val="100000"/>
                        </a:lnSpc>
                        <a:defRPr/>
                      </a:pPr>
                      <a:r>
                        <a:rPr lang="en-US" b="false" i="false" strike="noStrike" u="none" sz="1000">
                          <a:solidFill>
                            <a:srgbClr val="1F2329"/>
                          </a:solidFill>
                          <a:latin typeface="Noto Sans SC"/>
                          <a:ea typeface="Noto Sans SC"/>
                          <a:cs typeface="Noto Sans SC"/>
                          <a:sym typeface="Noto Sans SC"/>
                        </a:rPr>
                        <a:t>开发自定义主题oss-blog-theme v1.0.0</a:t>
                      </a:r>
                      <a:endParaRPr lang="en-US" sz="1100"/>
                    </a:p>
                  </a:txBody>
                  <a:tcPr anchor="ctr" anchorCtr="false" marL="101600" marR="101600" marT="88900" marB="88900">
                    <a:lnL>
                      <a:noFill/>
                    </a:lnL>
                    <a:lnR>
                      <a:noFill/>
                    </a:lnR>
                    <a:lnT>
                      <a:noFill/>
                    </a:lnT>
                    <a:lnB>
                      <a:noFill/>
                    </a:lnB>
                    <a:noFill/>
                  </a:tcPr>
                </a:tc>
                <a:tc>
                  <a:txBody>
                    <a:bodyPr anchor="t" rtlCol="false"/>
                    <a:lstStyle/>
                    <a:p>
                      <a:pPr algn="ctr" marL="0" indent="0">
                        <a:lnSpc>
                          <a:spcPct val="100000"/>
                        </a:lnSpc>
                        <a:defRPr/>
                      </a:pPr>
                      <a:r>
                        <a:rPr lang="en-US" b="false" i="false" strike="noStrike" u="none" sz="1000">
                          <a:solidFill>
                            <a:srgbClr val="1F2329"/>
                          </a:solidFill>
                          <a:latin typeface="Noto Sans SC"/>
                          <a:ea typeface="Noto Sans SC"/>
                          <a:cs typeface="Noto Sans SC"/>
                          <a:sym typeface="Noto Sans SC"/>
                        </a:rPr>
                        <a:t>51</a:t>
                      </a:r>
                      <a:endParaRPr lang="en-US" sz="1100"/>
                    </a:p>
                  </a:txBody>
                  <a:tcPr anchor="ctr" anchorCtr="false" marL="101600" marR="101600" marT="88900" marB="88900">
                    <a:lnL>
                      <a:noFill/>
                    </a:lnL>
                    <a:lnR>
                      <a:noFill/>
                    </a:lnR>
                    <a:lnT>
                      <a:noFill/>
                    </a:lnT>
                    <a:lnB>
                      <a:noFill/>
                    </a:lnB>
                    <a:noFill/>
                  </a:tcPr>
                </a:tc>
              </a:tr>
              <a:tr h="330200">
                <a:tc>
                  <a:txBody>
                    <a:bodyPr anchor="t" rtlCol="false"/>
                    <a:lstStyle/>
                    <a:p>
                      <a:pPr algn="ctr" marL="0" indent="0">
                        <a:lnSpc>
                          <a:spcPct val="100000"/>
                        </a:lnSpc>
                        <a:defRPr/>
                      </a:pPr>
                      <a:r>
                        <a:rPr lang="en-US" b="false" i="false" strike="noStrike" u="none" sz="1000">
                          <a:solidFill>
                            <a:srgbClr val="1F2329"/>
                          </a:solidFill>
                          <a:latin typeface="Noto Sans SC"/>
                          <a:ea typeface="Noto Sans SC"/>
                          <a:cs typeface="Noto Sans SC"/>
                          <a:sym typeface="Noto Sans SC"/>
                        </a:rPr>
                        <a:t>da92c22</a:t>
                      </a:r>
                      <a:endParaRPr lang="en-US" sz="1100"/>
                    </a:p>
                  </a:txBody>
                  <a:tcPr anchor="ctr" anchorCtr="false" marL="101600" marR="101600" marT="88900" marB="88900">
                    <a:lnL>
                      <a:noFill/>
                    </a:lnL>
                    <a:lnR>
                      <a:noFill/>
                    </a:lnR>
                    <a:lnT>
                      <a:noFill/>
                    </a:lnT>
                    <a:lnB>
                      <a:noFill/>
                    </a:lnB>
                    <a:noFill/>
                  </a:tcPr>
                </a:tc>
                <a:tc>
                  <a:txBody>
                    <a:bodyPr anchor="t" rtlCol="false"/>
                    <a:lstStyle/>
                    <a:p>
                      <a:pPr algn="ctr" marL="0" indent="0">
                        <a:lnSpc>
                          <a:spcPct val="100000"/>
                        </a:lnSpc>
                        <a:defRPr/>
                      </a:pPr>
                      <a:r>
                        <a:rPr lang="en-US" b="true" i="false" strike="noStrike" u="none" sz="1000">
                          <a:solidFill>
                            <a:srgbClr val="2563EB"/>
                          </a:solidFill>
                          <a:latin typeface="Noto Sans SC"/>
                          <a:ea typeface="Noto Sans SC"/>
                          <a:cs typeface="Noto Sans SC"/>
                          <a:sym typeface="Noto Sans SC"/>
                        </a:rPr>
                        <a:t>feat</a:t>
                      </a:r>
                      <a:endParaRPr lang="en-US" sz="1100"/>
                    </a:p>
                  </a:txBody>
                  <a:tcPr anchor="ctr" anchorCtr="false" marL="101600" marR="101600" marT="88900" marB="88900">
                    <a:lnL>
                      <a:noFill/>
                    </a:lnL>
                    <a:lnR>
                      <a:noFill/>
                    </a:lnR>
                    <a:lnT>
                      <a:noFill/>
                    </a:lnT>
                    <a:lnB>
                      <a:noFill/>
                    </a:lnB>
                    <a:noFill/>
                  </a:tcPr>
                </a:tc>
                <a:tc>
                  <a:txBody>
                    <a:bodyPr anchor="t" rtlCol="false"/>
                    <a:lstStyle/>
                    <a:p>
                      <a:pPr algn="l" marL="0" indent="0">
                        <a:lnSpc>
                          <a:spcPct val="100000"/>
                        </a:lnSpc>
                        <a:defRPr/>
                      </a:pPr>
                      <a:r>
                        <a:rPr lang="en-US" b="false" i="false" strike="noStrike" u="none" sz="1000">
                          <a:solidFill>
                            <a:srgbClr val="1F2329"/>
                          </a:solidFill>
                          <a:latin typeface="Noto Sans SC"/>
                          <a:ea typeface="Noto Sans SC"/>
                          <a:cs typeface="Noto Sans SC"/>
                          <a:sym typeface="Noto Sans SC"/>
                        </a:rPr>
                        <a:t>实现自主扩展功能并添加Issue文档</a:t>
                      </a:r>
                      <a:endParaRPr lang="en-US" sz="1100"/>
                    </a:p>
                  </a:txBody>
                  <a:tcPr anchor="ctr" anchorCtr="false" marL="101600" marR="101600" marT="88900" marB="88900">
                    <a:lnL>
                      <a:noFill/>
                    </a:lnL>
                    <a:lnR>
                      <a:noFill/>
                    </a:lnR>
                    <a:lnT>
                      <a:noFill/>
                    </a:lnT>
                    <a:lnB>
                      <a:noFill/>
                    </a:lnB>
                    <a:noFill/>
                  </a:tcPr>
                </a:tc>
                <a:tc>
                  <a:txBody>
                    <a:bodyPr anchor="t" rtlCol="false"/>
                    <a:lstStyle/>
                    <a:p>
                      <a:pPr algn="ctr" marL="0" indent="0">
                        <a:lnSpc>
                          <a:spcPct val="100000"/>
                        </a:lnSpc>
                        <a:defRPr/>
                      </a:pPr>
                      <a:r>
                        <a:rPr lang="en-US" b="false" i="false" strike="noStrike" u="none" sz="1000">
                          <a:solidFill>
                            <a:srgbClr val="1F2329"/>
                          </a:solidFill>
                          <a:latin typeface="Noto Sans SC"/>
                          <a:ea typeface="Noto Sans SC"/>
                          <a:cs typeface="Noto Sans SC"/>
                          <a:sym typeface="Noto Sans SC"/>
                        </a:rPr>
                        <a:t>1</a:t>
                      </a:r>
                      <a:endParaRPr lang="en-US" sz="1100"/>
                    </a:p>
                  </a:txBody>
                  <a:tcPr anchor="ctr" anchorCtr="false" marL="101600" marR="101600" marT="88900" marB="88900">
                    <a:lnL>
                      <a:noFill/>
                    </a:lnL>
                    <a:lnR>
                      <a:noFill/>
                    </a:lnR>
                    <a:lnT>
                      <a:noFill/>
                    </a:lnT>
                    <a:lnB>
                      <a:noFill/>
                    </a:lnB>
                    <a:noFill/>
                  </a:tcPr>
                </a:tc>
              </a:tr>
              <a:tr h="330200">
                <a:tc>
                  <a:txBody>
                    <a:bodyPr anchor="t" rtlCol="false"/>
                    <a:lstStyle/>
                    <a:p>
                      <a:pPr algn="ctr" marL="0" indent="0">
                        <a:lnSpc>
                          <a:spcPct val="100000"/>
                        </a:lnSpc>
                        <a:defRPr/>
                      </a:pPr>
                      <a:r>
                        <a:rPr lang="en-US" b="false" i="false" strike="noStrike" u="none" sz="1000">
                          <a:solidFill>
                            <a:srgbClr val="1F2329"/>
                          </a:solidFill>
                          <a:latin typeface="Noto Sans SC"/>
                          <a:ea typeface="Noto Sans SC"/>
                          <a:cs typeface="Noto Sans SC"/>
                          <a:sym typeface="Noto Sans SC"/>
                        </a:rPr>
                        <a:t>9f76131</a:t>
                      </a:r>
                      <a:endParaRPr lang="en-US" sz="1100"/>
                    </a:p>
                  </a:txBody>
                  <a:tcPr anchor="ctr" anchorCtr="false" marL="101600" marR="101600" marT="88900" marB="88900">
                    <a:lnL>
                      <a:noFill/>
                    </a:lnL>
                    <a:lnR>
                      <a:noFill/>
                    </a:lnR>
                    <a:lnT>
                      <a:noFill/>
                    </a:lnT>
                    <a:lnB>
                      <a:noFill/>
                    </a:lnB>
                    <a:noFill/>
                  </a:tcPr>
                </a:tc>
                <a:tc>
                  <a:txBody>
                    <a:bodyPr anchor="t" rtlCol="false"/>
                    <a:lstStyle/>
                    <a:p>
                      <a:pPr algn="ctr" marL="0" indent="0">
                        <a:lnSpc>
                          <a:spcPct val="100000"/>
                        </a:lnSpc>
                        <a:defRPr/>
                      </a:pPr>
                      <a:r>
                        <a:rPr lang="en-US" b="false" i="false" strike="noStrike" u="none" sz="1000">
                          <a:solidFill>
                            <a:srgbClr val="1F2329"/>
                          </a:solidFill>
                          <a:latin typeface="Noto Sans SC"/>
                          <a:ea typeface="Noto Sans SC"/>
                          <a:cs typeface="Noto Sans SC"/>
                          <a:sym typeface="Noto Sans SC"/>
                        </a:rPr>
                        <a:t>test</a:t>
                      </a:r>
                      <a:endParaRPr lang="en-US" sz="1100"/>
                    </a:p>
                  </a:txBody>
                  <a:tcPr anchor="ctr" anchorCtr="false" marL="101600" marR="101600" marT="88900" marB="88900">
                    <a:lnL>
                      <a:noFill/>
                    </a:lnL>
                    <a:lnR>
                      <a:noFill/>
                    </a:lnR>
                    <a:lnT>
                      <a:noFill/>
                    </a:lnT>
                    <a:lnB>
                      <a:noFill/>
                    </a:lnB>
                    <a:noFill/>
                  </a:tcPr>
                </a:tc>
                <a:tc>
                  <a:txBody>
                    <a:bodyPr anchor="t" rtlCol="false"/>
                    <a:lstStyle/>
                    <a:p>
                      <a:pPr algn="l" marL="0" indent="0">
                        <a:lnSpc>
                          <a:spcPct val="100000"/>
                        </a:lnSpc>
                        <a:defRPr/>
                      </a:pPr>
                      <a:r>
                        <a:rPr lang="en-US" b="false" i="false" strike="noStrike" u="none" sz="1000">
                          <a:solidFill>
                            <a:srgbClr val="1F2329"/>
                          </a:solidFill>
                          <a:latin typeface="Noto Sans SC"/>
                          <a:ea typeface="Noto Sans SC"/>
                          <a:cs typeface="Noto Sans SC"/>
                          <a:sym typeface="Noto Sans SC"/>
                        </a:rPr>
                        <a:t>添加测试报告，18项测试全部通过</a:t>
                      </a:r>
                      <a:endParaRPr lang="en-US" sz="1100"/>
                    </a:p>
                  </a:txBody>
                  <a:tcPr anchor="ctr" anchorCtr="false" marL="101600" marR="101600" marT="88900" marB="88900">
                    <a:lnL>
                      <a:noFill/>
                    </a:lnL>
                    <a:lnR>
                      <a:noFill/>
                    </a:lnR>
                    <a:lnT>
                      <a:noFill/>
                    </a:lnT>
                    <a:lnB>
                      <a:noFill/>
                    </a:lnB>
                    <a:noFill/>
                  </a:tcPr>
                </a:tc>
                <a:tc>
                  <a:txBody>
                    <a:bodyPr anchor="t" rtlCol="false"/>
                    <a:lstStyle/>
                    <a:p>
                      <a:pPr algn="ctr" marL="0" indent="0">
                        <a:lnSpc>
                          <a:spcPct val="100000"/>
                        </a:lnSpc>
                        <a:defRPr/>
                      </a:pPr>
                      <a:r>
                        <a:rPr lang="en-US" b="false" i="false" strike="noStrike" u="none" sz="1000">
                          <a:solidFill>
                            <a:srgbClr val="1F2329"/>
                          </a:solidFill>
                          <a:latin typeface="Noto Sans SC"/>
                          <a:ea typeface="Noto Sans SC"/>
                          <a:cs typeface="Noto Sans SC"/>
                          <a:sym typeface="Noto Sans SC"/>
                        </a:rPr>
                        <a:t>1</a:t>
                      </a:r>
                      <a:endParaRPr lang="en-US" sz="1100"/>
                    </a:p>
                  </a:txBody>
                  <a:tcPr anchor="ctr" anchorCtr="false" marL="101600" marR="101600" marT="88900" marB="88900">
                    <a:lnL>
                      <a:noFill/>
                    </a:lnL>
                    <a:lnR>
                      <a:noFill/>
                    </a:lnR>
                    <a:lnT>
                      <a:noFill/>
                    </a:lnT>
                    <a:lnB>
                      <a:noFill/>
                    </a:lnB>
                    <a:noFill/>
                  </a:tcPr>
                </a:tc>
              </a:tr>
              <a:tr h="330200">
                <a:tc>
                  <a:txBody>
                    <a:bodyPr anchor="t" rtlCol="false"/>
                    <a:lstStyle/>
                    <a:p>
                      <a:pPr algn="ctr" marL="0" indent="0">
                        <a:lnSpc>
                          <a:spcPct val="100000"/>
                        </a:lnSpc>
                        <a:defRPr/>
                      </a:pPr>
                      <a:r>
                        <a:rPr lang="en-US" b="false" i="false" strike="noStrike" u="none" sz="1000">
                          <a:solidFill>
                            <a:srgbClr val="1F2329"/>
                          </a:solidFill>
                          <a:latin typeface="Noto Sans SC"/>
                          <a:ea typeface="Noto Sans SC"/>
                          <a:cs typeface="Noto Sans SC"/>
                          <a:sym typeface="Noto Sans SC"/>
                        </a:rPr>
                        <a:t>5c4056c</a:t>
                      </a:r>
                      <a:endParaRPr lang="en-US" sz="1100"/>
                    </a:p>
                  </a:txBody>
                  <a:tcPr anchor="ctr" anchorCtr="false" marL="101600" marR="101600" marT="88900" marB="88900">
                    <a:lnL>
                      <a:noFill/>
                    </a:lnL>
                    <a:lnR>
                      <a:noFill/>
                    </a:lnR>
                    <a:lnT>
                      <a:noFill/>
                    </a:lnT>
                    <a:lnB>
                      <a:noFill/>
                    </a:lnB>
                    <a:noFill/>
                  </a:tcPr>
                </a:tc>
                <a:tc>
                  <a:txBody>
                    <a:bodyPr anchor="t" rtlCol="false"/>
                    <a:lstStyle/>
                    <a:p>
                      <a:pPr algn="ctr" marL="0" indent="0">
                        <a:lnSpc>
                          <a:spcPct val="100000"/>
                        </a:lnSpc>
                        <a:defRPr/>
                      </a:pPr>
                      <a:r>
                        <a:rPr lang="en-US" b="false" i="false" strike="noStrike" u="none" sz="1000">
                          <a:solidFill>
                            <a:srgbClr val="1F2329"/>
                          </a:solidFill>
                          <a:latin typeface="Noto Sans SC"/>
                          <a:ea typeface="Noto Sans SC"/>
                          <a:cs typeface="Noto Sans SC"/>
                          <a:sym typeface="Noto Sans SC"/>
                        </a:rPr>
                        <a:t>docs</a:t>
                      </a:r>
                      <a:endParaRPr lang="en-US" sz="1100"/>
                    </a:p>
                  </a:txBody>
                  <a:tcPr anchor="ctr" anchorCtr="false" marL="101600" marR="101600" marT="88900" marB="88900">
                    <a:lnL>
                      <a:noFill/>
                    </a:lnL>
                    <a:lnR>
                      <a:noFill/>
                    </a:lnR>
                    <a:lnT>
                      <a:noFill/>
                    </a:lnT>
                    <a:lnB>
                      <a:noFill/>
                    </a:lnB>
                    <a:noFill/>
                  </a:tcPr>
                </a:tc>
                <a:tc>
                  <a:txBody>
                    <a:bodyPr anchor="t" rtlCol="false"/>
                    <a:lstStyle/>
                    <a:p>
                      <a:pPr algn="l" marL="0" indent="0">
                        <a:lnSpc>
                          <a:spcPct val="100000"/>
                        </a:lnSpc>
                        <a:defRPr/>
                      </a:pPr>
                      <a:r>
                        <a:rPr lang="en-US" b="false" i="false" strike="noStrike" u="none" sz="1000">
                          <a:solidFill>
                            <a:srgbClr val="1F2329"/>
                          </a:solidFill>
                          <a:latin typeface="Noto Sans SC"/>
                          <a:ea typeface="Noto Sans SC"/>
                          <a:cs typeface="Noto Sans SC"/>
                          <a:sym typeface="Noto Sans SC"/>
                        </a:rPr>
                        <a:t>添加README项目说明文档</a:t>
                      </a:r>
                      <a:endParaRPr lang="en-US" sz="1100"/>
                    </a:p>
                  </a:txBody>
                  <a:tcPr anchor="ctr" anchorCtr="false" marL="101600" marR="101600" marT="88900" marB="88900">
                    <a:lnL>
                      <a:noFill/>
                    </a:lnL>
                    <a:lnR>
                      <a:noFill/>
                    </a:lnR>
                    <a:lnT>
                      <a:noFill/>
                    </a:lnT>
                    <a:lnB>
                      <a:noFill/>
                    </a:lnB>
                    <a:noFill/>
                  </a:tcPr>
                </a:tc>
                <a:tc>
                  <a:txBody>
                    <a:bodyPr anchor="t" rtlCol="false"/>
                    <a:lstStyle/>
                    <a:p>
                      <a:pPr algn="ctr" marL="0" indent="0">
                        <a:lnSpc>
                          <a:spcPct val="100000"/>
                        </a:lnSpc>
                        <a:defRPr/>
                      </a:pPr>
                      <a:r>
                        <a:rPr lang="en-US" b="false" i="false" strike="noStrike" u="none" sz="1000">
                          <a:solidFill>
                            <a:srgbClr val="1F2329"/>
                          </a:solidFill>
                          <a:latin typeface="Noto Sans SC"/>
                          <a:ea typeface="Noto Sans SC"/>
                          <a:cs typeface="Noto Sans SC"/>
                          <a:sym typeface="Noto Sans SC"/>
                        </a:rPr>
                        <a:t>1</a:t>
                      </a:r>
                      <a:endParaRPr lang="en-US" sz="1100"/>
                    </a:p>
                  </a:txBody>
                  <a:tcPr anchor="ctr" anchorCtr="false" marL="101600" marR="101600" marT="88900" marB="88900">
                    <a:lnL>
                      <a:noFill/>
                    </a:lnL>
                    <a:lnR>
                      <a:noFill/>
                    </a:lnR>
                    <a:lnT>
                      <a:noFill/>
                    </a:lnT>
                    <a:lnB>
                      <a:noFill/>
                    </a:lnB>
                    <a:noFill/>
                  </a:tcPr>
                </a:tc>
              </a:tr>
              <a:tr h="330200">
                <a:tc>
                  <a:txBody>
                    <a:bodyPr anchor="t" rtlCol="false"/>
                    <a:lstStyle/>
                    <a:p>
                      <a:pPr algn="ctr" marL="0" indent="0">
                        <a:lnSpc>
                          <a:spcPct val="100000"/>
                        </a:lnSpc>
                        <a:defRPr/>
                      </a:pPr>
                      <a:r>
                        <a:rPr lang="en-US" b="false" i="false" strike="noStrike" u="none" sz="1000">
                          <a:solidFill>
                            <a:srgbClr val="1F2329"/>
                          </a:solidFill>
                          <a:latin typeface="Noto Sans SC"/>
                          <a:ea typeface="Noto Sans SC"/>
                          <a:cs typeface="Noto Sans SC"/>
                          <a:sym typeface="Noto Sans SC"/>
                        </a:rPr>
                        <a:t>ece6ef6</a:t>
                      </a:r>
                      <a:endParaRPr lang="en-US" sz="1100"/>
                    </a:p>
                  </a:txBody>
                  <a:tcPr anchor="ctr" anchorCtr="false" marL="101600" marR="101600" marT="88900" marB="88900">
                    <a:lnL>
                      <a:noFill/>
                    </a:lnL>
                    <a:lnR>
                      <a:noFill/>
                    </a:lnR>
                    <a:lnT>
                      <a:noFill/>
                    </a:lnT>
                    <a:lnB>
                      <a:noFill/>
                    </a:lnB>
                    <a:noFill/>
                  </a:tcPr>
                </a:tc>
                <a:tc>
                  <a:txBody>
                    <a:bodyPr anchor="t" rtlCol="false"/>
                    <a:lstStyle/>
                    <a:p>
                      <a:pPr algn="ctr" marL="0" indent="0">
                        <a:lnSpc>
                          <a:spcPct val="100000"/>
                        </a:lnSpc>
                        <a:defRPr/>
                      </a:pPr>
                      <a:r>
                        <a:rPr lang="en-US" b="false" i="false" strike="noStrike" u="none" sz="1000">
                          <a:solidFill>
                            <a:srgbClr val="1F2329"/>
                          </a:solidFill>
                          <a:latin typeface="Noto Sans SC"/>
                          <a:ea typeface="Noto Sans SC"/>
                          <a:cs typeface="Noto Sans SC"/>
                          <a:sym typeface="Noto Sans SC"/>
                        </a:rPr>
                        <a:t>docs</a:t>
                      </a:r>
                      <a:endParaRPr lang="en-US" sz="1100"/>
                    </a:p>
                  </a:txBody>
                  <a:tcPr anchor="ctr" anchorCtr="false" marL="101600" marR="101600" marT="88900" marB="88900">
                    <a:lnL>
                      <a:noFill/>
                    </a:lnL>
                    <a:lnR>
                      <a:noFill/>
                    </a:lnR>
                    <a:lnT>
                      <a:noFill/>
                    </a:lnT>
                    <a:lnB>
                      <a:noFill/>
                    </a:lnB>
                    <a:noFill/>
                  </a:tcPr>
                </a:tc>
                <a:tc>
                  <a:txBody>
                    <a:bodyPr anchor="t" rtlCol="false"/>
                    <a:lstStyle/>
                    <a:p>
                      <a:pPr algn="l" marL="0" indent="0">
                        <a:lnSpc>
                          <a:spcPct val="100000"/>
                        </a:lnSpc>
                        <a:defRPr/>
                      </a:pPr>
                      <a:r>
                        <a:rPr lang="en-US" b="false" i="false" strike="noStrike" u="none" sz="1000">
                          <a:solidFill>
                            <a:srgbClr val="1F2329"/>
                          </a:solidFill>
                          <a:latin typeface="Noto Sans SC"/>
                          <a:ea typeface="Noto Sans SC"/>
                          <a:cs typeface="Noto Sans SC"/>
                          <a:sym typeface="Noto Sans SC"/>
                        </a:rPr>
                        <a:t>添加PR和Code Review文档</a:t>
                      </a:r>
                      <a:endParaRPr lang="en-US" sz="1100"/>
                    </a:p>
                  </a:txBody>
                  <a:tcPr anchor="ctr" anchorCtr="false" marL="101600" marR="101600" marT="88900" marB="88900">
                    <a:lnL>
                      <a:noFill/>
                    </a:lnL>
                    <a:lnR>
                      <a:noFill/>
                    </a:lnR>
                    <a:lnT>
                      <a:noFill/>
                    </a:lnT>
                    <a:lnB>
                      <a:noFill/>
                    </a:lnB>
                    <a:noFill/>
                  </a:tcPr>
                </a:tc>
                <a:tc>
                  <a:txBody>
                    <a:bodyPr anchor="t" rtlCol="false"/>
                    <a:lstStyle/>
                    <a:p>
                      <a:pPr algn="ctr" marL="0" indent="0">
                        <a:lnSpc>
                          <a:spcPct val="100000"/>
                        </a:lnSpc>
                        <a:defRPr/>
                      </a:pPr>
                      <a:r>
                        <a:rPr lang="en-US" b="false" i="false" strike="noStrike" u="none" sz="1000">
                          <a:solidFill>
                            <a:srgbClr val="1F2329"/>
                          </a:solidFill>
                          <a:latin typeface="Noto Sans SC"/>
                          <a:ea typeface="Noto Sans SC"/>
                          <a:cs typeface="Noto Sans SC"/>
                          <a:sym typeface="Noto Sans SC"/>
                        </a:rPr>
                        <a:t>2</a:t>
                      </a:r>
                      <a:endParaRPr lang="en-US" sz="1100"/>
                    </a:p>
                  </a:txBody>
                  <a:tcPr anchor="ctr" anchorCtr="false" marL="101600" marR="101600" marT="88900" marB="88900">
                    <a:lnL>
                      <a:noFill/>
                    </a:lnL>
                    <a:lnR>
                      <a:noFill/>
                    </a:lnR>
                    <a:lnT>
                      <a:noFill/>
                    </a:lnT>
                    <a:lnB>
                      <a:noFill/>
                    </a:lnB>
                    <a:noFill/>
                  </a:tcPr>
                </a:tc>
              </a:tr>
              <a:tr h="355600">
                <a:tc>
                  <a:txBody>
                    <a:bodyPr anchor="t" rtlCol="false"/>
                    <a:lstStyle/>
                    <a:p>
                      <a:pPr algn="ctr" marL="0" indent="0">
                        <a:lnSpc>
                          <a:spcPct val="100000"/>
                        </a:lnSpc>
                        <a:defRPr/>
                      </a:pPr>
                      <a:r>
                        <a:rPr lang="en-US" b="false" i="false" strike="noStrike" u="none" sz="1000">
                          <a:solidFill>
                            <a:srgbClr val="1F2329"/>
                          </a:solidFill>
                          <a:latin typeface="Noto Sans SC"/>
                          <a:ea typeface="Noto Sans SC"/>
                          <a:cs typeface="Noto Sans SC"/>
                          <a:sym typeface="Noto Sans SC"/>
                        </a:rPr>
                        <a:t>cd7a6c7</a:t>
                      </a:r>
                      <a:endParaRPr lang="en-US" sz="1100"/>
                    </a:p>
                  </a:txBody>
                  <a:tcPr anchor="ctr" anchorCtr="false" marL="101600" marR="101600" marT="101600" marB="101600">
                    <a:lnL>
                      <a:noFill/>
                    </a:lnL>
                    <a:lnR>
                      <a:noFill/>
                    </a:lnR>
                    <a:lnT>
                      <a:noFill/>
                    </a:lnT>
                    <a:lnB>
                      <a:noFill/>
                    </a:lnB>
                    <a:noFill/>
                  </a:tcPr>
                </a:tc>
                <a:tc>
                  <a:txBody>
                    <a:bodyPr anchor="t" rtlCol="false"/>
                    <a:lstStyle/>
                    <a:p>
                      <a:pPr algn="ctr" marL="0" indent="0">
                        <a:lnSpc>
                          <a:spcPct val="100000"/>
                        </a:lnSpc>
                        <a:defRPr/>
                      </a:pPr>
                      <a:r>
                        <a:rPr lang="en-US" b="false" i="false" strike="noStrike" u="none" sz="1000">
                          <a:solidFill>
                            <a:srgbClr val="1F2329"/>
                          </a:solidFill>
                          <a:latin typeface="Noto Sans SC"/>
                          <a:ea typeface="Noto Sans SC"/>
                          <a:cs typeface="Noto Sans SC"/>
                          <a:sym typeface="Noto Sans SC"/>
                        </a:rPr>
                        <a:t>docs</a:t>
                      </a:r>
                      <a:endParaRPr lang="en-US" sz="1100"/>
                    </a:p>
                  </a:txBody>
                  <a:tcPr anchor="ctr" anchorCtr="false" marL="101600" marR="101600" marT="101600" marB="101600">
                    <a:lnL>
                      <a:noFill/>
                    </a:lnL>
                    <a:lnR>
                      <a:noFill/>
                    </a:lnR>
                    <a:lnT>
                      <a:noFill/>
                    </a:lnT>
                    <a:lnB>
                      <a:noFill/>
                    </a:lnB>
                    <a:noFill/>
                  </a:tcPr>
                </a:tc>
                <a:tc>
                  <a:txBody>
                    <a:bodyPr anchor="t" rtlCol="false"/>
                    <a:lstStyle/>
                    <a:p>
                      <a:pPr algn="l" marL="0" indent="0">
                        <a:lnSpc>
                          <a:spcPct val="100000"/>
                        </a:lnSpc>
                        <a:defRPr/>
                      </a:pPr>
                      <a:r>
                        <a:rPr lang="en-US" b="false" i="false" strike="noStrike" u="none" sz="1000">
                          <a:solidFill>
                            <a:srgbClr val="1F2329"/>
                          </a:solidFill>
                          <a:latin typeface="Noto Sans SC"/>
                          <a:ea typeface="Noto Sans SC"/>
                          <a:cs typeface="Noto Sans SC"/>
                          <a:sym typeface="Noto Sans SC"/>
                        </a:rPr>
                        <a:t>补充实验文档、脚本和测试证据</a:t>
                      </a:r>
                      <a:endParaRPr lang="en-US" sz="1100"/>
                    </a:p>
                  </a:txBody>
                  <a:tcPr anchor="ctr" anchorCtr="false" marL="101600" marR="101600" marT="101600" marB="101600">
                    <a:lnL>
                      <a:noFill/>
                    </a:lnL>
                    <a:lnR>
                      <a:noFill/>
                    </a:lnR>
                    <a:lnT>
                      <a:noFill/>
                    </a:lnT>
                    <a:lnB>
                      <a:noFill/>
                    </a:lnB>
                    <a:noFill/>
                  </a:tcPr>
                </a:tc>
                <a:tc>
                  <a:txBody>
                    <a:bodyPr anchor="t" rtlCol="false"/>
                    <a:lstStyle/>
                    <a:p>
                      <a:pPr algn="ctr" marL="0" indent="0">
                        <a:lnSpc>
                          <a:spcPct val="100000"/>
                        </a:lnSpc>
                        <a:defRPr/>
                      </a:pPr>
                      <a:r>
                        <a:rPr lang="en-US" b="false" i="false" strike="noStrike" u="none" sz="1000">
                          <a:solidFill>
                            <a:srgbClr val="1F2329"/>
                          </a:solidFill>
                          <a:latin typeface="Noto Sans SC"/>
                          <a:ea typeface="Noto Sans SC"/>
                          <a:cs typeface="Noto Sans SC"/>
                          <a:sym typeface="Noto Sans SC"/>
                        </a:rPr>
                        <a:t>21</a:t>
                      </a:r>
                      <a:endParaRPr lang="en-US" sz="1100"/>
                    </a:p>
                  </a:txBody>
                  <a:tcPr anchor="ctr" anchorCtr="false" marL="101600" marR="101600" marT="101600" marB="101600">
                    <a:lnL>
                      <a:noFill/>
                    </a:lnL>
                    <a:lnR>
                      <a:noFill/>
                    </a:lnR>
                    <a:lnT>
                      <a:noFill/>
                    </a:lnT>
                    <a:lnB>
                      <a:noFill/>
                    </a:lnB>
                    <a:noFill/>
                  </a:tcPr>
                </a:tc>
              </a:tr>
            </a:tbl>
          </a:graphicData>
        </a:graphic>
      </p:graphicFrame>
    </p:spTree>
  </p:cSld>
  <p:clrMapOvr>
    <a:masterClrMapping/>
  </p:clrMapOvr>
</p:sld>
</file>

<file path=ppt/slides/slide12.xml><?xml version="1.0" encoding="utf-8"?>
<p:sld xmlns:p="http://schemas.openxmlformats.org/presentationml/2006/main" xmlns:a="http://schemas.openxmlformats.org/drawingml/2006/main">
  <p:cSld>
    <p:bg>
      <p:bgPr>
        <a:solidFill>
          <a:srgbClr val="F2F4F8">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762000"/>
          </a:xfrm>
          <a:prstGeom prst="roundRect">
            <a:avLst>
              <a:gd name="adj" fmla="val 0"/>
            </a:avLst>
          </a:prstGeom>
          <a:solidFill>
            <a:srgbClr val="0D132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508000" y="152400"/>
            <a:ext cx="7620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200">
                <a:solidFill>
                  <a:srgbClr val="FFFFFF"/>
                </a:solidFill>
                <a:latin typeface="Noto Sans SC"/>
                <a:ea typeface="Noto Sans SC"/>
                <a:cs typeface="Noto Sans SC"/>
                <a:sym typeface="Noto Sans SC"/>
              </a:rPr>
              <a:t>问题与解决</a:t>
            </a:r>
            <a:endParaRPr lang="en-US" sz="1100"/>
          </a:p>
        </p:txBody>
      </p:sp>
      <p:sp>
        <p:nvSpPr>
          <p:cNvPr name="AutoShape 4" id="4"/>
          <p:cNvSpPr/>
          <p:nvPr/>
        </p:nvSpPr>
        <p:spPr>
          <a:xfrm rot="0" flipH="false" flipV="false">
            <a:off x="9525000" y="228600"/>
            <a:ext cx="2159000" cy="381000"/>
          </a:xfrm>
          <a:prstGeom prst="rect">
            <a:avLst/>
          </a:prstGeom>
          <a:noFill/>
          <a:ln w="12700" cmpd="sng" cap="flat">
            <a:noFill/>
            <a:prstDash val="solid"/>
            <a:round/>
          </a:ln>
        </p:spPr>
        <p:txBody>
          <a:bodyPr anchor="ctr" rtlCol="false" anchorCtr="false" vert="horz" wrap="square" lIns="0" rIns="0" tIns="0" bIns="0"/>
          <a:lstStyle/>
          <a:p>
            <a:pPr algn="r" marL="0" indent="0">
              <a:lnSpc>
                <a:spcPct val="125000"/>
              </a:lnSpc>
              <a:defRPr/>
            </a:pPr>
            <a:r>
              <a:rPr lang="en-US" b="false" i="false" strike="noStrike" u="none" sz="1200">
                <a:solidFill>
                  <a:srgbClr val="BFD7FF"/>
                </a:solidFill>
                <a:latin typeface="Noto Sans SC"/>
                <a:ea typeface="Noto Sans SC"/>
                <a:cs typeface="Noto Sans SC"/>
                <a:sym typeface="Noto Sans SC"/>
              </a:rPr>
              <a:t>实验01 / 共13页</a:t>
            </a:r>
            <a:endParaRPr lang="en-US" sz="1100"/>
          </a:p>
        </p:txBody>
      </p:sp>
      <p:graphicFrame>
        <p:nvGraphicFramePr>
          <p:cNvPr name="Table 5" id="5"/>
          <p:cNvGraphicFramePr>
            <a:graphicFrameLocks noGrp="true"/>
          </p:cNvGraphicFramePr>
          <p:nvPr/>
        </p:nvGraphicFramePr>
        <p:xfrm>
          <a:off x="508000" y="1079500"/>
          <a:ext cx="11176000" cy="5334000"/>
        </p:xfrm>
        <a:graphic>
          <a:graphicData uri="http://schemas.openxmlformats.org/drawingml/2006/table">
            <a:tbl>
              <a:tblPr>
                <a:effectLst/>
              </a:tblPr>
              <a:tblGrid>
                <a:gridCol w="508000"/>
                <a:gridCol w="2540000"/>
                <a:gridCol w="4064000"/>
                <a:gridCol w="4064000"/>
              </a:tblGrid>
              <a:tr h="482600">
                <a:tc>
                  <a:txBody>
                    <a:bodyPr anchor="t" rtlCol="false"/>
                    <a:lstStyle/>
                    <a:p>
                      <a:pPr algn="ctr" marL="0" indent="0">
                        <a:lnSpc>
                          <a:spcPct val="100000"/>
                        </a:lnSpc>
                        <a:defRPr/>
                      </a:pPr>
                      <a:r>
                        <a:rPr lang="en-US" b="true" i="false" strike="noStrike" u="none" sz="1200">
                          <a:solidFill>
                            <a:srgbClr val="FFFFFF"/>
                          </a:solidFill>
                          <a:latin typeface="Noto Sans SC"/>
                          <a:ea typeface="Noto Sans SC"/>
                          <a:cs typeface="Noto Sans SC"/>
                          <a:sym typeface="Noto Sans SC"/>
                        </a:rPr>
                        <a:t>#</a:t>
                      </a:r>
                      <a:endParaRPr lang="en-US" sz="1100"/>
                    </a:p>
                  </a:txBody>
                  <a:tcPr anchor="ctr" anchorCtr="false" marL="101600" marR="101600" marT="101600" marB="101600">
                    <a:lnL>
                      <a:noFill/>
                    </a:lnL>
                    <a:lnR>
                      <a:noFill/>
                    </a:lnR>
                    <a:lnT>
                      <a:noFill/>
                    </a:lnT>
                    <a:lnB>
                      <a:noFill/>
                    </a:lnB>
                    <a:solidFill>
                      <a:srgbClr val="0D1326">
                        <a:alpha val="100000"/>
                      </a:srgbClr>
                    </a:solidFill>
                  </a:tcPr>
                </a:tc>
                <a:tc>
                  <a:txBody>
                    <a:bodyPr anchor="t" rtlCol="false"/>
                    <a:lstStyle/>
                    <a:p>
                      <a:pPr algn="ctr" marL="0" indent="0">
                        <a:lnSpc>
                          <a:spcPct val="100000"/>
                        </a:lnSpc>
                        <a:defRPr/>
                      </a:pPr>
                      <a:r>
                        <a:rPr lang="en-US" b="true" i="false" strike="noStrike" u="none" sz="1200">
                          <a:solidFill>
                            <a:srgbClr val="FFFFFF"/>
                          </a:solidFill>
                          <a:latin typeface="Noto Sans SC"/>
                          <a:ea typeface="Noto Sans SC"/>
                          <a:cs typeface="Noto Sans SC"/>
                          <a:sym typeface="Noto Sans SC"/>
                        </a:rPr>
                        <a:t>问题</a:t>
                      </a:r>
                      <a:endParaRPr lang="en-US" sz="1100"/>
                    </a:p>
                  </a:txBody>
                  <a:tcPr anchor="ctr" anchorCtr="false" marL="101600" marR="101600" marT="101600" marB="101600">
                    <a:lnL>
                      <a:noFill/>
                    </a:lnL>
                    <a:lnR>
                      <a:noFill/>
                    </a:lnR>
                    <a:lnT>
                      <a:noFill/>
                    </a:lnT>
                    <a:lnB>
                      <a:noFill/>
                    </a:lnB>
                    <a:solidFill>
                      <a:srgbClr val="0D1326">
                        <a:alpha val="100000"/>
                      </a:srgbClr>
                    </a:solidFill>
                  </a:tcPr>
                </a:tc>
                <a:tc>
                  <a:txBody>
                    <a:bodyPr anchor="t" rtlCol="false"/>
                    <a:lstStyle/>
                    <a:p>
                      <a:pPr algn="ctr" marL="0" indent="0">
                        <a:lnSpc>
                          <a:spcPct val="100000"/>
                        </a:lnSpc>
                        <a:defRPr/>
                      </a:pPr>
                      <a:r>
                        <a:rPr lang="en-US" b="true" i="false" strike="noStrike" u="none" sz="1200">
                          <a:solidFill>
                            <a:srgbClr val="FFFFFF"/>
                          </a:solidFill>
                          <a:latin typeface="Noto Sans SC"/>
                          <a:ea typeface="Noto Sans SC"/>
                          <a:cs typeface="Noto Sans SC"/>
                          <a:sym typeface="Noto Sans SC"/>
                        </a:rPr>
                        <a:t>原因分析</a:t>
                      </a:r>
                      <a:endParaRPr lang="en-US" sz="1100"/>
                    </a:p>
                  </a:txBody>
                  <a:tcPr anchor="ctr" anchorCtr="false" marL="101600" marR="101600" marT="101600" marB="101600">
                    <a:lnL>
                      <a:noFill/>
                    </a:lnL>
                    <a:lnR>
                      <a:noFill/>
                    </a:lnR>
                    <a:lnT>
                      <a:noFill/>
                    </a:lnT>
                    <a:lnB>
                      <a:noFill/>
                    </a:lnB>
                    <a:solidFill>
                      <a:srgbClr val="0D1326">
                        <a:alpha val="100000"/>
                      </a:srgbClr>
                    </a:solidFill>
                  </a:tcPr>
                </a:tc>
                <a:tc>
                  <a:txBody>
                    <a:bodyPr anchor="t" rtlCol="false"/>
                    <a:lstStyle/>
                    <a:p>
                      <a:pPr algn="ctr" marL="0" indent="0">
                        <a:lnSpc>
                          <a:spcPct val="100000"/>
                        </a:lnSpc>
                        <a:defRPr/>
                      </a:pPr>
                      <a:r>
                        <a:rPr lang="en-US" b="true" i="false" strike="noStrike" u="none" sz="1200">
                          <a:solidFill>
                            <a:srgbClr val="FFFFFF"/>
                          </a:solidFill>
                          <a:latin typeface="Noto Sans SC"/>
                          <a:ea typeface="Noto Sans SC"/>
                          <a:cs typeface="Noto Sans SC"/>
                          <a:sym typeface="Noto Sans SC"/>
                        </a:rPr>
                        <a:t>解决方案</a:t>
                      </a:r>
                      <a:endParaRPr lang="en-US" sz="1100"/>
                    </a:p>
                  </a:txBody>
                  <a:tcPr anchor="ctr" anchorCtr="false" marL="101600" marR="101600" marT="101600" marB="101600">
                    <a:lnL>
                      <a:noFill/>
                    </a:lnL>
                    <a:lnR>
                      <a:noFill/>
                    </a:lnR>
                    <a:lnT>
                      <a:noFill/>
                    </a:lnT>
                    <a:lnB>
                      <a:noFill/>
                    </a:lnB>
                    <a:solidFill>
                      <a:srgbClr val="0D1326">
                        <a:alpha val="100000"/>
                      </a:srgbClr>
                    </a:solidFill>
                  </a:tcPr>
                </a:tc>
              </a:tr>
              <a:tr h="812800">
                <a:tc>
                  <a:txBody>
                    <a:bodyPr anchor="t" rtlCol="false"/>
                    <a:lstStyle/>
                    <a:p>
                      <a:pPr algn="ctr" marL="0" indent="0">
                        <a:lnSpc>
                          <a:spcPct val="100000"/>
                        </a:lnSpc>
                        <a:defRPr/>
                      </a:pPr>
                      <a:r>
                        <a:rPr lang="en-US" b="true" i="false" strike="noStrike" u="none" sz="1100">
                          <a:solidFill>
                            <a:srgbClr val="2563EB"/>
                          </a:solidFill>
                          <a:latin typeface="Noto Sans SC"/>
                          <a:ea typeface="Noto Sans SC"/>
                          <a:cs typeface="Noto Sans SC"/>
                          <a:sym typeface="Noto Sans SC"/>
                        </a:rPr>
                        <a:t>1</a:t>
                      </a:r>
                      <a:endParaRPr lang="en-US" sz="1100"/>
                    </a:p>
                  </a:txBody>
                  <a:tcPr anchor="ctr" anchorCtr="false" marL="101600" marR="101600" marT="101600" marB="101600">
                    <a:lnL>
                      <a:noFill/>
                    </a:lnL>
                    <a:lnR>
                      <a:noFill/>
                    </a:lnR>
                    <a:lnT>
                      <a:noFill/>
                    </a:lnT>
                    <a:lnB>
                      <a:noFill/>
                    </a:lnB>
                    <a:noFill/>
                  </a:tcPr>
                </a:tc>
                <a:tc>
                  <a:txBody>
                    <a:bodyPr anchor="t" rtlCol="false"/>
                    <a:lstStyle/>
                    <a:p>
                      <a:pPr algn="l" marL="0" indent="0">
                        <a:lnSpc>
                          <a:spcPct val="100000"/>
                        </a:lnSpc>
                        <a:defRPr/>
                      </a:pPr>
                      <a:r>
                        <a:rPr lang="en-US" b="false" i="false" strike="noStrike" u="none" sz="1100">
                          <a:solidFill>
                            <a:srgbClr val="1F2329"/>
                          </a:solidFill>
                          <a:latin typeface="Noto Sans SC"/>
                          <a:ea typeface="Noto Sans SC"/>
                          <a:cs typeface="Noto Sans SC"/>
                          <a:sym typeface="Noto Sans SC"/>
                        </a:rPr>
                        <a:t>Ghost CLI安装失败</a:t>
                      </a:r>
                      <a:endParaRPr lang="en-US" sz="1100"/>
                    </a:p>
                  </a:txBody>
                  <a:tcPr anchor="ctr" anchorCtr="false" marL="101600" marR="101600" marT="101600" marB="101600">
                    <a:lnL>
                      <a:noFill/>
                    </a:lnL>
                    <a:lnR>
                      <a:noFill/>
                    </a:lnR>
                    <a:lnT>
                      <a:noFill/>
                    </a:lnT>
                    <a:lnB>
                      <a:noFill/>
                    </a:lnB>
                    <a:noFill/>
                  </a:tcPr>
                </a:tc>
                <a:tc>
                  <a:txBody>
                    <a:bodyPr anchor="t" rtlCol="false"/>
                    <a:lstStyle/>
                    <a:p>
                      <a:pPr algn="l" marL="0" indent="0">
                        <a:lnSpc>
                          <a:spcPct val="100000"/>
                        </a:lnSpc>
                        <a:defRPr/>
                      </a:pPr>
                      <a:r>
                        <a:rPr lang="en-US" b="false" i="false" strike="noStrike" u="none" sz="1100">
                          <a:solidFill>
                            <a:srgbClr val="536174"/>
                          </a:solidFill>
                          <a:latin typeface="Noto Sans SC"/>
                          <a:ea typeface="Noto Sans SC"/>
                          <a:cs typeface="Noto Sans SC"/>
                          <a:sym typeface="Noto Sans SC"/>
                        </a:rPr>
                        <a:t>CLI误检测到不存在的ghost@6.62.0，--version参数无效</a:t>
                      </a:r>
                      <a:endParaRPr lang="en-US" sz="1100"/>
                    </a:p>
                  </a:txBody>
                  <a:tcPr anchor="ctr" anchorCtr="false" marL="101600" marR="101600" marT="101600" marB="101600">
                    <a:lnL>
                      <a:noFill/>
                    </a:lnL>
                    <a:lnR>
                      <a:noFill/>
                    </a:lnR>
                    <a:lnT>
                      <a:noFill/>
                    </a:lnT>
                    <a:lnB>
                      <a:noFill/>
                    </a:lnB>
                    <a:noFill/>
                  </a:tcPr>
                </a:tc>
                <a:tc>
                  <a:txBody>
                    <a:bodyPr anchor="t" rtlCol="false"/>
                    <a:lstStyle/>
                    <a:p>
                      <a:pPr algn="l" marL="0" indent="0">
                        <a:lnSpc>
                          <a:spcPct val="100000"/>
                        </a:lnSpc>
                        <a:defRPr/>
                      </a:pPr>
                      <a:r>
                        <a:rPr lang="en-US" b="false" i="false" strike="noStrike" u="none" sz="1100">
                          <a:solidFill>
                            <a:srgbClr val="1F2329"/>
                          </a:solidFill>
                          <a:latin typeface="Noto Sans SC"/>
                          <a:ea typeface="Noto Sans SC"/>
                          <a:cs typeface="Noto Sans SC"/>
                          <a:sym typeface="Noto Sans SC"/>
                        </a:rPr>
                        <a:t>手动下载Ghost 5.130.6 tgz解压安装，建立current junction</a:t>
                      </a:r>
                      <a:endParaRPr lang="en-US" sz="1100"/>
                    </a:p>
                  </a:txBody>
                  <a:tcPr anchor="ctr" anchorCtr="false" marL="101600" marR="101600" marT="101600" marB="101600">
                    <a:lnL>
                      <a:noFill/>
                    </a:lnL>
                    <a:lnR>
                      <a:noFill/>
                    </a:lnR>
                    <a:lnT>
                      <a:noFill/>
                    </a:lnT>
                    <a:lnB>
                      <a:noFill/>
                    </a:lnB>
                    <a:noFill/>
                  </a:tcPr>
                </a:tc>
              </a:tr>
              <a:tr h="812800">
                <a:tc>
                  <a:txBody>
                    <a:bodyPr anchor="t" rtlCol="false"/>
                    <a:lstStyle/>
                    <a:p>
                      <a:pPr algn="ctr" marL="0" indent="0">
                        <a:lnSpc>
                          <a:spcPct val="100000"/>
                        </a:lnSpc>
                        <a:defRPr/>
                      </a:pPr>
                      <a:r>
                        <a:rPr lang="en-US" b="true" i="false" strike="noStrike" u="none" sz="1100">
                          <a:solidFill>
                            <a:srgbClr val="2563EB"/>
                          </a:solidFill>
                          <a:latin typeface="Noto Sans SC"/>
                          <a:ea typeface="Noto Sans SC"/>
                          <a:cs typeface="Noto Sans SC"/>
                          <a:sym typeface="Noto Sans SC"/>
                        </a:rPr>
                        <a:t>2</a:t>
                      </a:r>
                      <a:endParaRPr lang="en-US" sz="1100"/>
                    </a:p>
                  </a:txBody>
                  <a:tcPr anchor="ctr" anchorCtr="false" marL="101600" marR="101600" marT="101600" marB="101600">
                    <a:lnL>
                      <a:noFill/>
                    </a:lnL>
                    <a:lnR>
                      <a:noFill/>
                    </a:lnR>
                    <a:lnT>
                      <a:noFill/>
                    </a:lnT>
                    <a:lnB>
                      <a:noFill/>
                    </a:lnB>
                    <a:noFill/>
                  </a:tcPr>
                </a:tc>
                <a:tc>
                  <a:txBody>
                    <a:bodyPr anchor="t" rtlCol="false"/>
                    <a:lstStyle/>
                    <a:p>
                      <a:pPr algn="l" marL="0" indent="0">
                        <a:lnSpc>
                          <a:spcPct val="100000"/>
                        </a:lnSpc>
                        <a:defRPr/>
                      </a:pPr>
                      <a:r>
                        <a:rPr lang="en-US" b="false" i="false" strike="noStrike" u="none" sz="1100">
                          <a:solidFill>
                            <a:srgbClr val="1F2329"/>
                          </a:solidFill>
                          <a:latin typeface="Noto Sans SC"/>
                          <a:ea typeface="Noto Sans SC"/>
                          <a:cs typeface="Noto Sans SC"/>
                          <a:sym typeface="Noto Sans SC"/>
                        </a:rPr>
                        <a:t>sqlite3编译失败</a:t>
                      </a:r>
                      <a:endParaRPr lang="en-US" sz="1100"/>
                    </a:p>
                  </a:txBody>
                  <a:tcPr anchor="ctr" anchorCtr="false" marL="101600" marR="101600" marT="101600" marB="101600">
                    <a:lnL>
                      <a:noFill/>
                    </a:lnL>
                    <a:lnR>
                      <a:noFill/>
                    </a:lnR>
                    <a:lnT>
                      <a:noFill/>
                    </a:lnT>
                    <a:lnB>
                      <a:noFill/>
                    </a:lnB>
                    <a:noFill/>
                  </a:tcPr>
                </a:tc>
                <a:tc>
                  <a:txBody>
                    <a:bodyPr anchor="t" rtlCol="false"/>
                    <a:lstStyle/>
                    <a:p>
                      <a:pPr algn="l" marL="0" indent="0">
                        <a:lnSpc>
                          <a:spcPct val="100000"/>
                        </a:lnSpc>
                        <a:defRPr/>
                      </a:pPr>
                      <a:r>
                        <a:rPr lang="en-US" b="false" i="false" strike="noStrike" u="none" sz="1100">
                          <a:solidFill>
                            <a:srgbClr val="536174"/>
                          </a:solidFill>
                          <a:latin typeface="Noto Sans SC"/>
                          <a:ea typeface="Noto Sans SC"/>
                          <a:cs typeface="Noto Sans SC"/>
                          <a:sym typeface="Noto Sans SC"/>
                        </a:rPr>
                        <a:t>系统无Visual Studio，sqlite3源码编译失败</a:t>
                      </a:r>
                      <a:endParaRPr lang="en-US" sz="1100"/>
                    </a:p>
                  </a:txBody>
                  <a:tcPr anchor="ctr" anchorCtr="false" marL="101600" marR="101600" marT="101600" marB="101600">
                    <a:lnL>
                      <a:noFill/>
                    </a:lnL>
                    <a:lnR>
                      <a:noFill/>
                    </a:lnR>
                    <a:lnT>
                      <a:noFill/>
                    </a:lnT>
                    <a:lnB>
                      <a:noFill/>
                    </a:lnB>
                    <a:noFill/>
                  </a:tcPr>
                </a:tc>
                <a:tc>
                  <a:txBody>
                    <a:bodyPr anchor="t" rtlCol="false"/>
                    <a:lstStyle/>
                    <a:p>
                      <a:pPr algn="l" marL="0" indent="0">
                        <a:lnSpc>
                          <a:spcPct val="100000"/>
                        </a:lnSpc>
                        <a:defRPr/>
                      </a:pPr>
                      <a:r>
                        <a:rPr lang="en-US" b="false" i="false" strike="noStrike" u="none" sz="1100">
                          <a:solidFill>
                            <a:srgbClr val="1F2329"/>
                          </a:solidFill>
                          <a:latin typeface="Noto Sans SC"/>
                          <a:ea typeface="Noto Sans SC"/>
                          <a:cs typeface="Noto Sans SC"/>
                          <a:sym typeface="Noto Sans SC"/>
                        </a:rPr>
                        <a:t>从GitHub releases下载预编译二进制，手动放置到build/Release</a:t>
                      </a:r>
                      <a:endParaRPr lang="en-US" sz="1100"/>
                    </a:p>
                  </a:txBody>
                  <a:tcPr anchor="ctr" anchorCtr="false" marL="101600" marR="101600" marT="101600" marB="101600">
                    <a:lnL>
                      <a:noFill/>
                    </a:lnL>
                    <a:lnR>
                      <a:noFill/>
                    </a:lnR>
                    <a:lnT>
                      <a:noFill/>
                    </a:lnT>
                    <a:lnB>
                      <a:noFill/>
                    </a:lnB>
                    <a:noFill/>
                  </a:tcPr>
                </a:tc>
              </a:tr>
              <a:tr h="812800">
                <a:tc>
                  <a:txBody>
                    <a:bodyPr anchor="t" rtlCol="false"/>
                    <a:lstStyle/>
                    <a:p>
                      <a:pPr algn="ctr" marL="0" indent="0">
                        <a:lnSpc>
                          <a:spcPct val="100000"/>
                        </a:lnSpc>
                        <a:defRPr/>
                      </a:pPr>
                      <a:r>
                        <a:rPr lang="en-US" b="true" i="false" strike="noStrike" u="none" sz="1100">
                          <a:solidFill>
                            <a:srgbClr val="2563EB"/>
                          </a:solidFill>
                          <a:latin typeface="Noto Sans SC"/>
                          <a:ea typeface="Noto Sans SC"/>
                          <a:cs typeface="Noto Sans SC"/>
                          <a:sym typeface="Noto Sans SC"/>
                        </a:rPr>
                        <a:t>3</a:t>
                      </a:r>
                      <a:endParaRPr lang="en-US" sz="1100"/>
                    </a:p>
                  </a:txBody>
                  <a:tcPr anchor="ctr" anchorCtr="false" marL="101600" marR="101600" marT="101600" marB="101600">
                    <a:lnL>
                      <a:noFill/>
                    </a:lnL>
                    <a:lnR>
                      <a:noFill/>
                    </a:lnR>
                    <a:lnT>
                      <a:noFill/>
                    </a:lnT>
                    <a:lnB>
                      <a:noFill/>
                    </a:lnB>
                    <a:noFill/>
                  </a:tcPr>
                </a:tc>
                <a:tc>
                  <a:txBody>
                    <a:bodyPr anchor="t" rtlCol="false"/>
                    <a:lstStyle/>
                    <a:p>
                      <a:pPr algn="l" marL="0" indent="0">
                        <a:lnSpc>
                          <a:spcPct val="100000"/>
                        </a:lnSpc>
                        <a:defRPr/>
                      </a:pPr>
                      <a:r>
                        <a:rPr lang="en-US" b="false" i="false" strike="noStrike" u="none" sz="1100">
                          <a:solidFill>
                            <a:srgbClr val="1F2329"/>
                          </a:solidFill>
                          <a:latin typeface="Noto Sans SC"/>
                          <a:ea typeface="Noto Sans SC"/>
                          <a:cs typeface="Noto Sans SC"/>
                          <a:sym typeface="Noto Sans SC"/>
                        </a:rPr>
                        <a:t>express-hbs路径问题</a:t>
                      </a:r>
                      <a:endParaRPr lang="en-US" sz="1100"/>
                    </a:p>
                  </a:txBody>
                  <a:tcPr anchor="ctr" anchorCtr="false" marL="101600" marR="101600" marT="101600" marB="101600">
                    <a:lnL>
                      <a:noFill/>
                    </a:lnL>
                    <a:lnR>
                      <a:noFill/>
                    </a:lnR>
                    <a:lnT>
                      <a:noFill/>
                    </a:lnT>
                    <a:lnB>
                      <a:noFill/>
                    </a:lnB>
                    <a:noFill/>
                  </a:tcPr>
                </a:tc>
                <a:tc>
                  <a:txBody>
                    <a:bodyPr anchor="t" rtlCol="false"/>
                    <a:lstStyle/>
                    <a:p>
                      <a:pPr algn="l" marL="0" indent="0">
                        <a:lnSpc>
                          <a:spcPct val="100000"/>
                        </a:lnSpc>
                        <a:defRPr/>
                      </a:pPr>
                      <a:r>
                        <a:rPr lang="en-US" b="false" i="false" strike="noStrike" u="none" sz="1100">
                          <a:solidFill>
                            <a:srgbClr val="536174"/>
                          </a:solidFill>
                          <a:latin typeface="Noto Sans SC"/>
                          <a:ea typeface="Noto Sans SC"/>
                          <a:cs typeface="Noto Sans SC"/>
                          <a:sym typeface="Noto Sans SC"/>
                        </a:rPr>
                        <a:t>Windows上cacheLayout函数相对路径与绝对路径比较失败</a:t>
                      </a:r>
                      <a:endParaRPr lang="en-US" sz="1100"/>
                    </a:p>
                  </a:txBody>
                  <a:tcPr anchor="ctr" anchorCtr="false" marL="101600" marR="101600" marT="101600" marB="101600">
                    <a:lnL>
                      <a:noFill/>
                    </a:lnL>
                    <a:lnR>
                      <a:noFill/>
                    </a:lnR>
                    <a:lnT>
                      <a:noFill/>
                    </a:lnT>
                    <a:lnB>
                      <a:noFill/>
                    </a:lnB>
                    <a:noFill/>
                  </a:tcPr>
                </a:tc>
                <a:tc>
                  <a:txBody>
                    <a:bodyPr anchor="t" rtlCol="false"/>
                    <a:lstStyle/>
                    <a:p>
                      <a:pPr algn="l" marL="0" indent="0">
                        <a:lnSpc>
                          <a:spcPct val="100000"/>
                        </a:lnSpc>
                        <a:defRPr/>
                      </a:pPr>
                      <a:r>
                        <a:rPr lang="en-US" b="false" i="false" strike="noStrike" u="none" sz="1100">
                          <a:solidFill>
                            <a:srgbClr val="1F2329"/>
                          </a:solidFill>
                          <a:latin typeface="Noto Sans SC"/>
                          <a:ea typeface="Noto Sans SC"/>
                          <a:cs typeface="Noto Sans SC"/>
                          <a:sym typeface="Noto Sans SC"/>
                        </a:rPr>
                        <a:t>手动修改hbs.js，改用path.resolve()规范化后比较</a:t>
                      </a:r>
                      <a:endParaRPr lang="en-US" sz="1100"/>
                    </a:p>
                  </a:txBody>
                  <a:tcPr anchor="ctr" anchorCtr="false" marL="101600" marR="101600" marT="101600" marB="101600">
                    <a:lnL>
                      <a:noFill/>
                    </a:lnL>
                    <a:lnR>
                      <a:noFill/>
                    </a:lnR>
                    <a:lnT>
                      <a:noFill/>
                    </a:lnT>
                    <a:lnB>
                      <a:noFill/>
                    </a:lnB>
                    <a:noFill/>
                  </a:tcPr>
                </a:tc>
              </a:tr>
              <a:tr h="812800">
                <a:tc>
                  <a:txBody>
                    <a:bodyPr anchor="t" rtlCol="false"/>
                    <a:lstStyle/>
                    <a:p>
                      <a:pPr algn="ctr" marL="0" indent="0">
                        <a:lnSpc>
                          <a:spcPct val="100000"/>
                        </a:lnSpc>
                        <a:defRPr/>
                      </a:pPr>
                      <a:r>
                        <a:rPr lang="en-US" b="true" i="false" strike="noStrike" u="none" sz="1100">
                          <a:solidFill>
                            <a:srgbClr val="2563EB"/>
                          </a:solidFill>
                          <a:latin typeface="Noto Sans SC"/>
                          <a:ea typeface="Noto Sans SC"/>
                          <a:cs typeface="Noto Sans SC"/>
                          <a:sym typeface="Noto Sans SC"/>
                        </a:rPr>
                        <a:t>4</a:t>
                      </a:r>
                      <a:endParaRPr lang="en-US" sz="1100"/>
                    </a:p>
                  </a:txBody>
                  <a:tcPr anchor="ctr" anchorCtr="false" marL="101600" marR="101600" marT="101600" marB="101600">
                    <a:lnL>
                      <a:noFill/>
                    </a:lnL>
                    <a:lnR>
                      <a:noFill/>
                    </a:lnR>
                    <a:lnT>
                      <a:noFill/>
                    </a:lnT>
                    <a:lnB>
                      <a:noFill/>
                    </a:lnB>
                    <a:noFill/>
                  </a:tcPr>
                </a:tc>
                <a:tc>
                  <a:txBody>
                    <a:bodyPr anchor="t" rtlCol="false"/>
                    <a:lstStyle/>
                    <a:p>
                      <a:pPr algn="l" marL="0" indent="0">
                        <a:lnSpc>
                          <a:spcPct val="100000"/>
                        </a:lnSpc>
                        <a:defRPr/>
                      </a:pPr>
                      <a:r>
                        <a:rPr lang="en-US" b="false" i="false" strike="noStrike" u="none" sz="1100">
                          <a:solidFill>
                            <a:srgbClr val="1F2329"/>
                          </a:solidFill>
                          <a:latin typeface="Noto Sans SC"/>
                          <a:ea typeface="Noto Sans SC"/>
                          <a:cs typeface="Noto Sans SC"/>
                          <a:sym typeface="Noto Sans SC"/>
                        </a:rPr>
                        <a:t>登录验证码问题</a:t>
                      </a:r>
                      <a:endParaRPr lang="en-US" sz="1100"/>
                    </a:p>
                  </a:txBody>
                  <a:tcPr anchor="ctr" anchorCtr="false" marL="101600" marR="101600" marT="101600" marB="101600">
                    <a:lnL>
                      <a:noFill/>
                    </a:lnL>
                    <a:lnR>
                      <a:noFill/>
                    </a:lnR>
                    <a:lnT>
                      <a:noFill/>
                    </a:lnT>
                    <a:lnB>
                      <a:noFill/>
                    </a:lnB>
                    <a:noFill/>
                  </a:tcPr>
                </a:tc>
                <a:tc>
                  <a:txBody>
                    <a:bodyPr anchor="t" rtlCol="false"/>
                    <a:lstStyle/>
                    <a:p>
                      <a:pPr algn="l" marL="0" indent="0">
                        <a:lnSpc>
                          <a:spcPct val="100000"/>
                        </a:lnSpc>
                        <a:defRPr/>
                      </a:pPr>
                      <a:r>
                        <a:rPr lang="en-US" b="false" i="false" strike="noStrike" u="none" sz="1100">
                          <a:solidFill>
                            <a:srgbClr val="536174"/>
                          </a:solidFill>
                          <a:latin typeface="Noto Sans SC"/>
                          <a:ea typeface="Noto Sans SC"/>
                          <a:cs typeface="Noto Sans SC"/>
                          <a:sym typeface="Noto Sans SC"/>
                        </a:rPr>
                        <a:t>Ghost 5.x默认启用新设备登录验证码，需邮箱验证</a:t>
                      </a:r>
                      <a:endParaRPr lang="en-US" sz="1100"/>
                    </a:p>
                  </a:txBody>
                  <a:tcPr anchor="ctr" anchorCtr="false" marL="101600" marR="101600" marT="101600" marB="101600">
                    <a:lnL>
                      <a:noFill/>
                    </a:lnL>
                    <a:lnR>
                      <a:noFill/>
                    </a:lnR>
                    <a:lnT>
                      <a:noFill/>
                    </a:lnT>
                    <a:lnB>
                      <a:noFill/>
                    </a:lnB>
                    <a:noFill/>
                  </a:tcPr>
                </a:tc>
                <a:tc>
                  <a:txBody>
                    <a:bodyPr anchor="t" rtlCol="false"/>
                    <a:lstStyle/>
                    <a:p>
                      <a:pPr algn="l" marL="0" indent="0">
                        <a:lnSpc>
                          <a:spcPct val="100000"/>
                        </a:lnSpc>
                        <a:defRPr/>
                      </a:pPr>
                      <a:r>
                        <a:rPr lang="en-US" b="false" i="false" strike="noStrike" u="none" sz="1100">
                          <a:solidFill>
                            <a:srgbClr val="1F2329"/>
                          </a:solidFill>
                          <a:latin typeface="Noto Sans SC"/>
                          <a:ea typeface="Noto Sans SC"/>
                          <a:cs typeface="Noto Sans SC"/>
                          <a:sym typeface="Noto Sans SC"/>
                        </a:rPr>
                        <a:t>config中设置security.staffDeviceVerification=false禁用验证码</a:t>
                      </a:r>
                      <a:endParaRPr lang="en-US" sz="1100"/>
                    </a:p>
                  </a:txBody>
                  <a:tcPr anchor="ctr" anchorCtr="false" marL="101600" marR="101600" marT="101600" marB="101600">
                    <a:lnL>
                      <a:noFill/>
                    </a:lnL>
                    <a:lnR>
                      <a:noFill/>
                    </a:lnR>
                    <a:lnT>
                      <a:noFill/>
                    </a:lnT>
                    <a:lnB>
                      <a:noFill/>
                    </a:lnB>
                    <a:noFill/>
                  </a:tcPr>
                </a:tc>
              </a:tr>
              <a:tr h="812800">
                <a:tc>
                  <a:txBody>
                    <a:bodyPr anchor="t" rtlCol="false"/>
                    <a:lstStyle/>
                    <a:p>
                      <a:pPr algn="ctr" marL="0" indent="0">
                        <a:lnSpc>
                          <a:spcPct val="100000"/>
                        </a:lnSpc>
                        <a:defRPr/>
                      </a:pPr>
                      <a:r>
                        <a:rPr lang="en-US" b="true" i="false" strike="noStrike" u="none" sz="1100">
                          <a:solidFill>
                            <a:srgbClr val="2563EB"/>
                          </a:solidFill>
                          <a:latin typeface="Noto Sans SC"/>
                          <a:ea typeface="Noto Sans SC"/>
                          <a:cs typeface="Noto Sans SC"/>
                          <a:sym typeface="Noto Sans SC"/>
                        </a:rPr>
                        <a:t>5</a:t>
                      </a:r>
                      <a:endParaRPr lang="en-US" sz="1100"/>
                    </a:p>
                  </a:txBody>
                  <a:tcPr anchor="ctr" anchorCtr="false" marL="101600" marR="101600" marT="101600" marB="101600">
                    <a:lnL>
                      <a:noFill/>
                    </a:lnL>
                    <a:lnR>
                      <a:noFill/>
                    </a:lnR>
                    <a:lnT>
                      <a:noFill/>
                    </a:lnT>
                    <a:lnB>
                      <a:noFill/>
                    </a:lnB>
                    <a:noFill/>
                  </a:tcPr>
                </a:tc>
                <a:tc>
                  <a:txBody>
                    <a:bodyPr anchor="t" rtlCol="false"/>
                    <a:lstStyle/>
                    <a:p>
                      <a:pPr algn="l" marL="0" indent="0">
                        <a:lnSpc>
                          <a:spcPct val="100000"/>
                        </a:lnSpc>
                        <a:defRPr/>
                      </a:pPr>
                      <a:r>
                        <a:rPr lang="en-US" b="false" i="false" strike="noStrike" u="none" sz="1100">
                          <a:solidFill>
                            <a:srgbClr val="1F2329"/>
                          </a:solidFill>
                          <a:latin typeface="Noto Sans SC"/>
                          <a:ea typeface="Noto Sans SC"/>
                          <a:cs typeface="Noto Sans SC"/>
                          <a:sym typeface="Noto Sans SC"/>
                        </a:rPr>
                        <a:t>邮件服务未配置</a:t>
                      </a:r>
                      <a:endParaRPr lang="en-US" sz="1100"/>
                    </a:p>
                  </a:txBody>
                  <a:tcPr anchor="ctr" anchorCtr="false" marL="101600" marR="101600" marT="101600" marB="101600">
                    <a:lnL>
                      <a:noFill/>
                    </a:lnL>
                    <a:lnR>
                      <a:noFill/>
                    </a:lnR>
                    <a:lnT>
                      <a:noFill/>
                    </a:lnT>
                    <a:lnB>
                      <a:noFill/>
                    </a:lnB>
                    <a:noFill/>
                  </a:tcPr>
                </a:tc>
                <a:tc>
                  <a:txBody>
                    <a:bodyPr anchor="t" rtlCol="false"/>
                    <a:lstStyle/>
                    <a:p>
                      <a:pPr algn="l" marL="0" indent="0">
                        <a:lnSpc>
                          <a:spcPct val="100000"/>
                        </a:lnSpc>
                        <a:defRPr/>
                      </a:pPr>
                      <a:r>
                        <a:rPr lang="en-US" b="false" i="false" strike="noStrike" u="none" sz="1100">
                          <a:solidFill>
                            <a:srgbClr val="536174"/>
                          </a:solidFill>
                          <a:latin typeface="Noto Sans SC"/>
                          <a:ea typeface="Noto Sans SC"/>
                          <a:cs typeface="Noto Sans SC"/>
                          <a:sym typeface="Noto Sans SC"/>
                        </a:rPr>
                        <a:t>本地环境无SMTP服务器，会员邮件发送失败</a:t>
                      </a:r>
                      <a:endParaRPr lang="en-US" sz="1100"/>
                    </a:p>
                  </a:txBody>
                  <a:tcPr anchor="ctr" anchorCtr="false" marL="101600" marR="101600" marT="101600" marB="101600">
                    <a:lnL>
                      <a:noFill/>
                    </a:lnL>
                    <a:lnR>
                      <a:noFill/>
                    </a:lnR>
                    <a:lnT>
                      <a:noFill/>
                    </a:lnT>
                    <a:lnB>
                      <a:noFill/>
                    </a:lnB>
                    <a:noFill/>
                  </a:tcPr>
                </a:tc>
                <a:tc>
                  <a:txBody>
                    <a:bodyPr anchor="t" rtlCol="false"/>
                    <a:lstStyle/>
                    <a:p>
                      <a:pPr algn="l" marL="0" indent="0">
                        <a:lnSpc>
                          <a:spcPct val="100000"/>
                        </a:lnSpc>
                        <a:defRPr/>
                      </a:pPr>
                      <a:r>
                        <a:rPr lang="en-US" b="false" i="false" strike="noStrike" u="none" sz="1100">
                          <a:solidFill>
                            <a:srgbClr val="1F2329"/>
                          </a:solidFill>
                          <a:latin typeface="Noto Sans SC"/>
                          <a:ea typeface="Noto Sans SC"/>
                          <a:cs typeface="Noto Sans SC"/>
                          <a:sym typeface="Noto Sans SC"/>
                        </a:rPr>
                        <a:t>启动本地假SMTP服务器(端口2525)，配置Ghost使用该SMTP</a:t>
                      </a:r>
                      <a:endParaRPr lang="en-US" sz="1100"/>
                    </a:p>
                  </a:txBody>
                  <a:tcPr anchor="ctr" anchorCtr="false" marL="101600" marR="101600" marT="101600" marB="101600">
                    <a:lnL>
                      <a:noFill/>
                    </a:lnL>
                    <a:lnR>
                      <a:noFill/>
                    </a:lnR>
                    <a:lnT>
                      <a:noFill/>
                    </a:lnT>
                    <a:lnB>
                      <a:noFill/>
                    </a:lnB>
                    <a:noFill/>
                  </a:tcPr>
                </a:tc>
              </a:tr>
              <a:tr h="787400">
                <a:tc>
                  <a:txBody>
                    <a:bodyPr anchor="t" rtlCol="false"/>
                    <a:lstStyle/>
                    <a:p>
                      <a:pPr algn="ctr" marL="0" indent="0">
                        <a:lnSpc>
                          <a:spcPct val="100000"/>
                        </a:lnSpc>
                        <a:defRPr/>
                      </a:pPr>
                      <a:r>
                        <a:rPr lang="en-US" b="true" i="false" strike="noStrike" u="none" sz="1100">
                          <a:solidFill>
                            <a:srgbClr val="2563EB"/>
                          </a:solidFill>
                          <a:latin typeface="Noto Sans SC"/>
                          <a:ea typeface="Noto Sans SC"/>
                          <a:cs typeface="Noto Sans SC"/>
                          <a:sym typeface="Noto Sans SC"/>
                        </a:rPr>
                        <a:t>6</a:t>
                      </a:r>
                      <a:endParaRPr lang="en-US" sz="1100"/>
                    </a:p>
                  </a:txBody>
                  <a:tcPr anchor="ctr" anchorCtr="false" marL="101600" marR="101600" marT="101600" marB="101600">
                    <a:lnL>
                      <a:noFill/>
                    </a:lnL>
                    <a:lnR>
                      <a:noFill/>
                    </a:lnR>
                    <a:lnT>
                      <a:noFill/>
                    </a:lnT>
                    <a:lnB>
                      <a:noFill/>
                    </a:lnB>
                    <a:noFill/>
                  </a:tcPr>
                </a:tc>
                <a:tc>
                  <a:txBody>
                    <a:bodyPr anchor="t" rtlCol="false"/>
                    <a:lstStyle/>
                    <a:p>
                      <a:pPr algn="l" marL="0" indent="0">
                        <a:lnSpc>
                          <a:spcPct val="100000"/>
                        </a:lnSpc>
                        <a:defRPr/>
                      </a:pPr>
                      <a:r>
                        <a:rPr lang="en-US" b="false" i="false" strike="noStrike" u="none" sz="1100">
                          <a:solidFill>
                            <a:srgbClr val="1F2329"/>
                          </a:solidFill>
                          <a:latin typeface="Noto Sans SC"/>
                          <a:ea typeface="Noto Sans SC"/>
                          <a:cs typeface="Noto Sans SC"/>
                          <a:sym typeface="Noto Sans SC"/>
                        </a:rPr>
                        <a:t>登录次数锁定</a:t>
                      </a:r>
                      <a:endParaRPr lang="en-US" sz="1100"/>
                    </a:p>
                  </a:txBody>
                  <a:tcPr anchor="ctr" anchorCtr="false" marL="101600" marR="101600" marT="101600" marB="101600">
                    <a:lnL>
                      <a:noFill/>
                    </a:lnL>
                    <a:lnR>
                      <a:noFill/>
                    </a:lnR>
                    <a:lnT>
                      <a:noFill/>
                    </a:lnT>
                    <a:lnB>
                      <a:noFill/>
                    </a:lnB>
                    <a:noFill/>
                  </a:tcPr>
                </a:tc>
                <a:tc>
                  <a:txBody>
                    <a:bodyPr anchor="t" rtlCol="false"/>
                    <a:lstStyle/>
                    <a:p>
                      <a:pPr algn="l" marL="0" indent="0">
                        <a:lnSpc>
                          <a:spcPct val="100000"/>
                        </a:lnSpc>
                        <a:defRPr/>
                      </a:pPr>
                      <a:r>
                        <a:rPr lang="en-US" b="false" i="false" strike="noStrike" u="none" sz="1100">
                          <a:solidFill>
                            <a:srgbClr val="536174"/>
                          </a:solidFill>
                          <a:latin typeface="Noto Sans SC"/>
                          <a:ea typeface="Noto Sans SC"/>
                          <a:cs typeface="Noto Sans SC"/>
                          <a:sym typeface="Noto Sans SC"/>
                        </a:rPr>
                        <a:t>多次错误密码触发暴力破解保护，锁定10分钟</a:t>
                      </a:r>
                      <a:endParaRPr lang="en-US" sz="1100"/>
                    </a:p>
                  </a:txBody>
                  <a:tcPr anchor="ctr" anchorCtr="false" marL="101600" marR="101600" marT="101600" marB="101600">
                    <a:lnL>
                      <a:noFill/>
                    </a:lnL>
                    <a:lnR>
                      <a:noFill/>
                    </a:lnR>
                    <a:lnT>
                      <a:noFill/>
                    </a:lnT>
                    <a:lnB>
                      <a:noFill/>
                    </a:lnB>
                    <a:noFill/>
                  </a:tcPr>
                </a:tc>
                <a:tc>
                  <a:txBody>
                    <a:bodyPr anchor="t" rtlCol="false"/>
                    <a:lstStyle/>
                    <a:p>
                      <a:pPr algn="l" marL="0" indent="0">
                        <a:lnSpc>
                          <a:spcPct val="100000"/>
                        </a:lnSpc>
                        <a:defRPr/>
                      </a:pPr>
                      <a:r>
                        <a:rPr lang="en-US" b="false" i="false" strike="noStrike" u="none" sz="1100">
                          <a:solidFill>
                            <a:srgbClr val="1F2329"/>
                          </a:solidFill>
                          <a:latin typeface="Noto Sans SC"/>
                          <a:ea typeface="Noto Sans SC"/>
                          <a:cs typeface="Noto Sans SC"/>
                          <a:sym typeface="Noto Sans SC"/>
                        </a:rPr>
                        <a:t>清除数据库brute表和sessions表，重启Ghost服务</a:t>
                      </a:r>
                      <a:endParaRPr lang="en-US" sz="1100"/>
                    </a:p>
                  </a:txBody>
                  <a:tcPr anchor="ctr" anchorCtr="false" marL="101600" marR="101600" marT="101600" marB="101600">
                    <a:lnL>
                      <a:noFill/>
                    </a:lnL>
                    <a:lnR>
                      <a:noFill/>
                    </a:lnR>
                    <a:lnT>
                      <a:noFill/>
                    </a:lnT>
                    <a:lnB>
                      <a:noFill/>
                    </a:lnB>
                    <a:noFill/>
                  </a:tcPr>
                </a:tc>
              </a:tr>
            </a:tbl>
          </a:graphicData>
        </a:graphic>
      </p:graphicFrame>
    </p:spTree>
  </p:cSld>
  <p:clrMapOvr>
    <a:masterClrMapping/>
  </p:clrMapOvr>
</p:sld>
</file>

<file path=ppt/slides/slide13.xml><?xml version="1.0" encoding="utf-8"?>
<p:sld xmlns:p="http://schemas.openxmlformats.org/presentationml/2006/main" xmlns:a="http://schemas.openxmlformats.org/drawingml/2006/main">
  <p:cSld>
    <p:bg>
      <p:bgPr>
        <a:gradFill rotWithShape="true">
          <a:gsLst>
            <a:gs pos="0">
              <a:srgbClr val="0D1326">
                <a:alpha val="100000"/>
              </a:srgbClr>
            </a:gs>
            <a:gs pos="100000">
              <a:srgbClr val="2563EB">
                <a:alpha val="100000"/>
              </a:srgbClr>
            </a:gs>
          </a:gsLst>
          <a:lin ang="2700000"/>
        </a:gra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76200"/>
          </a:xfrm>
          <a:prstGeom prst="roundRect">
            <a:avLst>
              <a:gd name="adj" fmla="val 0"/>
            </a:avLst>
          </a:prstGeom>
          <a:solidFill>
            <a:srgbClr val="BFD7F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1016000" y="762000"/>
            <a:ext cx="10160000" cy="762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3600">
                <a:solidFill>
                  <a:srgbClr val="FFFFFF"/>
                </a:solidFill>
                <a:latin typeface="Noto Sans SC"/>
                <a:ea typeface="Noto Sans SC"/>
                <a:cs typeface="Noto Sans SC"/>
                <a:sym typeface="Noto Sans SC"/>
              </a:rPr>
              <a:t>总结与展望</a:t>
            </a:r>
            <a:endParaRPr lang="en-US" sz="1100"/>
          </a:p>
        </p:txBody>
      </p:sp>
      <p:cxnSp>
        <p:nvCxnSpPr>
          <p:cNvPr name="Connector 4" id="4"/>
          <p:cNvCxnSpPr/>
          <p:nvPr/>
        </p:nvCxnSpPr>
        <p:spPr>
          <a:xfrm rot="-34376" flipH="false" flipV="false">
            <a:off x="5461032" y="1644650"/>
            <a:ext cx="1270000" cy="12700"/>
          </a:xfrm>
          <a:prstGeom prst="straightConnector1">
            <a:avLst/>
          </a:prstGeom>
          <a:solidFill>
            <a:srgbClr val="DEE0E3">
              <a:alpha val="100000"/>
            </a:srgbClr>
          </a:solidFill>
          <a:ln w="38100" cmpd="sng" cap="flat">
            <a:solidFill>
              <a:srgbClr val="BFD7FF">
                <a:alpha val="100000"/>
              </a:srgbClr>
            </a:solidFill>
            <a:prstDash val="solid"/>
            <a:round/>
            <a:headEnd type="none" w="lg" len="lg"/>
            <a:tailEnd type="none" w="lg" len="lg"/>
          </a:ln>
        </p:spPr>
      </p:cxnSp>
      <p:sp>
        <p:nvSpPr>
          <p:cNvPr name="AutoShape 5" id="5"/>
          <p:cNvSpPr/>
          <p:nvPr/>
        </p:nvSpPr>
        <p:spPr>
          <a:xfrm rot="0" flipH="false" flipV="false">
            <a:off x="762000" y="2032000"/>
            <a:ext cx="5080000" cy="2032000"/>
          </a:xfrm>
          <a:prstGeom prst="roundRect">
            <a:avLst>
              <a:gd name="adj" fmla="val 0"/>
            </a:avLst>
          </a:prstGeom>
          <a:solidFill>
            <a:srgbClr val="FFFFFF">
              <a:alpha val="10000"/>
            </a:srgbClr>
          </a:solidFill>
          <a:ln w="12700" cmpd="sng" cap="flat">
            <a:solidFill>
              <a:srgbClr val="BFD7FF">
                <a:alpha val="50000"/>
              </a:srgbClr>
            </a:solid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1016000" y="2222500"/>
            <a:ext cx="4572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BFD7FF"/>
                </a:solidFill>
                <a:latin typeface="Noto Sans SC"/>
                <a:ea typeface="Noto Sans SC"/>
                <a:cs typeface="Noto Sans SC"/>
                <a:sym typeface="Noto Sans SC"/>
              </a:rPr>
              <a:t>实验成果</a:t>
            </a:r>
            <a:endParaRPr lang="en-US" sz="1100"/>
          </a:p>
        </p:txBody>
      </p:sp>
      <p:sp>
        <p:nvSpPr>
          <p:cNvPr name="AutoShape 7" id="7"/>
          <p:cNvSpPr/>
          <p:nvPr/>
        </p:nvSpPr>
        <p:spPr>
          <a:xfrm rot="0" flipH="false" flipV="false">
            <a:off x="1016000" y="2667000"/>
            <a:ext cx="4572000" cy="1270000"/>
          </a:xfrm>
          <a:prstGeom prst="rect">
            <a:avLst/>
          </a:prstGeom>
          <a:noFill/>
          <a:ln w="12700" cmpd="sng" cap="flat">
            <a:noFill/>
            <a:prstDash val="solid"/>
            <a:round/>
          </a:ln>
        </p:spPr>
        <p:txBody>
          <a:bodyPr anchor="ctr" rtlCol="false" anchorCtr="false" vert="horz" wrap="square" lIns="0" rIns="0" tIns="0" bIns="0"/>
          <a:lstStyle/>
          <a:p>
            <a:pPr algn="l" indent="-165100" marL="165100">
              <a:lnSpc>
                <a:spcPct val="133333"/>
              </a:lnSpc>
              <a:buClr>
                <a:srgbClr val="FFFFFF"/>
              </a:buClr>
              <a:buChar char="•"/>
              <a:defRPr/>
            </a:pPr>
            <a:r>
              <a:rPr lang="en-US" b="false" i="false" strike="noStrike" u="none" sz="1300">
                <a:solidFill>
                  <a:srgbClr val="FFFFFF"/>
                </a:solidFill>
                <a:latin typeface="Noto Sans SC"/>
                <a:ea typeface="Noto Sans SC"/>
                <a:cs typeface="Noto Sans SC"/>
                <a:sym typeface="Noto Sans SC"/>
              </a:rPr>
              <a:t>成功安装运行 Ghost 5.130.6</a:t>
            </a:r>
            <a:endParaRPr lang="en-US" sz="1100"/>
          </a:p>
          <a:p>
            <a:pPr algn="l" indent="-165100" marL="165100">
              <a:lnSpc>
                <a:spcPct val="133333"/>
              </a:lnSpc>
              <a:buClr>
                <a:srgbClr val="FFFFFF"/>
              </a:buClr>
              <a:buChar char="•"/>
            </a:pPr>
            <a:r>
              <a:rPr lang="en-US" b="false" i="false" strike="noStrike" u="none" sz="1300">
                <a:solidFill>
                  <a:srgbClr val="FFFFFF"/>
                </a:solidFill>
                <a:latin typeface="Noto Sans SC"/>
                <a:ea typeface="Noto Sans SC"/>
                <a:cs typeface="Noto Sans SC"/>
                <a:sym typeface="Noto Sans SC"/>
              </a:rPr>
              <a:t>开发自定义主题 oss-blog-theme</a:t>
            </a:r>
          </a:p>
          <a:p>
            <a:pPr algn="l" indent="-165100" marL="165100">
              <a:lnSpc>
                <a:spcPct val="133333"/>
              </a:lnSpc>
              <a:buClr>
                <a:srgbClr val="FFFFFF"/>
              </a:buClr>
              <a:buChar char="•"/>
            </a:pPr>
            <a:r>
              <a:rPr lang="en-US" b="false" i="false" strike="noStrike" u="none" sz="1300">
                <a:solidFill>
                  <a:srgbClr val="FFFFFF"/>
                </a:solidFill>
                <a:latin typeface="Noto Sans SC"/>
                <a:ea typeface="Noto Sans SC"/>
                <a:cs typeface="Noto Sans SC"/>
                <a:sym typeface="Noto Sans SC"/>
              </a:rPr>
              <a:t>实现2项自主扩展功能</a:t>
            </a:r>
          </a:p>
          <a:p>
            <a:pPr algn="l" indent="-165100" marL="165100">
              <a:lnSpc>
                <a:spcPct val="133333"/>
              </a:lnSpc>
              <a:buClr>
                <a:srgbClr val="FFFFFF"/>
              </a:buClr>
              <a:buChar char="•"/>
            </a:pPr>
            <a:r>
              <a:rPr lang="en-US" b="false" i="false" strike="noStrike" u="none" sz="1300">
                <a:solidFill>
                  <a:srgbClr val="FFFFFF"/>
                </a:solidFill>
                <a:latin typeface="Noto Sans SC"/>
                <a:ea typeface="Noto Sans SC"/>
                <a:cs typeface="Noto Sans SC"/>
                <a:sym typeface="Noto Sans SC"/>
              </a:rPr>
              <a:t>18项测试全部通过</a:t>
            </a:r>
          </a:p>
          <a:p>
            <a:pPr algn="l" indent="-165100" marL="165100">
              <a:lnSpc>
                <a:spcPct val="133333"/>
              </a:lnSpc>
              <a:buClr>
                <a:srgbClr val="FFFFFF"/>
              </a:buClr>
              <a:buChar char="•"/>
            </a:pPr>
            <a:r>
              <a:rPr lang="en-US" b="false" i="false" strike="noStrike" u="none" sz="1300">
                <a:solidFill>
                  <a:srgbClr val="FFFFFF"/>
                </a:solidFill>
                <a:latin typeface="Noto Sans SC"/>
                <a:ea typeface="Noto Sans SC"/>
                <a:cs typeface="Noto Sans SC"/>
                <a:sym typeface="Noto Sans SC"/>
              </a:rPr>
              <a:t>完整Git版本管理（10 Commit）</a:t>
            </a:r>
          </a:p>
        </p:txBody>
      </p:sp>
      <p:sp>
        <p:nvSpPr>
          <p:cNvPr name="AutoShape 8" id="8"/>
          <p:cNvSpPr/>
          <p:nvPr/>
        </p:nvSpPr>
        <p:spPr>
          <a:xfrm rot="0" flipH="false" flipV="false">
            <a:off x="6350000" y="2032000"/>
            <a:ext cx="5080000" cy="2032000"/>
          </a:xfrm>
          <a:prstGeom prst="roundRect">
            <a:avLst>
              <a:gd name="adj" fmla="val 0"/>
            </a:avLst>
          </a:prstGeom>
          <a:solidFill>
            <a:srgbClr val="FFFFFF">
              <a:alpha val="10000"/>
            </a:srgbClr>
          </a:solidFill>
          <a:ln w="12700" cmpd="sng" cap="flat">
            <a:solidFill>
              <a:srgbClr val="BFD7FF">
                <a:alpha val="50000"/>
              </a:srgbClr>
            </a:solid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6604000" y="2222500"/>
            <a:ext cx="4572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BFD7FF"/>
                </a:solidFill>
                <a:latin typeface="Noto Sans SC"/>
                <a:ea typeface="Noto Sans SC"/>
                <a:cs typeface="Noto Sans SC"/>
                <a:sym typeface="Noto Sans SC"/>
              </a:rPr>
              <a:t>收获与体会</a:t>
            </a:r>
            <a:endParaRPr lang="en-US" sz="1100"/>
          </a:p>
        </p:txBody>
      </p:sp>
      <p:sp>
        <p:nvSpPr>
          <p:cNvPr name="AutoShape 10" id="10"/>
          <p:cNvSpPr/>
          <p:nvPr/>
        </p:nvSpPr>
        <p:spPr>
          <a:xfrm rot="0" flipH="false" flipV="false">
            <a:off x="6604000" y="2667000"/>
            <a:ext cx="4572000" cy="1270000"/>
          </a:xfrm>
          <a:prstGeom prst="rect">
            <a:avLst/>
          </a:prstGeom>
          <a:noFill/>
          <a:ln w="12700" cmpd="sng" cap="flat">
            <a:noFill/>
            <a:prstDash val="solid"/>
            <a:round/>
          </a:ln>
        </p:spPr>
        <p:txBody>
          <a:bodyPr anchor="ctr" rtlCol="false" anchorCtr="false" vert="horz" wrap="square" lIns="0" rIns="0" tIns="0" bIns="0"/>
          <a:lstStyle/>
          <a:p>
            <a:pPr algn="l" indent="-165100" marL="165100">
              <a:lnSpc>
                <a:spcPct val="133333"/>
              </a:lnSpc>
              <a:buClr>
                <a:srgbClr val="FFFFFF"/>
              </a:buClr>
              <a:buChar char="•"/>
              <a:defRPr/>
            </a:pPr>
            <a:r>
              <a:rPr lang="en-US" b="false" i="false" strike="noStrike" u="none" sz="1300">
                <a:solidFill>
                  <a:srgbClr val="FFFFFF"/>
                </a:solidFill>
                <a:latin typeface="Noto Sans SC"/>
                <a:ea typeface="Noto Sans SC"/>
                <a:cs typeface="Noto Sans SC"/>
                <a:sym typeface="Noto Sans SC"/>
              </a:rPr>
              <a:t>掌握开源项目获取与分析方法</a:t>
            </a:r>
            <a:endParaRPr lang="en-US" sz="1100"/>
          </a:p>
          <a:p>
            <a:pPr algn="l" indent="-165100" marL="165100">
              <a:lnSpc>
                <a:spcPct val="133333"/>
              </a:lnSpc>
              <a:buClr>
                <a:srgbClr val="FFFFFF"/>
              </a:buClr>
              <a:buChar char="•"/>
            </a:pPr>
            <a:r>
              <a:rPr lang="en-US" b="false" i="false" strike="noStrike" u="none" sz="1300">
                <a:solidFill>
                  <a:srgbClr val="FFFFFF"/>
                </a:solidFill>
                <a:latin typeface="Noto Sans SC"/>
                <a:ea typeface="Noto Sans SC"/>
                <a:cs typeface="Noto Sans SC"/>
                <a:sym typeface="Noto Sans SC"/>
              </a:rPr>
              <a:t>理解Ghost主题开发与扩展机制</a:t>
            </a:r>
          </a:p>
          <a:p>
            <a:pPr algn="l" indent="-165100" marL="165100">
              <a:lnSpc>
                <a:spcPct val="133333"/>
              </a:lnSpc>
              <a:buClr>
                <a:srgbClr val="FFFFFF"/>
              </a:buClr>
              <a:buChar char="•"/>
            </a:pPr>
            <a:r>
              <a:rPr lang="en-US" b="false" i="false" strike="noStrike" u="none" sz="1300">
                <a:solidFill>
                  <a:srgbClr val="FFFFFF"/>
                </a:solidFill>
                <a:latin typeface="Noto Sans SC"/>
                <a:ea typeface="Noto Sans SC"/>
                <a:cs typeface="Noto Sans SC"/>
                <a:sym typeface="Noto Sans SC"/>
              </a:rPr>
              <a:t>提升问题排查与解决能力</a:t>
            </a:r>
          </a:p>
          <a:p>
            <a:pPr algn="l" indent="-165100" marL="165100">
              <a:lnSpc>
                <a:spcPct val="133333"/>
              </a:lnSpc>
              <a:buClr>
                <a:srgbClr val="FFFFFF"/>
              </a:buClr>
              <a:buChar char="•"/>
            </a:pPr>
            <a:r>
              <a:rPr lang="en-US" b="false" i="false" strike="noStrike" u="none" sz="1300">
                <a:solidFill>
                  <a:srgbClr val="FFFFFF"/>
                </a:solidFill>
                <a:latin typeface="Noto Sans SC"/>
                <a:ea typeface="Noto Sans SC"/>
                <a:cs typeface="Noto Sans SC"/>
                <a:sym typeface="Noto Sans SC"/>
              </a:rPr>
              <a:t>实践Git协作流程（Issue/PR/Review）</a:t>
            </a:r>
          </a:p>
          <a:p>
            <a:pPr algn="l" indent="-165100" marL="165100">
              <a:lnSpc>
                <a:spcPct val="133333"/>
              </a:lnSpc>
              <a:buClr>
                <a:srgbClr val="FFFFFF"/>
              </a:buClr>
              <a:buChar char="•"/>
            </a:pPr>
            <a:r>
              <a:rPr lang="en-US" b="false" i="false" strike="noStrike" u="none" sz="1300">
                <a:solidFill>
                  <a:srgbClr val="FFFFFF"/>
                </a:solidFill>
                <a:latin typeface="Noto Sans SC"/>
                <a:ea typeface="Noto Sans SC"/>
                <a:cs typeface="Noto Sans SC"/>
                <a:sym typeface="Noto Sans SC"/>
              </a:rPr>
              <a:t>学会编写完整测试与项目文档</a:t>
            </a:r>
          </a:p>
        </p:txBody>
      </p:sp>
      <p:sp>
        <p:nvSpPr>
          <p:cNvPr name="AutoShape 11" id="11"/>
          <p:cNvSpPr/>
          <p:nvPr/>
        </p:nvSpPr>
        <p:spPr>
          <a:xfrm rot="0" flipH="false" flipV="false">
            <a:off x="1016000" y="4445000"/>
            <a:ext cx="10160000" cy="4445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800">
                <a:solidFill>
                  <a:srgbClr val="BFD7FF"/>
                </a:solidFill>
                <a:latin typeface="Noto Sans SC"/>
                <a:ea typeface="Noto Sans SC"/>
                <a:cs typeface="Noto Sans SC"/>
                <a:sym typeface="Noto Sans SC"/>
              </a:rPr>
              <a:t>后续改进方向</a:t>
            </a:r>
            <a:endParaRPr lang="en-US" sz="1100"/>
          </a:p>
        </p:txBody>
      </p:sp>
      <p:cxnSp>
        <p:nvCxnSpPr>
          <p:cNvPr name="Connector 12" id="12"/>
          <p:cNvCxnSpPr/>
          <p:nvPr/>
        </p:nvCxnSpPr>
        <p:spPr>
          <a:xfrm rot="-34376" flipH="false" flipV="false">
            <a:off x="5461032" y="4946650"/>
            <a:ext cx="1270000" cy="12700"/>
          </a:xfrm>
          <a:prstGeom prst="straightConnector1">
            <a:avLst/>
          </a:prstGeom>
          <a:solidFill>
            <a:srgbClr val="DEE0E3">
              <a:alpha val="100000"/>
            </a:srgbClr>
          </a:solidFill>
          <a:ln w="25400" cmpd="sng" cap="flat">
            <a:solidFill>
              <a:srgbClr val="BFD7FF">
                <a:alpha val="100000"/>
              </a:srgbClr>
            </a:solidFill>
            <a:prstDash val="solid"/>
            <a:round/>
            <a:headEnd type="none" w="lg" len="lg"/>
            <a:tailEnd type="none" w="lg" len="lg"/>
          </a:ln>
        </p:spPr>
      </p:cxnSp>
      <p:sp>
        <p:nvSpPr>
          <p:cNvPr name="AutoShape 13" id="13"/>
          <p:cNvSpPr/>
          <p:nvPr/>
        </p:nvSpPr>
        <p:spPr>
          <a:xfrm rot="0" flipH="false" flipV="false">
            <a:off x="1016000" y="5207000"/>
            <a:ext cx="10160000" cy="1016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50000"/>
              </a:lnSpc>
              <a:defRPr/>
            </a:pPr>
            <a:r>
              <a:rPr lang="en-US" b="false" i="false" strike="noStrike" u="none" sz="1400">
                <a:solidFill>
                  <a:srgbClr val="FFFFFF"/>
                </a:solidFill>
                <a:latin typeface="Noto Sans SC"/>
                <a:ea typeface="Noto Sans SC"/>
                <a:cs typeface="Noto Sans SC"/>
                <a:sym typeface="Noto Sans SC"/>
              </a:rPr>
              <a:t>增加自动化测试（Playwright/Cypress）· 实现会员账号密码登录 · 补充多标签文章场景</a:t>
            </a:r>
            <a:endParaRPr lang="en-US" sz="1100"/>
          </a:p>
          <a:p>
            <a:pPr algn="ctr" marL="0" indent="0">
              <a:lnSpc>
                <a:spcPct val="150000"/>
              </a:lnSpc>
            </a:pPr>
            <a:r>
              <a:rPr lang="en-US" b="false" i="false" strike="noStrike" u="none" sz="1400">
                <a:solidFill>
                  <a:srgbClr val="FFFFFF"/>
                </a:solidFill>
                <a:latin typeface="Noto Sans SC"/>
                <a:ea typeface="Noto Sans SC"/>
                <a:cs typeface="Noto Sans SC"/>
                <a:sym typeface="Noto Sans SC"/>
              </a:rPr>
              <a:t>推送GitHub远程仓库 · 深入RealWorld API规范 · 优化相关文章推荐缓存机制</a:t>
            </a:r>
          </a:p>
        </p:txBody>
      </p:sp>
      <p:sp>
        <p:nvSpPr>
          <p:cNvPr name="AutoShape 14" id="14"/>
          <p:cNvSpPr/>
          <p:nvPr/>
        </p:nvSpPr>
        <p:spPr>
          <a:xfrm rot="0" flipH="false" flipV="false">
            <a:off x="1016000" y="6350000"/>
            <a:ext cx="10160000" cy="381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600">
                <a:solidFill>
                  <a:srgbClr val="BFD7FF"/>
                </a:solidFill>
                <a:latin typeface="Noto Sans SC"/>
                <a:ea typeface="Noto Sans SC"/>
                <a:cs typeface="Noto Sans SC"/>
                <a:sym typeface="Noto Sans SC"/>
              </a:rPr>
              <a:t>感谢聆听 · 欢迎提问</a:t>
            </a:r>
            <a:endParaRPr lang="en-US" sz="1100"/>
          </a:p>
        </p:txBody>
      </p:sp>
    </p:spTree>
  </p:cSld>
  <p:clrMapOvr>
    <a:masterClrMapping/>
  </p:clrMapOvr>
</p:sld>
</file>

<file path=ppt/slides/slide14.xml><?xml version="1.0" encoding="utf-8"?>
<p:sld xmlns:p="http://schemas.openxmlformats.org/presentationml/2006/main" xmlns:a="http://schemas.openxmlformats.org/drawingml/2006/main">
  <p:cSld>
    <p:bg>
      <p:bgPr>
        <a:solidFill>
          <a:srgbClr val="F2F4F8">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762000"/>
          </a:xfrm>
          <a:prstGeom prst="roundRect">
            <a:avLst>
              <a:gd name="adj" fmla="val 0"/>
            </a:avLst>
          </a:prstGeom>
          <a:solidFill>
            <a:srgbClr val="0D132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508000" y="152400"/>
            <a:ext cx="7620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200">
                <a:solidFill>
                  <a:srgbClr val="FFFFFF"/>
                </a:solidFill>
                <a:latin typeface="Noto Sans SC"/>
                <a:ea typeface="Noto Sans SC"/>
                <a:cs typeface="Noto Sans SC"/>
                <a:sym typeface="Noto Sans SC"/>
              </a:rPr>
              <a:t>上游基线与本人修改对比</a:t>
            </a:r>
            <a:endParaRPr lang="en-US" sz="1100"/>
          </a:p>
        </p:txBody>
      </p:sp>
      <p:sp>
        <p:nvSpPr>
          <p:cNvPr name="AutoShape 4" id="4"/>
          <p:cNvSpPr/>
          <p:nvPr/>
        </p:nvSpPr>
        <p:spPr>
          <a:xfrm rot="0" flipH="false" flipV="false">
            <a:off x="9525000" y="228600"/>
            <a:ext cx="2159000" cy="381000"/>
          </a:xfrm>
          <a:prstGeom prst="rect">
            <a:avLst/>
          </a:prstGeom>
          <a:noFill/>
          <a:ln w="12700" cmpd="sng" cap="flat">
            <a:noFill/>
            <a:prstDash val="solid"/>
            <a:round/>
          </a:ln>
        </p:spPr>
        <p:txBody>
          <a:bodyPr anchor="ctr" rtlCol="false" anchorCtr="false" vert="horz" wrap="square" lIns="0" rIns="0" tIns="0" bIns="0"/>
          <a:lstStyle/>
          <a:p>
            <a:pPr algn="r" marL="0" indent="0">
              <a:lnSpc>
                <a:spcPct val="125000"/>
              </a:lnSpc>
              <a:defRPr/>
            </a:pPr>
            <a:r>
              <a:rPr lang="en-US" b="false" i="false" strike="noStrike" u="none" sz="1200">
                <a:solidFill>
                  <a:srgbClr val="BFD7FF"/>
                </a:solidFill>
                <a:latin typeface="Noto Sans SC"/>
                <a:ea typeface="Noto Sans SC"/>
                <a:cs typeface="Noto Sans SC"/>
                <a:sym typeface="Noto Sans SC"/>
              </a:rPr>
              <a:t>实验01 / 共17页</a:t>
            </a:r>
            <a:endParaRPr lang="en-US" sz="1100"/>
          </a:p>
        </p:txBody>
      </p:sp>
      <p:graphicFrame>
        <p:nvGraphicFramePr>
          <p:cNvPr name="Table 5" id="5"/>
          <p:cNvGraphicFramePr>
            <a:graphicFrameLocks noGrp="true"/>
          </p:cNvGraphicFramePr>
          <p:nvPr/>
        </p:nvGraphicFramePr>
        <p:xfrm>
          <a:off x="508000" y="1079500"/>
          <a:ext cx="11176000" cy="4826000"/>
        </p:xfrm>
        <a:graphic>
          <a:graphicData uri="http://schemas.openxmlformats.org/drawingml/2006/table">
            <a:tbl>
              <a:tblPr>
                <a:effectLst/>
              </a:tblPr>
              <a:tblGrid>
                <a:gridCol w="1778000"/>
                <a:gridCol w="4064000"/>
                <a:gridCol w="5334000"/>
              </a:tblGrid>
              <a:tr h="520700">
                <a:tc>
                  <a:txBody>
                    <a:bodyPr anchor="t" rtlCol="false"/>
                    <a:lstStyle/>
                    <a:p>
                      <a:pPr algn="ctr" marL="0" indent="0">
                        <a:lnSpc>
                          <a:spcPct val="100000"/>
                        </a:lnSpc>
                        <a:defRPr/>
                      </a:pPr>
                      <a:r>
                        <a:rPr lang="en-US" b="true" i="false" strike="noStrike" u="none" sz="1200">
                          <a:solidFill>
                            <a:srgbClr val="FFFFFF"/>
                          </a:solidFill>
                          <a:latin typeface="Noto Sans SC"/>
                          <a:ea typeface="Noto Sans SC"/>
                          <a:cs typeface="Noto Sans SC"/>
                          <a:sym typeface="Noto Sans SC"/>
                        </a:rPr>
                        <a:t>模块</a:t>
                      </a:r>
                      <a:endParaRPr lang="en-US" sz="1100"/>
                    </a:p>
                  </a:txBody>
                  <a:tcPr anchor="ctr" anchorCtr="false" marL="101600" marR="101600" marT="101600" marB="101600">
                    <a:lnL>
                      <a:noFill/>
                    </a:lnL>
                    <a:lnR>
                      <a:noFill/>
                    </a:lnR>
                    <a:lnT>
                      <a:noFill/>
                    </a:lnT>
                    <a:lnB>
                      <a:noFill/>
                    </a:lnB>
                    <a:solidFill>
                      <a:srgbClr val="0D1326">
                        <a:alpha val="100000"/>
                      </a:srgbClr>
                    </a:solidFill>
                  </a:tcPr>
                </a:tc>
                <a:tc>
                  <a:txBody>
                    <a:bodyPr anchor="t" rtlCol="false"/>
                    <a:lstStyle/>
                    <a:p>
                      <a:pPr algn="ctr" marL="0" indent="0">
                        <a:lnSpc>
                          <a:spcPct val="100000"/>
                        </a:lnSpc>
                        <a:defRPr/>
                      </a:pPr>
                      <a:r>
                        <a:rPr lang="en-US" b="true" i="false" strike="noStrike" u="none" sz="1200">
                          <a:solidFill>
                            <a:srgbClr val="FFFFFF"/>
                          </a:solidFill>
                          <a:latin typeface="Noto Sans SC"/>
                          <a:ea typeface="Noto Sans SC"/>
                          <a:cs typeface="Noto Sans SC"/>
                          <a:sym typeface="Noto Sans SC"/>
                        </a:rPr>
                        <a:t>上游基线（Ghost 5.130.6）</a:t>
                      </a:r>
                      <a:endParaRPr lang="en-US" sz="1100"/>
                    </a:p>
                  </a:txBody>
                  <a:tcPr anchor="ctr" anchorCtr="false" marL="101600" marR="101600" marT="101600" marB="101600">
                    <a:lnL>
                      <a:noFill/>
                    </a:lnL>
                    <a:lnR>
                      <a:noFill/>
                    </a:lnR>
                    <a:lnT>
                      <a:noFill/>
                    </a:lnT>
                    <a:lnB>
                      <a:noFill/>
                    </a:lnB>
                    <a:solidFill>
                      <a:srgbClr val="0D1326">
                        <a:alpha val="100000"/>
                      </a:srgbClr>
                    </a:solidFill>
                  </a:tcPr>
                </a:tc>
                <a:tc>
                  <a:txBody>
                    <a:bodyPr anchor="t" rtlCol="false"/>
                    <a:lstStyle/>
                    <a:p>
                      <a:pPr algn="ctr" marL="0" indent="0">
                        <a:lnSpc>
                          <a:spcPct val="100000"/>
                        </a:lnSpc>
                        <a:defRPr/>
                      </a:pPr>
                      <a:r>
                        <a:rPr lang="en-US" b="true" i="false" strike="noStrike" u="none" sz="1200">
                          <a:solidFill>
                            <a:srgbClr val="FFFFFF"/>
                          </a:solidFill>
                          <a:latin typeface="Noto Sans SC"/>
                          <a:ea typeface="Noto Sans SC"/>
                          <a:cs typeface="Noto Sans SC"/>
                          <a:sym typeface="Noto Sans SC"/>
                        </a:rPr>
                        <a:t>本人修改（oss-blog v1.0）</a:t>
                      </a:r>
                      <a:endParaRPr lang="en-US" sz="1100"/>
                    </a:p>
                  </a:txBody>
                  <a:tcPr anchor="ctr" anchorCtr="false" marL="101600" marR="101600" marT="101600" marB="101600">
                    <a:lnL>
                      <a:noFill/>
                    </a:lnL>
                    <a:lnR>
                      <a:noFill/>
                    </a:lnR>
                    <a:lnT>
                      <a:noFill/>
                    </a:lnT>
                    <a:lnB>
                      <a:noFill/>
                    </a:lnB>
                    <a:solidFill>
                      <a:srgbClr val="2563EB">
                        <a:alpha val="100000"/>
                      </a:srgbClr>
                    </a:solidFill>
                  </a:tcPr>
                </a:tc>
              </a:tr>
              <a:tr h="723900">
                <a:tc>
                  <a:txBody>
                    <a:bodyPr anchor="t" rtlCol="false"/>
                    <a:lstStyle/>
                    <a:p>
                      <a:pPr algn="ctr" marL="0" indent="0">
                        <a:lnSpc>
                          <a:spcPct val="100000"/>
                        </a:lnSpc>
                        <a:defRPr/>
                      </a:pPr>
                      <a:r>
                        <a:rPr lang="en-US" b="true" i="false" strike="noStrike" u="none" sz="1100">
                          <a:solidFill>
                            <a:srgbClr val="1F2329"/>
                          </a:solidFill>
                          <a:latin typeface="Noto Sans SC"/>
                          <a:ea typeface="Noto Sans SC"/>
                          <a:cs typeface="Noto Sans SC"/>
                          <a:sym typeface="Noto Sans SC"/>
                        </a:rPr>
                        <a:t>核心代码</a:t>
                      </a:r>
                      <a:endParaRPr lang="en-US" sz="1100"/>
                    </a:p>
                  </a:txBody>
                  <a:tcPr anchor="ctr" anchorCtr="false" marL="101600" marR="101600" marT="101600" marB="101600">
                    <a:lnL>
                      <a:noFill/>
                    </a:lnL>
                    <a:lnR>
                      <a:noFill/>
                    </a:lnR>
                    <a:lnT>
                      <a:noFill/>
                    </a:lnT>
                    <a:lnB>
                      <a:noFill/>
                    </a:lnB>
                    <a:noFill/>
                  </a:tcPr>
                </a:tc>
                <a:tc>
                  <a:txBody>
                    <a:bodyPr anchor="t" rtlCol="false"/>
                    <a:lstStyle/>
                    <a:p>
                      <a:pPr algn="l" marL="0" indent="0">
                        <a:lnSpc>
                          <a:spcPct val="100000"/>
                        </a:lnSpc>
                        <a:defRPr/>
                      </a:pPr>
                      <a:r>
                        <a:rPr lang="en-US" b="false" i="false" strike="noStrike" u="none" sz="1100">
                          <a:solidFill>
                            <a:srgbClr val="536174"/>
                          </a:solidFill>
                          <a:latin typeface="Noto Sans SC"/>
                          <a:ea typeface="Noto Sans SC"/>
                          <a:cs typeface="Noto Sans SC"/>
                          <a:sym typeface="Noto Sans SC"/>
                        </a:rPr>
                        <a:t>完整Ghost核心，认证/内容/会员/评论/搜索</a:t>
                      </a:r>
                      <a:endParaRPr lang="en-US" sz="1100"/>
                    </a:p>
                  </a:txBody>
                  <a:tcPr anchor="ctr" anchorCtr="false" marL="101600" marR="101600" marT="101600" marB="101600">
                    <a:lnL>
                      <a:noFill/>
                    </a:lnL>
                    <a:lnR>
                      <a:noFill/>
                    </a:lnR>
                    <a:lnT>
                      <a:noFill/>
                    </a:lnT>
                    <a:lnB>
                      <a:noFill/>
                    </a:lnB>
                    <a:noFill/>
                  </a:tcPr>
                </a:tc>
                <a:tc>
                  <a:txBody>
                    <a:bodyPr anchor="t" rtlCol="false"/>
                    <a:lstStyle/>
                    <a:p>
                      <a:pPr algn="l" marL="0" indent="0">
                        <a:lnSpc>
                          <a:spcPct val="100000"/>
                        </a:lnSpc>
                        <a:defRPr/>
                      </a:pPr>
                      <a:r>
                        <a:rPr lang="en-US" b="true" i="false" strike="noStrike" u="none" sz="1100">
                          <a:solidFill>
                            <a:srgbClr val="2563EB"/>
                          </a:solidFill>
                          <a:latin typeface="Noto Sans SC"/>
                          <a:ea typeface="Noto Sans SC"/>
                          <a:cs typeface="Noto Sans SC"/>
                          <a:sym typeface="Noto Sans SC"/>
                        </a:rPr>
                        <a:t>未修改核心代码，遵循二次开发边界</a:t>
                      </a:r>
                      <a:endParaRPr lang="en-US" sz="1100"/>
                    </a:p>
                  </a:txBody>
                  <a:tcPr anchor="ctr" anchorCtr="false" marL="101600" marR="101600" marT="101600" marB="101600">
                    <a:lnL>
                      <a:noFill/>
                    </a:lnL>
                    <a:lnR>
                      <a:noFill/>
                    </a:lnR>
                    <a:lnT>
                      <a:noFill/>
                    </a:lnT>
                    <a:lnB>
                      <a:noFill/>
                    </a:lnB>
                    <a:noFill/>
                  </a:tcPr>
                </a:tc>
              </a:tr>
              <a:tr h="723900">
                <a:tc>
                  <a:txBody>
                    <a:bodyPr anchor="t" rtlCol="false"/>
                    <a:lstStyle/>
                    <a:p>
                      <a:pPr algn="ctr" marL="0" indent="0">
                        <a:lnSpc>
                          <a:spcPct val="100000"/>
                        </a:lnSpc>
                        <a:defRPr/>
                      </a:pPr>
                      <a:r>
                        <a:rPr lang="en-US" b="true" i="false" strike="noStrike" u="none" sz="1100">
                          <a:solidFill>
                            <a:srgbClr val="1F2329"/>
                          </a:solidFill>
                          <a:latin typeface="Noto Sans SC"/>
                          <a:ea typeface="Noto Sans SC"/>
                          <a:cs typeface="Noto Sans SC"/>
                          <a:sym typeface="Noto Sans SC"/>
                        </a:rPr>
                        <a:t>默认主题</a:t>
                      </a:r>
                      <a:endParaRPr lang="en-US" sz="1100"/>
                    </a:p>
                  </a:txBody>
                  <a:tcPr anchor="ctr" anchorCtr="false" marL="101600" marR="101600" marT="101600" marB="101600">
                    <a:lnL>
                      <a:noFill/>
                    </a:lnL>
                    <a:lnR>
                      <a:noFill/>
                    </a:lnR>
                    <a:lnT>
                      <a:noFill/>
                    </a:lnT>
                    <a:lnB>
                      <a:noFill/>
                    </a:lnB>
                    <a:noFill/>
                  </a:tcPr>
                </a:tc>
                <a:tc>
                  <a:txBody>
                    <a:bodyPr anchor="t" rtlCol="false"/>
                    <a:lstStyle/>
                    <a:p>
                      <a:pPr algn="l" marL="0" indent="0">
                        <a:lnSpc>
                          <a:spcPct val="100000"/>
                        </a:lnSpc>
                        <a:defRPr/>
                      </a:pPr>
                      <a:r>
                        <a:rPr lang="en-US" b="false" i="false" strike="noStrike" u="none" sz="1100">
                          <a:solidFill>
                            <a:srgbClr val="536174"/>
                          </a:solidFill>
                          <a:latin typeface="Noto Sans SC"/>
                          <a:ea typeface="Noto Sans SC"/>
                          <a:cs typeface="Noto Sans SC"/>
                          <a:sym typeface="Noto Sans SC"/>
                        </a:rPr>
                        <a:t>Casper 5.9.0，标准导航/卡片/详情页</a:t>
                      </a:r>
                      <a:endParaRPr lang="en-US" sz="1100"/>
                    </a:p>
                  </a:txBody>
                  <a:tcPr anchor="ctr" anchorCtr="false" marL="101600" marR="101600" marT="101600" marB="101600">
                    <a:lnL>
                      <a:noFill/>
                    </a:lnL>
                    <a:lnR>
                      <a:noFill/>
                    </a:lnR>
                    <a:lnT>
                      <a:noFill/>
                    </a:lnT>
                    <a:lnB>
                      <a:noFill/>
                    </a:lnB>
                    <a:noFill/>
                  </a:tcPr>
                </a:tc>
                <a:tc>
                  <a:txBody>
                    <a:bodyPr anchor="t" rtlCol="false"/>
                    <a:lstStyle/>
                    <a:p>
                      <a:pPr algn="l" marL="0" indent="0">
                        <a:lnSpc>
                          <a:spcPct val="100000"/>
                        </a:lnSpc>
                        <a:defRPr/>
                      </a:pPr>
                      <a:r>
                        <a:rPr lang="en-US" b="true" i="false" strike="noStrike" u="none" sz="1100">
                          <a:solidFill>
                            <a:srgbClr val="2563EB"/>
                          </a:solidFill>
                          <a:latin typeface="Noto Sans SC"/>
                          <a:ea typeface="Noto Sans SC"/>
                          <a:cs typeface="Noto Sans SC"/>
                          <a:sym typeface="Noto Sans SC"/>
                        </a:rPr>
                        <a:t>oss-blog-theme，自定义导航/卡片/404页/页脚</a:t>
                      </a:r>
                      <a:endParaRPr lang="en-US" sz="1100"/>
                    </a:p>
                  </a:txBody>
                  <a:tcPr anchor="ctr" anchorCtr="false" marL="101600" marR="101600" marT="101600" marB="101600">
                    <a:lnL>
                      <a:noFill/>
                    </a:lnL>
                    <a:lnR>
                      <a:noFill/>
                    </a:lnR>
                    <a:lnT>
                      <a:noFill/>
                    </a:lnT>
                    <a:lnB>
                      <a:noFill/>
                    </a:lnB>
                    <a:noFill/>
                  </a:tcPr>
                </a:tc>
              </a:tr>
              <a:tr h="723900">
                <a:tc>
                  <a:txBody>
                    <a:bodyPr anchor="t" rtlCol="false"/>
                    <a:lstStyle/>
                    <a:p>
                      <a:pPr algn="ctr" marL="0" indent="0">
                        <a:lnSpc>
                          <a:spcPct val="100000"/>
                        </a:lnSpc>
                        <a:defRPr/>
                      </a:pPr>
                      <a:r>
                        <a:rPr lang="en-US" b="true" i="false" strike="noStrike" u="none" sz="1100">
                          <a:solidFill>
                            <a:srgbClr val="1F2329"/>
                          </a:solidFill>
                          <a:latin typeface="Noto Sans SC"/>
                          <a:ea typeface="Noto Sans SC"/>
                          <a:cs typeface="Noto Sans SC"/>
                          <a:sym typeface="Noto Sans SC"/>
                        </a:rPr>
                        <a:t>文章推荐</a:t>
                      </a:r>
                      <a:endParaRPr lang="en-US" sz="1100"/>
                    </a:p>
                  </a:txBody>
                  <a:tcPr anchor="ctr" anchorCtr="false" marL="101600" marR="101600" marT="101600" marB="101600">
                    <a:lnL>
                      <a:noFill/>
                    </a:lnL>
                    <a:lnR>
                      <a:noFill/>
                    </a:lnR>
                    <a:lnT>
                      <a:noFill/>
                    </a:lnT>
                    <a:lnB>
                      <a:noFill/>
                    </a:lnB>
                    <a:noFill/>
                  </a:tcPr>
                </a:tc>
                <a:tc>
                  <a:txBody>
                    <a:bodyPr anchor="t" rtlCol="false"/>
                    <a:lstStyle/>
                    <a:p>
                      <a:pPr algn="l" marL="0" indent="0">
                        <a:lnSpc>
                          <a:spcPct val="100000"/>
                        </a:lnSpc>
                        <a:defRPr/>
                      </a:pPr>
                      <a:r>
                        <a:rPr lang="en-US" b="false" i="false" strike="noStrike" u="none" sz="1100">
                          <a:solidFill>
                            <a:srgbClr val="536174"/>
                          </a:solidFill>
                          <a:latin typeface="Noto Sans SC"/>
                          <a:ea typeface="Noto Sans SC"/>
                          <a:cs typeface="Noto Sans SC"/>
                          <a:sym typeface="Noto Sans SC"/>
                        </a:rPr>
                        <a:t>无相关文章推荐功能</a:t>
                      </a:r>
                      <a:endParaRPr lang="en-US" sz="1100"/>
                    </a:p>
                  </a:txBody>
                  <a:tcPr anchor="ctr" anchorCtr="false" marL="101600" marR="101600" marT="101600" marB="101600">
                    <a:lnL>
                      <a:noFill/>
                    </a:lnL>
                    <a:lnR>
                      <a:noFill/>
                    </a:lnR>
                    <a:lnT>
                      <a:noFill/>
                    </a:lnT>
                    <a:lnB>
                      <a:noFill/>
                    </a:lnB>
                    <a:noFill/>
                  </a:tcPr>
                </a:tc>
                <a:tc>
                  <a:txBody>
                    <a:bodyPr anchor="t" rtlCol="false"/>
                    <a:lstStyle/>
                    <a:p>
                      <a:pPr algn="l" marL="0" indent="0">
                        <a:lnSpc>
                          <a:spcPct val="100000"/>
                        </a:lnSpc>
                        <a:defRPr/>
                      </a:pPr>
                      <a:r>
                        <a:rPr lang="en-US" b="true" i="false" strike="noStrike" u="none" sz="1100">
                          <a:solidFill>
                            <a:srgbClr val="2563EB"/>
                          </a:solidFill>
                          <a:latin typeface="Noto Sans SC"/>
                          <a:ea typeface="Noto Sans SC"/>
                          <a:cs typeface="Noto Sans SC"/>
                          <a:sym typeface="Noto Sans SC"/>
                        </a:rPr>
                        <a:t>新增相关文章推荐，基于标签匹配显示3篇</a:t>
                      </a:r>
                      <a:endParaRPr lang="en-US" sz="1100"/>
                    </a:p>
                  </a:txBody>
                  <a:tcPr anchor="ctr" anchorCtr="false" marL="101600" marR="101600" marT="101600" marB="101600">
                    <a:lnL>
                      <a:noFill/>
                    </a:lnL>
                    <a:lnR>
                      <a:noFill/>
                    </a:lnR>
                    <a:lnT>
                      <a:noFill/>
                    </a:lnT>
                    <a:lnB>
                      <a:noFill/>
                    </a:lnB>
                    <a:noFill/>
                  </a:tcPr>
                </a:tc>
              </a:tr>
              <a:tr h="723900">
                <a:tc>
                  <a:txBody>
                    <a:bodyPr anchor="t" rtlCol="false"/>
                    <a:lstStyle/>
                    <a:p>
                      <a:pPr algn="ctr" marL="0" indent="0">
                        <a:lnSpc>
                          <a:spcPct val="100000"/>
                        </a:lnSpc>
                        <a:defRPr/>
                      </a:pPr>
                      <a:r>
                        <a:rPr lang="en-US" b="true" i="false" strike="noStrike" u="none" sz="1100">
                          <a:solidFill>
                            <a:srgbClr val="1F2329"/>
                          </a:solidFill>
                          <a:latin typeface="Noto Sans SC"/>
                          <a:ea typeface="Noto Sans SC"/>
                          <a:cs typeface="Noto Sans SC"/>
                          <a:sym typeface="Noto Sans SC"/>
                        </a:rPr>
                        <a:t>阅读体验</a:t>
                      </a:r>
                      <a:endParaRPr lang="en-US" sz="1100"/>
                    </a:p>
                  </a:txBody>
                  <a:tcPr anchor="ctr" anchorCtr="false" marL="101600" marR="101600" marT="101600" marB="101600">
                    <a:lnL>
                      <a:noFill/>
                    </a:lnL>
                    <a:lnR>
                      <a:noFill/>
                    </a:lnR>
                    <a:lnT>
                      <a:noFill/>
                    </a:lnT>
                    <a:lnB>
                      <a:noFill/>
                    </a:lnB>
                    <a:noFill/>
                  </a:tcPr>
                </a:tc>
                <a:tc>
                  <a:txBody>
                    <a:bodyPr anchor="t" rtlCol="false"/>
                    <a:lstStyle/>
                    <a:p>
                      <a:pPr algn="l" marL="0" indent="0">
                        <a:lnSpc>
                          <a:spcPct val="100000"/>
                        </a:lnSpc>
                        <a:defRPr/>
                      </a:pPr>
                      <a:r>
                        <a:rPr lang="en-US" b="false" i="false" strike="noStrike" u="none" sz="1100">
                          <a:solidFill>
                            <a:srgbClr val="536174"/>
                          </a:solidFill>
                          <a:latin typeface="Noto Sans SC"/>
                          <a:ea typeface="Noto Sans SC"/>
                          <a:cs typeface="Noto Sans SC"/>
                          <a:sym typeface="Noto Sans SC"/>
                        </a:rPr>
                        <a:t>无阅读进度指示</a:t>
                      </a:r>
                      <a:endParaRPr lang="en-US" sz="1100"/>
                    </a:p>
                  </a:txBody>
                  <a:tcPr anchor="ctr" anchorCtr="false" marL="101600" marR="101600" marT="101600" marB="101600">
                    <a:lnL>
                      <a:noFill/>
                    </a:lnL>
                    <a:lnR>
                      <a:noFill/>
                    </a:lnR>
                    <a:lnT>
                      <a:noFill/>
                    </a:lnT>
                    <a:lnB>
                      <a:noFill/>
                    </a:lnB>
                    <a:noFill/>
                  </a:tcPr>
                </a:tc>
                <a:tc>
                  <a:txBody>
                    <a:bodyPr anchor="t" rtlCol="false"/>
                    <a:lstStyle/>
                    <a:p>
                      <a:pPr algn="l" marL="0" indent="0">
                        <a:lnSpc>
                          <a:spcPct val="100000"/>
                        </a:lnSpc>
                        <a:defRPr/>
                      </a:pPr>
                      <a:r>
                        <a:rPr lang="en-US" b="true" i="false" strike="noStrike" u="none" sz="1100">
                          <a:solidFill>
                            <a:srgbClr val="2563EB"/>
                          </a:solidFill>
                          <a:latin typeface="Noto Sans SC"/>
                          <a:ea typeface="Noto Sans SC"/>
                          <a:cs typeface="Noto Sans SC"/>
                          <a:sym typeface="Noto Sans SC"/>
                        </a:rPr>
                        <a:t>新增阅读进度条，随滚动实时更新百分比</a:t>
                      </a:r>
                      <a:endParaRPr lang="en-US" sz="1100"/>
                    </a:p>
                  </a:txBody>
                  <a:tcPr anchor="ctr" anchorCtr="false" marL="101600" marR="101600" marT="101600" marB="101600">
                    <a:lnL>
                      <a:noFill/>
                    </a:lnL>
                    <a:lnR>
                      <a:noFill/>
                    </a:lnR>
                    <a:lnT>
                      <a:noFill/>
                    </a:lnT>
                    <a:lnB>
                      <a:noFill/>
                    </a:lnB>
                    <a:noFill/>
                  </a:tcPr>
                </a:tc>
              </a:tr>
              <a:tr h="723900">
                <a:tc>
                  <a:txBody>
                    <a:bodyPr anchor="t" rtlCol="false"/>
                    <a:lstStyle/>
                    <a:p>
                      <a:pPr algn="ctr" marL="0" indent="0">
                        <a:lnSpc>
                          <a:spcPct val="100000"/>
                        </a:lnSpc>
                        <a:defRPr/>
                      </a:pPr>
                      <a:r>
                        <a:rPr lang="en-US" b="true" i="false" strike="noStrike" u="none" sz="1100">
                          <a:solidFill>
                            <a:srgbClr val="1F2329"/>
                          </a:solidFill>
                          <a:latin typeface="Noto Sans SC"/>
                          <a:ea typeface="Noto Sans SC"/>
                          <a:cs typeface="Noto Sans SC"/>
                          <a:sym typeface="Noto Sans SC"/>
                        </a:rPr>
                        <a:t>安全配置</a:t>
                      </a:r>
                      <a:endParaRPr lang="en-US" sz="1100"/>
                    </a:p>
                  </a:txBody>
                  <a:tcPr anchor="ctr" anchorCtr="false" marL="101600" marR="101600" marT="101600" marB="101600">
                    <a:lnL>
                      <a:noFill/>
                    </a:lnL>
                    <a:lnR>
                      <a:noFill/>
                    </a:lnR>
                    <a:lnT>
                      <a:noFill/>
                    </a:lnT>
                    <a:lnB>
                      <a:noFill/>
                    </a:lnB>
                    <a:noFill/>
                  </a:tcPr>
                </a:tc>
                <a:tc>
                  <a:txBody>
                    <a:bodyPr anchor="t" rtlCol="false"/>
                    <a:lstStyle/>
                    <a:p>
                      <a:pPr algn="l" marL="0" indent="0">
                        <a:lnSpc>
                          <a:spcPct val="100000"/>
                        </a:lnSpc>
                        <a:defRPr/>
                      </a:pPr>
                      <a:r>
                        <a:rPr lang="en-US" b="false" i="false" strike="noStrike" u="none" sz="1100">
                          <a:solidFill>
                            <a:srgbClr val="536174"/>
                          </a:solidFill>
                          <a:latin typeface="Noto Sans SC"/>
                          <a:ea typeface="Noto Sans SC"/>
                          <a:cs typeface="Noto Sans SC"/>
                          <a:sym typeface="Noto Sans SC"/>
                        </a:rPr>
                        <a:t>默认启用新设备登录验证码</a:t>
                      </a:r>
                      <a:endParaRPr lang="en-US" sz="1100"/>
                    </a:p>
                  </a:txBody>
                  <a:tcPr anchor="ctr" anchorCtr="false" marL="101600" marR="101600" marT="101600" marB="101600">
                    <a:lnL>
                      <a:noFill/>
                    </a:lnL>
                    <a:lnR>
                      <a:noFill/>
                    </a:lnR>
                    <a:lnT>
                      <a:noFill/>
                    </a:lnT>
                    <a:lnB>
                      <a:noFill/>
                    </a:lnB>
                    <a:noFill/>
                  </a:tcPr>
                </a:tc>
                <a:tc>
                  <a:txBody>
                    <a:bodyPr anchor="t" rtlCol="false"/>
                    <a:lstStyle/>
                    <a:p>
                      <a:pPr algn="l" marL="0" indent="0">
                        <a:lnSpc>
                          <a:spcPct val="100000"/>
                        </a:lnSpc>
                        <a:defRPr/>
                      </a:pPr>
                      <a:r>
                        <a:rPr lang="en-US" b="true" i="false" strike="noStrike" u="none" sz="1100">
                          <a:solidFill>
                            <a:srgbClr val="2563EB"/>
                          </a:solidFill>
                          <a:latin typeface="Noto Sans SC"/>
                          <a:ea typeface="Noto Sans SC"/>
                          <a:cs typeface="Noto Sans SC"/>
                          <a:sym typeface="Noto Sans SC"/>
                        </a:rPr>
                        <a:t>禁用设备验证，配置本地假SMTP服务器</a:t>
                      </a:r>
                      <a:endParaRPr lang="en-US" sz="1100"/>
                    </a:p>
                  </a:txBody>
                  <a:tcPr anchor="ctr" anchorCtr="false" marL="101600" marR="101600" marT="101600" marB="101600">
                    <a:lnL>
                      <a:noFill/>
                    </a:lnL>
                    <a:lnR>
                      <a:noFill/>
                    </a:lnR>
                    <a:lnT>
                      <a:noFill/>
                    </a:lnT>
                    <a:lnB>
                      <a:noFill/>
                    </a:lnB>
                    <a:noFill/>
                  </a:tcPr>
                </a:tc>
              </a:tr>
              <a:tr h="685800">
                <a:tc>
                  <a:txBody>
                    <a:bodyPr anchor="t" rtlCol="false"/>
                    <a:lstStyle/>
                    <a:p>
                      <a:pPr algn="ctr" marL="0" indent="0">
                        <a:lnSpc>
                          <a:spcPct val="100000"/>
                        </a:lnSpc>
                        <a:defRPr/>
                      </a:pPr>
                      <a:r>
                        <a:rPr lang="en-US" b="true" i="false" strike="noStrike" u="none" sz="1100">
                          <a:solidFill>
                            <a:srgbClr val="1F2329"/>
                          </a:solidFill>
                          <a:latin typeface="Noto Sans SC"/>
                          <a:ea typeface="Noto Sans SC"/>
                          <a:cs typeface="Noto Sans SC"/>
                          <a:sym typeface="Noto Sans SC"/>
                        </a:rPr>
                        <a:t>项目文档</a:t>
                      </a:r>
                      <a:endParaRPr lang="en-US" sz="1100"/>
                    </a:p>
                  </a:txBody>
                  <a:tcPr anchor="ctr" anchorCtr="false" marL="101600" marR="101600" marT="101600" marB="101600">
                    <a:lnL>
                      <a:noFill/>
                    </a:lnL>
                    <a:lnR>
                      <a:noFill/>
                    </a:lnR>
                    <a:lnT>
                      <a:noFill/>
                    </a:lnT>
                    <a:lnB>
                      <a:noFill/>
                    </a:lnB>
                    <a:noFill/>
                  </a:tcPr>
                </a:tc>
                <a:tc>
                  <a:txBody>
                    <a:bodyPr anchor="t" rtlCol="false"/>
                    <a:lstStyle/>
                    <a:p>
                      <a:pPr algn="l" marL="0" indent="0">
                        <a:lnSpc>
                          <a:spcPct val="100000"/>
                        </a:lnSpc>
                        <a:defRPr/>
                      </a:pPr>
                      <a:r>
                        <a:rPr lang="en-US" b="false" i="false" strike="noStrike" u="none" sz="1100">
                          <a:solidFill>
                            <a:srgbClr val="536174"/>
                          </a:solidFill>
                          <a:latin typeface="Noto Sans SC"/>
                          <a:ea typeface="Noto Sans SC"/>
                          <a:cs typeface="Noto Sans SC"/>
                          <a:sym typeface="Noto Sans SC"/>
                        </a:rPr>
                        <a:t>Ghost官方文档，无实验文档</a:t>
                      </a:r>
                      <a:endParaRPr lang="en-US" sz="1100"/>
                    </a:p>
                  </a:txBody>
                  <a:tcPr anchor="ctr" anchorCtr="false" marL="101600" marR="101600" marT="101600" marB="101600">
                    <a:lnL>
                      <a:noFill/>
                    </a:lnL>
                    <a:lnR>
                      <a:noFill/>
                    </a:lnR>
                    <a:lnT>
                      <a:noFill/>
                    </a:lnT>
                    <a:lnB>
                      <a:noFill/>
                    </a:lnB>
                    <a:noFill/>
                  </a:tcPr>
                </a:tc>
                <a:tc>
                  <a:txBody>
                    <a:bodyPr anchor="t" rtlCol="false"/>
                    <a:lstStyle/>
                    <a:p>
                      <a:pPr algn="l" marL="0" indent="0">
                        <a:lnSpc>
                          <a:spcPct val="100000"/>
                        </a:lnSpc>
                        <a:defRPr/>
                      </a:pPr>
                      <a:r>
                        <a:rPr lang="en-US" b="true" i="false" strike="noStrike" u="none" sz="1100">
                          <a:solidFill>
                            <a:srgbClr val="2563EB"/>
                          </a:solidFill>
                          <a:latin typeface="Noto Sans SC"/>
                          <a:ea typeface="Noto Sans SC"/>
                          <a:cs typeface="Noto Sans SC"/>
                          <a:sym typeface="Noto Sans SC"/>
                        </a:rPr>
                        <a:t>新增README/NOTICE/实验报告/测试报告等11份文档</a:t>
                      </a:r>
                      <a:endParaRPr lang="en-US" sz="1100"/>
                    </a:p>
                  </a:txBody>
                  <a:tcPr anchor="ctr" anchorCtr="false" marL="101600" marR="101600" marT="101600" marB="101600">
                    <a:lnL>
                      <a:noFill/>
                    </a:lnL>
                    <a:lnR>
                      <a:noFill/>
                    </a:lnR>
                    <a:lnT>
                      <a:noFill/>
                    </a:lnT>
                    <a:lnB>
                      <a:noFill/>
                    </a:lnB>
                    <a:noFill/>
                  </a:tcPr>
                </a:tc>
              </a:tr>
            </a:tbl>
          </a:graphicData>
        </a:graphic>
      </p:graphicFrame>
      <p:sp>
        <p:nvSpPr>
          <p:cNvPr name="AutoShape 6" id="6"/>
          <p:cNvSpPr/>
          <p:nvPr/>
        </p:nvSpPr>
        <p:spPr>
          <a:xfrm rot="0" flipH="false" flipV="false">
            <a:off x="508000" y="6096000"/>
            <a:ext cx="11176000" cy="508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200">
                <a:solidFill>
                  <a:srgbClr val="536174"/>
                </a:solidFill>
                <a:latin typeface="Noto Sans SC"/>
                <a:ea typeface="Noto Sans SC"/>
                <a:cs typeface="Noto Sans SC"/>
                <a:sym typeface="Noto Sans SC"/>
              </a:rPr>
              <a:t>修改边界：所有二次开发均在主题层和配置层，未修改Ghost核心代码，保证升级兼容性</a:t>
            </a:r>
            <a:endParaRPr lang="en-US" sz="1100"/>
          </a:p>
        </p:txBody>
      </p:sp>
    </p:spTree>
  </p:cSld>
  <p:clrMapOvr>
    <a:masterClrMapping/>
  </p:clrMapOvr>
</p:sld>
</file>

<file path=ppt/slides/slide15.xml><?xml version="1.0" encoding="utf-8"?>
<p:sld xmlns:p="http://schemas.openxmlformats.org/presentationml/2006/main" xmlns:a="http://schemas.openxmlformats.org/drawingml/2006/main">
  <p:cSld>
    <p:bg>
      <p:bgPr>
        <a:solidFill>
          <a:srgbClr val="F2F4F8">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762000"/>
          </a:xfrm>
          <a:prstGeom prst="roundRect">
            <a:avLst>
              <a:gd name="adj" fmla="val 0"/>
            </a:avLst>
          </a:prstGeom>
          <a:solidFill>
            <a:srgbClr val="0D132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508000" y="152400"/>
            <a:ext cx="7620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200">
                <a:solidFill>
                  <a:srgbClr val="FFFFFF"/>
                </a:solidFill>
                <a:latin typeface="Noto Sans SC"/>
                <a:ea typeface="Noto Sans SC"/>
                <a:cs typeface="Noto Sans SC"/>
                <a:sym typeface="Noto Sans SC"/>
              </a:rPr>
              <a:t>核心代码展示</a:t>
            </a:r>
            <a:endParaRPr lang="en-US" sz="1100"/>
          </a:p>
        </p:txBody>
      </p:sp>
      <p:sp>
        <p:nvSpPr>
          <p:cNvPr name="AutoShape 4" id="4"/>
          <p:cNvSpPr/>
          <p:nvPr/>
        </p:nvSpPr>
        <p:spPr>
          <a:xfrm rot="0" flipH="false" flipV="false">
            <a:off x="9525000" y="228600"/>
            <a:ext cx="2159000" cy="381000"/>
          </a:xfrm>
          <a:prstGeom prst="rect">
            <a:avLst/>
          </a:prstGeom>
          <a:noFill/>
          <a:ln w="12700" cmpd="sng" cap="flat">
            <a:noFill/>
            <a:prstDash val="solid"/>
            <a:round/>
          </a:ln>
        </p:spPr>
        <p:txBody>
          <a:bodyPr anchor="ctr" rtlCol="false" anchorCtr="false" vert="horz" wrap="square" lIns="0" rIns="0" tIns="0" bIns="0"/>
          <a:lstStyle/>
          <a:p>
            <a:pPr algn="r" marL="0" indent="0">
              <a:lnSpc>
                <a:spcPct val="125000"/>
              </a:lnSpc>
              <a:defRPr/>
            </a:pPr>
            <a:r>
              <a:rPr lang="en-US" b="false" i="false" strike="noStrike" u="none" sz="1200">
                <a:solidFill>
                  <a:srgbClr val="BFD7FF"/>
                </a:solidFill>
                <a:latin typeface="Noto Sans SC"/>
                <a:ea typeface="Noto Sans SC"/>
                <a:cs typeface="Noto Sans SC"/>
                <a:sym typeface="Noto Sans SC"/>
              </a:rPr>
              <a:t>实验01 / 共17页</a:t>
            </a:r>
            <a:endParaRPr lang="en-US" sz="1100"/>
          </a:p>
        </p:txBody>
      </p:sp>
      <p:sp>
        <p:nvSpPr>
          <p:cNvPr name="AutoShape 5" id="5"/>
          <p:cNvSpPr/>
          <p:nvPr/>
        </p:nvSpPr>
        <p:spPr>
          <a:xfrm rot="0" flipH="false" flipV="false">
            <a:off x="508000" y="1016000"/>
            <a:ext cx="5334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0D1326"/>
                </a:solidFill>
                <a:latin typeface="Noto Sans SC"/>
                <a:ea typeface="Noto Sans SC"/>
                <a:cs typeface="Noto Sans SC"/>
                <a:sym typeface="Noto Sans SC"/>
              </a:rPr>
              <a:t>相关文章推荐（Handlebars模板）</a:t>
            </a:r>
            <a:endParaRPr lang="en-US" sz="1100"/>
          </a:p>
        </p:txBody>
      </p:sp>
      <p:sp>
        <p:nvSpPr>
          <p:cNvPr name="AutoShape 6" id="6"/>
          <p:cNvSpPr/>
          <p:nvPr/>
        </p:nvSpPr>
        <p:spPr>
          <a:xfrm rot="0" flipH="false" flipV="false">
            <a:off x="508000" y="1460500"/>
            <a:ext cx="5334000" cy="3048000"/>
          </a:xfrm>
          <a:prstGeom prst="roundRect">
            <a:avLst>
              <a:gd name="adj" fmla="val 0"/>
            </a:avLst>
          </a:prstGeom>
          <a:solidFill>
            <a:srgbClr val="0D132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698500" y="1587500"/>
            <a:ext cx="4953000" cy="279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000">
                <a:solidFill>
                  <a:srgbClr val="BFD7FF"/>
                </a:solidFill>
                <a:latin typeface="Consolas"/>
                <a:ea typeface="Consolas"/>
                <a:cs typeface="Consolas"/>
                <a:sym typeface="Consolas"/>
              </a:rPr>
              <a:t>{{#get "posts" filter="tags:[{{primary_tag.slug}}]+id:-{{id}}" limit="3" include="tags" as |related|}}</a:t>
            </a:r>
            <a:endParaRPr lang="en-US" sz="1100"/>
          </a:p>
          <a:p>
            <a:pPr algn="l" marL="0" indent="0">
              <a:lnSpc>
                <a:spcPct val="116666"/>
              </a:lnSpc>
            </a:pPr>
            <a:r>
              <a:rPr lang="en-US" b="false" i="false" strike="noStrike" u="none" sz="1000">
                <a:solidFill>
                  <a:srgbClr val="BFD7FF"/>
                </a:solidFill>
                <a:latin typeface="Consolas"/>
                <a:ea typeface="Consolas"/>
                <a:cs typeface="Consolas"/>
                <a:sym typeface="Consolas"/>
              </a:rPr>
              <a:t>{{#if related}}</a:t>
            </a:r>
          </a:p>
          <a:p>
            <a:pPr algn="l" marL="0" indent="0">
              <a:lnSpc>
                <a:spcPct val="116666"/>
              </a:lnSpc>
            </a:pPr>
            <a:r>
              <a:rPr lang="en-US" b="false" i="false" strike="noStrike" u="none" sz="1000">
                <a:solidFill>
                  <a:srgbClr val="BFD7FF"/>
                </a:solidFill>
                <a:latin typeface="Consolas"/>
                <a:ea typeface="Consolas"/>
                <a:cs typeface="Consolas"/>
                <a:sym typeface="Consolas"/>
              </a:rPr>
              <a:t>&lt;section class="related-posts"&gt;</a:t>
            </a:r>
          </a:p>
          <a:p>
            <a:pPr algn="l" marL="0" indent="0">
              <a:lnSpc>
                <a:spcPct val="116666"/>
              </a:lnSpc>
            </a:pPr>
            <a:r>
              <a:rPr lang="en-US" b="false" i="false" strike="noStrike" u="none" sz="1000">
                <a:solidFill>
                  <a:srgbClr val="BFD7FF"/>
                </a:solidFill>
                <a:latin typeface="Consolas"/>
                <a:ea typeface="Consolas"/>
                <a:cs typeface="Consolas"/>
                <a:sym typeface="Consolas"/>
              </a:rPr>
              <a:t>&lt;h3&gt;相关文章推荐&lt;/h3&gt;</a:t>
            </a:r>
          </a:p>
          <a:p>
            <a:pPr algn="l" marL="0" indent="0">
              <a:lnSpc>
                <a:spcPct val="116666"/>
              </a:lnSpc>
            </a:pPr>
            <a:r>
              <a:rPr lang="en-US" b="false" i="false" strike="noStrike" u="none" sz="1000">
                <a:solidFill>
                  <a:srgbClr val="BFD7FF"/>
                </a:solidFill>
                <a:latin typeface="Consolas"/>
                <a:ea typeface="Consolas"/>
                <a:cs typeface="Consolas"/>
                <a:sym typeface="Consolas"/>
              </a:rPr>
              <a:t>&lt;div class="related-grid"&gt;</a:t>
            </a:r>
          </a:p>
          <a:p>
            <a:pPr algn="l" marL="0" indent="0">
              <a:lnSpc>
                <a:spcPct val="116666"/>
              </a:lnSpc>
            </a:pPr>
            <a:r>
              <a:rPr lang="en-US" b="false" i="false" strike="noStrike" u="none" sz="1000">
                <a:solidFill>
                  <a:srgbClr val="BFD7FF"/>
                </a:solidFill>
                <a:latin typeface="Consolas"/>
                <a:ea typeface="Consolas"/>
                <a:cs typeface="Consolas"/>
                <a:sym typeface="Consolas"/>
              </a:rPr>
              <a:t>{{#foreach related}}</a:t>
            </a:r>
          </a:p>
          <a:p>
            <a:pPr algn="l" marL="0" indent="0">
              <a:lnSpc>
                <a:spcPct val="116666"/>
              </a:lnSpc>
            </a:pPr>
            <a:r>
              <a:rPr lang="en-US" b="false" i="false" strike="noStrike" u="none" sz="1000">
                <a:solidFill>
                  <a:srgbClr val="BFD7FF"/>
                </a:solidFill>
                <a:latin typeface="Consolas"/>
                <a:ea typeface="Consolas"/>
                <a:cs typeface="Consolas"/>
                <a:sym typeface="Consolas"/>
              </a:rPr>
              <a:t>&lt;a class="related-card" href="{{url}}"&gt;</a:t>
            </a:r>
          </a:p>
          <a:p>
            <a:pPr algn="l" marL="0" indent="0">
              <a:lnSpc>
                <a:spcPct val="116666"/>
              </a:lnSpc>
            </a:pPr>
            <a:r>
              <a:rPr lang="en-US" b="false" i="false" strike="noStrike" u="none" sz="1000">
                <a:solidFill>
                  <a:srgbClr val="BFD7FF"/>
                </a:solidFill>
                <a:latin typeface="Consolas"/>
                <a:ea typeface="Consolas"/>
                <a:cs typeface="Consolas"/>
                <a:sym typeface="Consolas"/>
              </a:rPr>
              <a:t>&lt;h4&gt;{{title}}&lt;/h4&gt;</a:t>
            </a:r>
          </a:p>
          <a:p>
            <a:pPr algn="l" marL="0" indent="0">
              <a:lnSpc>
                <a:spcPct val="116666"/>
              </a:lnSpc>
            </a:pPr>
            <a:r>
              <a:rPr lang="en-US" b="false" i="false" strike="noStrike" u="none" sz="1000">
                <a:solidFill>
                  <a:srgbClr val="BFD7FF"/>
                </a:solidFill>
                <a:latin typeface="Consolas"/>
                <a:ea typeface="Consolas"/>
                <a:cs typeface="Consolas"/>
                <a:sym typeface="Consolas"/>
              </a:rPr>
              <a:t>&lt;span&gt;{{date format="YYYY年MM月DD日"}}&lt;/span&gt;</a:t>
            </a:r>
          </a:p>
          <a:p>
            <a:pPr algn="l" marL="0" indent="0">
              <a:lnSpc>
                <a:spcPct val="116666"/>
              </a:lnSpc>
            </a:pPr>
            <a:r>
              <a:rPr lang="en-US" b="false" i="false" strike="noStrike" u="none" sz="1000">
                <a:solidFill>
                  <a:srgbClr val="BFD7FF"/>
                </a:solidFill>
                <a:latin typeface="Consolas"/>
                <a:ea typeface="Consolas"/>
                <a:cs typeface="Consolas"/>
                <a:sym typeface="Consolas"/>
              </a:rPr>
              <a:t>&lt;/a&gt;</a:t>
            </a:r>
          </a:p>
          <a:p>
            <a:pPr algn="l" marL="0" indent="0">
              <a:lnSpc>
                <a:spcPct val="116666"/>
              </a:lnSpc>
            </a:pPr>
            <a:r>
              <a:rPr lang="en-US" b="false" i="false" strike="noStrike" u="none" sz="1000">
                <a:solidFill>
                  <a:srgbClr val="BFD7FF"/>
                </a:solidFill>
                <a:latin typeface="Consolas"/>
                <a:ea typeface="Consolas"/>
                <a:cs typeface="Consolas"/>
                <a:sym typeface="Consolas"/>
              </a:rPr>
              <a:t>{{/foreach}}</a:t>
            </a:r>
          </a:p>
          <a:p>
            <a:pPr algn="l" marL="0" indent="0">
              <a:lnSpc>
                <a:spcPct val="116666"/>
              </a:lnSpc>
            </a:pPr>
            <a:r>
              <a:rPr lang="en-US" b="false" i="false" strike="noStrike" u="none" sz="1000">
                <a:solidFill>
                  <a:srgbClr val="BFD7FF"/>
                </a:solidFill>
                <a:latin typeface="Consolas"/>
                <a:ea typeface="Consolas"/>
                <a:cs typeface="Consolas"/>
                <a:sym typeface="Consolas"/>
              </a:rPr>
              <a:t>&lt;/div&gt;</a:t>
            </a:r>
          </a:p>
          <a:p>
            <a:pPr algn="l" marL="0" indent="0">
              <a:lnSpc>
                <a:spcPct val="116666"/>
              </a:lnSpc>
            </a:pPr>
            <a:r>
              <a:rPr lang="en-US" b="false" i="false" strike="noStrike" u="none" sz="1000">
                <a:solidFill>
                  <a:srgbClr val="BFD7FF"/>
                </a:solidFill>
                <a:latin typeface="Consolas"/>
                <a:ea typeface="Consolas"/>
                <a:cs typeface="Consolas"/>
                <a:sym typeface="Consolas"/>
              </a:rPr>
              <a:t>&lt;/section&gt;</a:t>
            </a:r>
          </a:p>
          <a:p>
            <a:pPr algn="l" marL="0" indent="0">
              <a:lnSpc>
                <a:spcPct val="116666"/>
              </a:lnSpc>
            </a:pPr>
            <a:r>
              <a:rPr lang="en-US" b="false" i="false" strike="noStrike" u="none" sz="1000">
                <a:solidFill>
                  <a:srgbClr val="BFD7FF"/>
                </a:solidFill>
                <a:latin typeface="Consolas"/>
                <a:ea typeface="Consolas"/>
                <a:cs typeface="Consolas"/>
                <a:sym typeface="Consolas"/>
              </a:rPr>
              <a:t>{{/if}}</a:t>
            </a:r>
          </a:p>
          <a:p>
            <a:pPr algn="l" marL="0" indent="0">
              <a:lnSpc>
                <a:spcPct val="116666"/>
              </a:lnSpc>
            </a:pPr>
            <a:r>
              <a:rPr lang="en-US" b="false" i="false" strike="noStrike" u="none" sz="1000">
                <a:solidFill>
                  <a:srgbClr val="BFD7FF"/>
                </a:solidFill>
                <a:latin typeface="Consolas"/>
                <a:ea typeface="Consolas"/>
                <a:cs typeface="Consolas"/>
                <a:sym typeface="Consolas"/>
              </a:rPr>
              <a:t>{{/get}}</a:t>
            </a:r>
          </a:p>
        </p:txBody>
      </p:sp>
      <p:sp>
        <p:nvSpPr>
          <p:cNvPr name="AutoShape 8" id="8"/>
          <p:cNvSpPr/>
          <p:nvPr/>
        </p:nvSpPr>
        <p:spPr>
          <a:xfrm rot="0" flipH="false" flipV="false">
            <a:off x="6350000" y="1016000"/>
            <a:ext cx="5334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0D1326"/>
                </a:solidFill>
                <a:latin typeface="Noto Sans SC"/>
                <a:ea typeface="Noto Sans SC"/>
                <a:cs typeface="Noto Sans SC"/>
                <a:sym typeface="Noto Sans SC"/>
              </a:rPr>
              <a:t>阅读进度条（JavaScript）</a:t>
            </a:r>
            <a:endParaRPr lang="en-US" sz="1100"/>
          </a:p>
        </p:txBody>
      </p:sp>
      <p:sp>
        <p:nvSpPr>
          <p:cNvPr name="AutoShape 9" id="9"/>
          <p:cNvSpPr/>
          <p:nvPr/>
        </p:nvSpPr>
        <p:spPr>
          <a:xfrm rot="0" flipH="false" flipV="false">
            <a:off x="6350000" y="1460500"/>
            <a:ext cx="5334000" cy="3048000"/>
          </a:xfrm>
          <a:prstGeom prst="roundRect">
            <a:avLst>
              <a:gd name="adj" fmla="val 0"/>
            </a:avLst>
          </a:prstGeom>
          <a:solidFill>
            <a:srgbClr val="0D132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6540500" y="1587500"/>
            <a:ext cx="4953000" cy="279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000">
                <a:solidFill>
                  <a:srgbClr val="BFD7FF"/>
                </a:solidFill>
                <a:latin typeface="Consolas"/>
                <a:ea typeface="Consolas"/>
                <a:cs typeface="Consolas"/>
                <a:sym typeface="Consolas"/>
              </a:rPr>
              <a:t>// 阅读进度条</a:t>
            </a:r>
            <a:endParaRPr lang="en-US" sz="1100"/>
          </a:p>
          <a:p>
            <a:pPr algn="l" marL="0" indent="0">
              <a:lnSpc>
                <a:spcPct val="116666"/>
              </a:lnSpc>
            </a:pPr>
            <a:r>
              <a:rPr lang="en-US" b="false" i="false" strike="noStrike" u="none" sz="1000">
                <a:solidFill>
                  <a:srgbClr val="BFD7FF"/>
                </a:solidFill>
                <a:latin typeface="Consolas"/>
                <a:ea typeface="Consolas"/>
                <a:cs typeface="Consolas"/>
                <a:sym typeface="Consolas"/>
              </a:rPr>
              <a:t>window.addEventListener('scroll', function() {</a:t>
            </a:r>
          </a:p>
          <a:p>
            <a:pPr algn="l" marL="0" indent="0">
              <a:lnSpc>
                <a:spcPct val="116666"/>
              </a:lnSpc>
            </a:pPr>
            <a:r>
              <a:rPr lang="en-US" b="false" i="false" strike="noStrike" u="none" sz="1000">
                <a:solidFill>
                  <a:srgbClr val="BFD7FF"/>
                </a:solidFill>
                <a:latin typeface="Consolas"/>
                <a:ea typeface="Consolas"/>
                <a:cs typeface="Consolas"/>
                <a:sym typeface="Consolas"/>
              </a:rPr>
              <a:t>const scrollTop = window.scrollY;</a:t>
            </a:r>
          </a:p>
          <a:p>
            <a:pPr algn="l" marL="0" indent="0">
              <a:lnSpc>
                <a:spcPct val="116666"/>
              </a:lnSpc>
            </a:pPr>
            <a:r>
              <a:rPr lang="en-US" b="false" i="false" strike="noStrike" u="none" sz="1000">
                <a:solidFill>
                  <a:srgbClr val="BFD7FF"/>
                </a:solidFill>
                <a:latin typeface="Consolas"/>
                <a:ea typeface="Consolas"/>
                <a:cs typeface="Consolas"/>
                <a:sym typeface="Consolas"/>
              </a:rPr>
              <a:t>const docHeight = document.body.scrollHeight;</a:t>
            </a:r>
          </a:p>
          <a:p>
            <a:pPr algn="l" marL="0" indent="0">
              <a:lnSpc>
                <a:spcPct val="116666"/>
              </a:lnSpc>
            </a:pPr>
            <a:r>
              <a:rPr lang="en-US" b="false" i="false" strike="noStrike" u="none" sz="1000">
                <a:solidFill>
                  <a:srgbClr val="BFD7FF"/>
                </a:solidFill>
                <a:latin typeface="Consolas"/>
                <a:ea typeface="Consolas"/>
                <a:cs typeface="Consolas"/>
                <a:sym typeface="Consolas"/>
              </a:rPr>
              <a:t>const winHeight = window.innerHeight;</a:t>
            </a:r>
          </a:p>
          <a:p>
            <a:pPr algn="l" marL="0" indent="0">
              <a:lnSpc>
                <a:spcPct val="116666"/>
              </a:lnSpc>
            </a:pPr>
            <a:r>
              <a:rPr lang="en-US" b="false" i="false" strike="noStrike" u="none" sz="1000">
                <a:solidFill>
                  <a:srgbClr val="BFD7FF"/>
                </a:solidFill>
                <a:latin typeface="Consolas"/>
                <a:ea typeface="Consolas"/>
                <a:cs typeface="Consolas"/>
                <a:sym typeface="Consolas"/>
              </a:rPr>
              <a:t>const scrollPercent = (scrollTop /</a:t>
            </a:r>
          </a:p>
          <a:p>
            <a:pPr algn="l" marL="0" indent="0">
              <a:lnSpc>
                <a:spcPct val="116666"/>
              </a:lnSpc>
            </a:pPr>
            <a:r>
              <a:rPr lang="en-US" b="false" i="false" strike="noStrike" u="none" sz="1000">
                <a:solidFill>
                  <a:srgbClr val="BFD7FF"/>
                </a:solidFill>
                <a:latin typeface="Consolas"/>
                <a:ea typeface="Consolas"/>
                <a:cs typeface="Consolas"/>
                <a:sym typeface="Consolas"/>
              </a:rPr>
              <a:t>(docHeight - winHeight)) * 100;</a:t>
            </a:r>
          </a:p>
          <a:p>
            <a:pPr algn="l" marL="0" indent="0">
              <a:lnSpc>
                <a:spcPct val="116666"/>
              </a:lnSpc>
            </a:pPr>
            <a:r>
              <a:rPr lang="en-US" b="false" i="false" strike="noStrike" u="none" sz="1000">
                <a:solidFill>
                  <a:srgbClr val="BFD7FF"/>
                </a:solidFill>
                <a:latin typeface="Consolas"/>
                <a:ea typeface="Consolas"/>
                <a:cs typeface="Consolas"/>
                <a:sym typeface="Consolas"/>
              </a:rPr>
              <a:t>const bar = document.getElementById(</a:t>
            </a:r>
          </a:p>
          <a:p>
            <a:pPr algn="l" marL="0" indent="0">
              <a:lnSpc>
                <a:spcPct val="116666"/>
              </a:lnSpc>
            </a:pPr>
            <a:r>
              <a:rPr lang="en-US" b="false" i="false" strike="noStrike" u="none" sz="1000">
                <a:solidFill>
                  <a:srgbClr val="BFD7FF"/>
                </a:solidFill>
                <a:latin typeface="Consolas"/>
                <a:ea typeface="Consolas"/>
                <a:cs typeface="Consolas"/>
                <a:sym typeface="Consolas"/>
              </a:rPr>
              <a:t>'reading-progress-bar');</a:t>
            </a:r>
          </a:p>
          <a:p>
            <a:pPr algn="l" marL="0" indent="0">
              <a:lnSpc>
                <a:spcPct val="116666"/>
              </a:lnSpc>
            </a:pPr>
            <a:r>
              <a:rPr lang="en-US" b="false" i="false" strike="noStrike" u="none" sz="1000">
                <a:solidFill>
                  <a:srgbClr val="BFD7FF"/>
                </a:solidFill>
                <a:latin typeface="Consolas"/>
                <a:ea typeface="Consolas"/>
                <a:cs typeface="Consolas"/>
                <a:sym typeface="Consolas"/>
              </a:rPr>
              <a:t>if (bar) {</a:t>
            </a:r>
          </a:p>
          <a:p>
            <a:pPr algn="l" marL="0" indent="0">
              <a:lnSpc>
                <a:spcPct val="116666"/>
              </a:lnSpc>
            </a:pPr>
            <a:r>
              <a:rPr lang="en-US" b="false" i="false" strike="noStrike" u="none" sz="1000">
                <a:solidFill>
                  <a:srgbClr val="BFD7FF"/>
                </a:solidFill>
                <a:latin typeface="Consolas"/>
                <a:ea typeface="Consolas"/>
                <a:cs typeface="Consolas"/>
                <a:sym typeface="Consolas"/>
              </a:rPr>
              <a:t>bar.style.width = scrollPercent + '%';</a:t>
            </a:r>
          </a:p>
          <a:p>
            <a:pPr algn="l" marL="0" indent="0">
              <a:lnSpc>
                <a:spcPct val="116666"/>
              </a:lnSpc>
            </a:pPr>
            <a:r>
              <a:rPr lang="en-US" b="false" i="false" strike="noStrike" u="none" sz="1000">
                <a:solidFill>
                  <a:srgbClr val="BFD7FF"/>
                </a:solidFill>
                <a:latin typeface="Consolas"/>
                <a:ea typeface="Consolas"/>
                <a:cs typeface="Consolas"/>
                <a:sym typeface="Consolas"/>
              </a:rPr>
              <a:t>}</a:t>
            </a:r>
          </a:p>
          <a:p>
            <a:pPr algn="l" marL="0" indent="0">
              <a:lnSpc>
                <a:spcPct val="116666"/>
              </a:lnSpc>
            </a:pPr>
            <a:r>
              <a:rPr lang="en-US" b="false" i="false" strike="noStrike" u="none" sz="1000">
                <a:solidFill>
                  <a:srgbClr val="BFD7FF"/>
                </a:solidFill>
                <a:latin typeface="Consolas"/>
                <a:ea typeface="Consolas"/>
                <a:cs typeface="Consolas"/>
                <a:sym typeface="Consolas"/>
              </a:rPr>
              <a:t>});</a:t>
            </a:r>
          </a:p>
          <a:p>
            <a:pPr algn="l" marL="0" indent="0">
              <a:lnSpc>
                <a:spcPct val="116666"/>
              </a:lnSpc>
            </a:pPr>
            <a:r>
              <a:rPr lang="en-US" b="false" i="false" strike="noStrike" u="none" sz="1000">
                <a:solidFill>
                  <a:srgbClr val="BFD7FF"/>
                </a:solidFill>
                <a:latin typeface="Consolas"/>
                <a:ea typeface="Consolas"/>
                <a:cs typeface="Consolas"/>
                <a:sym typeface="Consolas"/>
              </a:rPr>
              <a:t>// 仅在文章详情页显示</a:t>
            </a:r>
          </a:p>
          <a:p>
            <a:pPr algn="l" marL="0" indent="0">
              <a:lnSpc>
                <a:spcPct val="116666"/>
              </a:lnSpc>
            </a:pPr>
            <a:r>
              <a:rPr lang="en-US" b="false" i="false" strike="noStrike" u="none" sz="1000">
                <a:solidFill>
                  <a:srgbClr val="BFD7FF"/>
                </a:solidFill>
                <a:latin typeface="Consolas"/>
                <a:ea typeface="Consolas"/>
                <a:cs typeface="Consolas"/>
                <a:sym typeface="Consolas"/>
              </a:rPr>
              <a:t>if (document.body.classList.contains(</a:t>
            </a:r>
          </a:p>
          <a:p>
            <a:pPr algn="l" marL="0" indent="0">
              <a:lnSpc>
                <a:spcPct val="116666"/>
              </a:lnSpc>
            </a:pPr>
            <a:r>
              <a:rPr lang="en-US" b="false" i="false" strike="noStrike" u="none" sz="1000">
                <a:solidFill>
                  <a:srgbClr val="BFD7FF"/>
                </a:solidFill>
                <a:latin typeface="Consolas"/>
                <a:ea typeface="Consolas"/>
                <a:cs typeface="Consolas"/>
                <a:sym typeface="Consolas"/>
              </a:rPr>
              <a:t>'post-template')) { ... }</a:t>
            </a:r>
          </a:p>
        </p:txBody>
      </p:sp>
      <p:sp>
        <p:nvSpPr>
          <p:cNvPr name="AutoShape 11" id="11"/>
          <p:cNvSpPr/>
          <p:nvPr/>
        </p:nvSpPr>
        <p:spPr>
          <a:xfrm rot="0" flipH="false" flipV="false">
            <a:off x="508000" y="4762500"/>
            <a:ext cx="11176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0D1326"/>
                </a:solidFill>
                <a:latin typeface="Noto Sans SC"/>
                <a:ea typeface="Noto Sans SC"/>
                <a:cs typeface="Noto Sans SC"/>
                <a:sym typeface="Noto Sans SC"/>
              </a:rPr>
              <a:t>关键配置（config.development.json）</a:t>
            </a:r>
            <a:endParaRPr lang="en-US" sz="1100"/>
          </a:p>
        </p:txBody>
      </p:sp>
      <p:sp>
        <p:nvSpPr>
          <p:cNvPr name="AutoShape 12" id="12"/>
          <p:cNvSpPr/>
          <p:nvPr/>
        </p:nvSpPr>
        <p:spPr>
          <a:xfrm rot="0" flipH="false" flipV="false">
            <a:off x="508000" y="5207000"/>
            <a:ext cx="11176000" cy="1397000"/>
          </a:xfrm>
          <a:prstGeom prst="roundRect">
            <a:avLst>
              <a:gd name="adj" fmla="val 0"/>
            </a:avLst>
          </a:prstGeom>
          <a:solidFill>
            <a:srgbClr val="FFFFFF">
              <a:alpha val="100000"/>
            </a:srgbClr>
          </a:solidFill>
          <a:ln w="12700" cmpd="sng" cap="flat">
            <a:solidFill>
              <a:srgbClr val="BFD7FF">
                <a:alpha val="100000"/>
              </a:srgbClr>
            </a:solidFill>
            <a:prstDash val="solid"/>
            <a:round/>
          </a:ln>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762000" y="5334000"/>
            <a:ext cx="106680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33333"/>
              </a:lnSpc>
              <a:defRPr/>
            </a:pPr>
            <a:r>
              <a:rPr lang="en-US" b="true" i="false" strike="noStrike" u="none" sz="1200">
                <a:solidFill>
                  <a:srgbClr val="2563EB"/>
                </a:solidFill>
                <a:latin typeface="Consolas"/>
                <a:ea typeface="Consolas"/>
                <a:cs typeface="Consolas"/>
                <a:sym typeface="Consolas"/>
              </a:rPr>
              <a:t>"security"</a:t>
            </a:r>
            <a:r>
              <a:rPr lang="en-US" b="false" i="false" strike="noStrike" u="none" sz="1200">
                <a:solidFill>
                  <a:srgbClr val="536174"/>
                </a:solidFill>
                <a:latin typeface="Consolas"/>
                <a:ea typeface="Consolas"/>
                <a:cs typeface="Consolas"/>
                <a:sym typeface="Consolas"/>
              </a:rPr>
              <a:t>: { </a:t>
            </a:r>
            <a:r>
              <a:rPr lang="en-US" b="true" i="false" strike="noStrike" u="none" sz="1200">
                <a:solidFill>
                  <a:srgbClr val="2563EB"/>
                </a:solidFill>
                <a:latin typeface="Consolas"/>
                <a:ea typeface="Consolas"/>
                <a:cs typeface="Consolas"/>
                <a:sym typeface="Consolas"/>
              </a:rPr>
              <a:t>"staffDeviceVerification"</a:t>
            </a:r>
            <a:r>
              <a:rPr lang="en-US" b="false" i="false" strike="noStrike" u="none" sz="1200">
                <a:solidFill>
                  <a:srgbClr val="536174"/>
                </a:solidFill>
                <a:latin typeface="Consolas"/>
                <a:ea typeface="Consolas"/>
                <a:cs typeface="Consolas"/>
                <a:sym typeface="Consolas"/>
              </a:rPr>
              <a:t>: </a:t>
            </a:r>
            <a:r>
              <a:rPr lang="en-US" b="false" i="false" strike="noStrike" u="none" sz="1200">
                <a:solidFill>
                  <a:srgbClr val="C83232"/>
                </a:solidFill>
                <a:latin typeface="Consolas"/>
                <a:ea typeface="Consolas"/>
                <a:cs typeface="Consolas"/>
                <a:sym typeface="Consolas"/>
              </a:rPr>
              <a:t>false</a:t>
            </a:r>
            <a:r>
              <a:rPr lang="en-US" b="false" i="false" strike="noStrike" u="none" sz="1200">
                <a:solidFill>
                  <a:srgbClr val="536174"/>
                </a:solidFill>
                <a:latin typeface="Consolas"/>
                <a:ea typeface="Consolas"/>
                <a:cs typeface="Consolas"/>
                <a:sym typeface="Consolas"/>
              </a:rPr>
              <a:t> } </a:t>
            </a:r>
            <a:r>
              <a:rPr lang="en-US" b="false" i="false" strike="noStrike" u="none" sz="1200">
                <a:solidFill>
                  <a:srgbClr val="0D1326"/>
                </a:solidFill>
                <a:latin typeface="Consolas"/>
                <a:ea typeface="Consolas"/>
                <a:cs typeface="Consolas"/>
                <a:sym typeface="Consolas"/>
              </a:rPr>
              <a:t>// 禁用登录验证码</a:t>
            </a:r>
            <a:r>
              <a:rPr lang="en-US" b="false" i="false" strike="noStrike" u="none" sz="1200">
                <a:solidFill>
                  <a:srgbClr val="536174"/>
                </a:solidFill>
                <a:latin typeface="Consolas"/>
                <a:ea typeface="Consolas"/>
                <a:cs typeface="Consolas"/>
                <a:sym typeface="Consolas"/>
              </a:rPr>
              <a:t/>
            </a:r>
            <a:endParaRPr lang="en-US" sz="1100"/>
          </a:p>
          <a:p>
            <a:pPr algn="l" marL="0" indent="0">
              <a:lnSpc>
                <a:spcPct val="133333"/>
              </a:lnSpc>
            </a:pPr>
            <a:r>
              <a:rPr lang="en-US" b="true" i="false" strike="noStrike" u="none" sz="1200">
                <a:solidFill>
                  <a:srgbClr val="2563EB"/>
                </a:solidFill>
                <a:latin typeface="Consolas"/>
                <a:ea typeface="Consolas"/>
                <a:cs typeface="Consolas"/>
                <a:sym typeface="Consolas"/>
              </a:rPr>
              <a:t>"mail"</a:t>
            </a:r>
            <a:r>
              <a:rPr lang="en-US" b="false" i="false" strike="noStrike" u="none" sz="1200">
                <a:solidFill>
                  <a:srgbClr val="536174"/>
                </a:solidFill>
                <a:latin typeface="Consolas"/>
                <a:ea typeface="Consolas"/>
                <a:cs typeface="Consolas"/>
                <a:sym typeface="Consolas"/>
              </a:rPr>
              <a:t>: { </a:t>
            </a:r>
            <a:r>
              <a:rPr lang="en-US" b="true" i="false" strike="noStrike" u="none" sz="1200">
                <a:solidFill>
                  <a:srgbClr val="2563EB"/>
                </a:solidFill>
                <a:latin typeface="Consolas"/>
                <a:ea typeface="Consolas"/>
                <a:cs typeface="Consolas"/>
                <a:sym typeface="Consolas"/>
              </a:rPr>
              <a:t>"transport"</a:t>
            </a:r>
            <a:r>
              <a:rPr lang="en-US" b="false" i="false" strike="noStrike" u="none" sz="1200">
                <a:solidFill>
                  <a:srgbClr val="536174"/>
                </a:solidFill>
                <a:latin typeface="Consolas"/>
                <a:ea typeface="Consolas"/>
                <a:cs typeface="Consolas"/>
                <a:sym typeface="Consolas"/>
              </a:rPr>
              <a:t>: </a:t>
            </a:r>
            <a:r>
              <a:rPr lang="en-US" b="false" i="false" strike="noStrike" u="none" sz="1200">
                <a:solidFill>
                  <a:srgbClr val="C83232"/>
                </a:solidFill>
                <a:latin typeface="Consolas"/>
                <a:ea typeface="Consolas"/>
                <a:cs typeface="Consolas"/>
                <a:sym typeface="Consolas"/>
              </a:rPr>
              <a:t>"SMTP"</a:t>
            </a:r>
            <a:r>
              <a:rPr lang="en-US" b="false" i="false" strike="noStrike" u="none" sz="1200">
                <a:solidFill>
                  <a:srgbClr val="536174"/>
                </a:solidFill>
                <a:latin typeface="Consolas"/>
                <a:ea typeface="Consolas"/>
                <a:cs typeface="Consolas"/>
                <a:sym typeface="Consolas"/>
              </a:rPr>
              <a:t>, </a:t>
            </a:r>
            <a:r>
              <a:rPr lang="en-US" b="true" i="false" strike="noStrike" u="none" sz="1200">
                <a:solidFill>
                  <a:srgbClr val="2563EB"/>
                </a:solidFill>
                <a:latin typeface="Consolas"/>
                <a:ea typeface="Consolas"/>
                <a:cs typeface="Consolas"/>
                <a:sym typeface="Consolas"/>
              </a:rPr>
              <a:t>"options"</a:t>
            </a:r>
            <a:r>
              <a:rPr lang="en-US" b="false" i="false" strike="noStrike" u="none" sz="1200">
                <a:solidFill>
                  <a:srgbClr val="536174"/>
                </a:solidFill>
                <a:latin typeface="Consolas"/>
                <a:ea typeface="Consolas"/>
                <a:cs typeface="Consolas"/>
                <a:sym typeface="Consolas"/>
              </a:rPr>
              <a:t>: { </a:t>
            </a:r>
            <a:r>
              <a:rPr lang="en-US" b="true" i="false" strike="noStrike" u="none" sz="1200">
                <a:solidFill>
                  <a:srgbClr val="2563EB"/>
                </a:solidFill>
                <a:latin typeface="Consolas"/>
                <a:ea typeface="Consolas"/>
                <a:cs typeface="Consolas"/>
                <a:sym typeface="Consolas"/>
              </a:rPr>
              <a:t>"host"</a:t>
            </a:r>
            <a:r>
              <a:rPr lang="en-US" b="false" i="false" strike="noStrike" u="none" sz="1200">
                <a:solidFill>
                  <a:srgbClr val="536174"/>
                </a:solidFill>
                <a:latin typeface="Consolas"/>
                <a:ea typeface="Consolas"/>
                <a:cs typeface="Consolas"/>
                <a:sym typeface="Consolas"/>
              </a:rPr>
              <a:t>: </a:t>
            </a:r>
            <a:r>
              <a:rPr lang="en-US" b="false" i="false" strike="noStrike" u="none" sz="1200">
                <a:solidFill>
                  <a:srgbClr val="C83232"/>
                </a:solidFill>
                <a:latin typeface="Consolas"/>
                <a:ea typeface="Consolas"/>
                <a:cs typeface="Consolas"/>
                <a:sym typeface="Consolas"/>
              </a:rPr>
              <a:t>"127.0.0.1"</a:t>
            </a:r>
            <a:r>
              <a:rPr lang="en-US" b="false" i="false" strike="noStrike" u="none" sz="1200">
                <a:solidFill>
                  <a:srgbClr val="536174"/>
                </a:solidFill>
                <a:latin typeface="Consolas"/>
                <a:ea typeface="Consolas"/>
                <a:cs typeface="Consolas"/>
                <a:sym typeface="Consolas"/>
              </a:rPr>
              <a:t>, </a:t>
            </a:r>
            <a:r>
              <a:rPr lang="en-US" b="true" i="false" strike="noStrike" u="none" sz="1200">
                <a:solidFill>
                  <a:srgbClr val="2563EB"/>
                </a:solidFill>
                <a:latin typeface="Consolas"/>
                <a:ea typeface="Consolas"/>
                <a:cs typeface="Consolas"/>
                <a:sym typeface="Consolas"/>
              </a:rPr>
              <a:t>"port"</a:t>
            </a:r>
            <a:r>
              <a:rPr lang="en-US" b="false" i="false" strike="noStrike" u="none" sz="1200">
                <a:solidFill>
                  <a:srgbClr val="536174"/>
                </a:solidFill>
                <a:latin typeface="Consolas"/>
                <a:ea typeface="Consolas"/>
                <a:cs typeface="Consolas"/>
                <a:sym typeface="Consolas"/>
              </a:rPr>
              <a:t>: </a:t>
            </a:r>
            <a:r>
              <a:rPr lang="en-US" b="false" i="false" strike="noStrike" u="none" sz="1200">
                <a:solidFill>
                  <a:srgbClr val="C83232"/>
                </a:solidFill>
                <a:latin typeface="Consolas"/>
                <a:ea typeface="Consolas"/>
                <a:cs typeface="Consolas"/>
                <a:sym typeface="Consolas"/>
              </a:rPr>
              <a:t>2525</a:t>
            </a:r>
            <a:r>
              <a:rPr lang="en-US" b="false" i="false" strike="noStrike" u="none" sz="1200">
                <a:solidFill>
                  <a:srgbClr val="536174"/>
                </a:solidFill>
                <a:latin typeface="Consolas"/>
                <a:ea typeface="Consolas"/>
                <a:cs typeface="Consolas"/>
                <a:sym typeface="Consolas"/>
              </a:rPr>
              <a:t> } } </a:t>
            </a:r>
            <a:r>
              <a:rPr lang="en-US" b="false" i="false" strike="noStrike" u="none" sz="1200">
                <a:solidFill>
                  <a:srgbClr val="0D1326"/>
                </a:solidFill>
                <a:latin typeface="Consolas"/>
                <a:ea typeface="Consolas"/>
                <a:cs typeface="Consolas"/>
                <a:sym typeface="Consolas"/>
              </a:rPr>
              <a:t>// 本地假SMTP</a:t>
            </a:r>
            <a:r>
              <a:rPr lang="en-US" b="false" i="false" strike="noStrike" u="none" sz="1200">
                <a:solidFill>
                  <a:srgbClr val="536174"/>
                </a:solidFill>
                <a:latin typeface="Consolas"/>
                <a:ea typeface="Consolas"/>
                <a:cs typeface="Consolas"/>
                <a:sym typeface="Consolas"/>
              </a:rPr>
              <a:t/>
            </a:r>
          </a:p>
          <a:p>
            <a:pPr algn="l" marL="0" indent="0">
              <a:lnSpc>
                <a:spcPct val="133333"/>
              </a:lnSpc>
            </a:pPr>
            <a:r>
              <a:rPr lang="en-US" b="true" i="false" strike="noStrike" u="none" sz="1200">
                <a:solidFill>
                  <a:srgbClr val="2563EB"/>
                </a:solidFill>
                <a:latin typeface="Consolas"/>
                <a:ea typeface="Consolas"/>
                <a:cs typeface="Consolas"/>
                <a:sym typeface="Consolas"/>
              </a:rPr>
              <a:t>"database"</a:t>
            </a:r>
            <a:r>
              <a:rPr lang="en-US" b="false" i="false" strike="noStrike" u="none" sz="1200">
                <a:solidFill>
                  <a:srgbClr val="536174"/>
                </a:solidFill>
                <a:latin typeface="Consolas"/>
                <a:ea typeface="Consolas"/>
                <a:cs typeface="Consolas"/>
                <a:sym typeface="Consolas"/>
              </a:rPr>
              <a:t>: { </a:t>
            </a:r>
            <a:r>
              <a:rPr lang="en-US" b="true" i="false" strike="noStrike" u="none" sz="1200">
                <a:solidFill>
                  <a:srgbClr val="2563EB"/>
                </a:solidFill>
                <a:latin typeface="Consolas"/>
                <a:ea typeface="Consolas"/>
                <a:cs typeface="Consolas"/>
                <a:sym typeface="Consolas"/>
              </a:rPr>
              <a:t>"client"</a:t>
            </a:r>
            <a:r>
              <a:rPr lang="en-US" b="false" i="false" strike="noStrike" u="none" sz="1200">
                <a:solidFill>
                  <a:srgbClr val="536174"/>
                </a:solidFill>
                <a:latin typeface="Consolas"/>
                <a:ea typeface="Consolas"/>
                <a:cs typeface="Consolas"/>
                <a:sym typeface="Consolas"/>
              </a:rPr>
              <a:t>: </a:t>
            </a:r>
            <a:r>
              <a:rPr lang="en-US" b="false" i="false" strike="noStrike" u="none" sz="1200">
                <a:solidFill>
                  <a:srgbClr val="C83232"/>
                </a:solidFill>
                <a:latin typeface="Consolas"/>
                <a:ea typeface="Consolas"/>
                <a:cs typeface="Consolas"/>
                <a:sym typeface="Consolas"/>
              </a:rPr>
              <a:t>"sqlite3"</a:t>
            </a:r>
            <a:r>
              <a:rPr lang="en-US" b="false" i="false" strike="noStrike" u="none" sz="1200">
                <a:solidFill>
                  <a:srgbClr val="536174"/>
                </a:solidFill>
                <a:latin typeface="Consolas"/>
                <a:ea typeface="Consolas"/>
                <a:cs typeface="Consolas"/>
                <a:sym typeface="Consolas"/>
              </a:rPr>
              <a:t>, </a:t>
            </a:r>
            <a:r>
              <a:rPr lang="en-US" b="true" i="false" strike="noStrike" u="none" sz="1200">
                <a:solidFill>
                  <a:srgbClr val="2563EB"/>
                </a:solidFill>
                <a:latin typeface="Consolas"/>
                <a:ea typeface="Consolas"/>
                <a:cs typeface="Consolas"/>
                <a:sym typeface="Consolas"/>
              </a:rPr>
              <a:t>"connection"</a:t>
            </a:r>
            <a:r>
              <a:rPr lang="en-US" b="false" i="false" strike="noStrike" u="none" sz="1200">
                <a:solidFill>
                  <a:srgbClr val="536174"/>
                </a:solidFill>
                <a:latin typeface="Consolas"/>
                <a:ea typeface="Consolas"/>
                <a:cs typeface="Consolas"/>
                <a:sym typeface="Consolas"/>
              </a:rPr>
              <a:t>: { </a:t>
            </a:r>
            <a:r>
              <a:rPr lang="en-US" b="true" i="false" strike="noStrike" u="none" sz="1200">
                <a:solidFill>
                  <a:srgbClr val="2563EB"/>
                </a:solidFill>
                <a:latin typeface="Consolas"/>
                <a:ea typeface="Consolas"/>
                <a:cs typeface="Consolas"/>
                <a:sym typeface="Consolas"/>
              </a:rPr>
              <a:t>"filename"</a:t>
            </a:r>
            <a:r>
              <a:rPr lang="en-US" b="false" i="false" strike="noStrike" u="none" sz="1200">
                <a:solidFill>
                  <a:srgbClr val="536174"/>
                </a:solidFill>
                <a:latin typeface="Consolas"/>
                <a:ea typeface="Consolas"/>
                <a:cs typeface="Consolas"/>
                <a:sym typeface="Consolas"/>
              </a:rPr>
              <a:t>: </a:t>
            </a:r>
            <a:r>
              <a:rPr lang="en-US" b="false" i="false" strike="noStrike" u="none" sz="1200">
                <a:solidFill>
                  <a:srgbClr val="C83232"/>
                </a:solidFill>
                <a:latin typeface="Consolas"/>
                <a:ea typeface="Consolas"/>
                <a:cs typeface="Consolas"/>
                <a:sym typeface="Consolas"/>
              </a:rPr>
              <a:t>"content/data/ghost.db"</a:t>
            </a:r>
            <a:r>
              <a:rPr lang="en-US" b="false" i="false" strike="noStrike" u="none" sz="1200">
                <a:solidFill>
                  <a:srgbClr val="536174"/>
                </a:solidFill>
                <a:latin typeface="Consolas"/>
                <a:ea typeface="Consolas"/>
                <a:cs typeface="Consolas"/>
                <a:sym typeface="Consolas"/>
              </a:rPr>
              <a:t> } }</a:t>
            </a:r>
          </a:p>
        </p:txBody>
      </p:sp>
    </p:spTree>
  </p:cSld>
  <p:clrMapOvr>
    <a:masterClrMapping/>
  </p:clrMapOvr>
</p:sld>
</file>

<file path=ppt/slides/slide16.xml><?xml version="1.0" encoding="utf-8"?>
<p:sld xmlns:p="http://schemas.openxmlformats.org/presentationml/2006/main" xmlns:a="http://schemas.openxmlformats.org/drawingml/2006/main">
  <p:cSld>
    <p:bg>
      <p:bgPr>
        <a:solidFill>
          <a:srgbClr val="F2F4F8">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762000"/>
          </a:xfrm>
          <a:prstGeom prst="roundRect">
            <a:avLst>
              <a:gd name="adj" fmla="val 0"/>
            </a:avLst>
          </a:prstGeom>
          <a:solidFill>
            <a:srgbClr val="0D132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508000" y="152400"/>
            <a:ext cx="7620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200">
                <a:solidFill>
                  <a:srgbClr val="FFFFFF"/>
                </a:solidFill>
                <a:latin typeface="Noto Sans SC"/>
                <a:ea typeface="Noto Sans SC"/>
                <a:cs typeface="Noto Sans SC"/>
                <a:sym typeface="Noto Sans SC"/>
              </a:rPr>
              <a:t>Live Demo 演示流程（5-10分钟）</a:t>
            </a:r>
            <a:endParaRPr lang="en-US" sz="1100"/>
          </a:p>
        </p:txBody>
      </p:sp>
      <p:sp>
        <p:nvSpPr>
          <p:cNvPr name="AutoShape 4" id="4"/>
          <p:cNvSpPr/>
          <p:nvPr/>
        </p:nvSpPr>
        <p:spPr>
          <a:xfrm rot="0" flipH="false" flipV="false">
            <a:off x="9525000" y="228600"/>
            <a:ext cx="2159000" cy="381000"/>
          </a:xfrm>
          <a:prstGeom prst="rect">
            <a:avLst/>
          </a:prstGeom>
          <a:noFill/>
          <a:ln w="12700" cmpd="sng" cap="flat">
            <a:noFill/>
            <a:prstDash val="solid"/>
            <a:round/>
          </a:ln>
        </p:spPr>
        <p:txBody>
          <a:bodyPr anchor="ctr" rtlCol="false" anchorCtr="false" vert="horz" wrap="square" lIns="0" rIns="0" tIns="0" bIns="0"/>
          <a:lstStyle/>
          <a:p>
            <a:pPr algn="r" marL="0" indent="0">
              <a:lnSpc>
                <a:spcPct val="125000"/>
              </a:lnSpc>
              <a:defRPr/>
            </a:pPr>
            <a:r>
              <a:rPr lang="en-US" b="false" i="false" strike="noStrike" u="none" sz="1200">
                <a:solidFill>
                  <a:srgbClr val="BFD7FF"/>
                </a:solidFill>
                <a:latin typeface="Noto Sans SC"/>
                <a:ea typeface="Noto Sans SC"/>
                <a:cs typeface="Noto Sans SC"/>
                <a:sym typeface="Noto Sans SC"/>
              </a:rPr>
              <a:t>实验01 / 共17页</a:t>
            </a:r>
            <a:endParaRPr lang="en-US" sz="1100"/>
          </a:p>
        </p:txBody>
      </p:sp>
      <p:sp>
        <p:nvSpPr>
          <p:cNvPr name="AutoShape 5" id="5"/>
          <p:cNvSpPr/>
          <p:nvPr/>
        </p:nvSpPr>
        <p:spPr>
          <a:xfrm rot="0" flipH="false" flipV="false">
            <a:off x="508000" y="1079500"/>
            <a:ext cx="762000" cy="762000"/>
          </a:xfrm>
          <a:prstGeom prst="roundRect">
            <a:avLst>
              <a:gd name="adj" fmla="val 0"/>
            </a:avLst>
          </a:prstGeom>
          <a:solidFill>
            <a:srgbClr val="2563E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508000" y="1206500"/>
            <a:ext cx="762000" cy="508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2800">
                <a:solidFill>
                  <a:srgbClr val="FFFFFF"/>
                </a:solidFill>
                <a:latin typeface="Noto Sans SC"/>
                <a:ea typeface="Noto Sans SC"/>
                <a:cs typeface="Noto Sans SC"/>
                <a:sym typeface="Noto Sans SC"/>
              </a:rPr>
              <a:t>1</a:t>
            </a:r>
            <a:endParaRPr lang="en-US" sz="1100"/>
          </a:p>
        </p:txBody>
      </p:sp>
      <p:sp>
        <p:nvSpPr>
          <p:cNvPr name="AutoShape 7" id="7"/>
          <p:cNvSpPr/>
          <p:nvPr/>
        </p:nvSpPr>
        <p:spPr>
          <a:xfrm rot="0" flipH="false" flipV="false">
            <a:off x="1524000" y="1143000"/>
            <a:ext cx="10160000" cy="317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0D1326"/>
                </a:solidFill>
                <a:latin typeface="Noto Sans SC"/>
                <a:ea typeface="Noto Sans SC"/>
                <a:cs typeface="Noto Sans SC"/>
                <a:sym typeface="Noto Sans SC"/>
              </a:rPr>
              <a:t>会员登录与搜索（约1分钟）</a:t>
            </a:r>
            <a:endParaRPr lang="en-US" sz="1100"/>
          </a:p>
        </p:txBody>
      </p:sp>
      <p:sp>
        <p:nvSpPr>
          <p:cNvPr name="AutoShape 8" id="8"/>
          <p:cNvSpPr/>
          <p:nvPr/>
        </p:nvSpPr>
        <p:spPr>
          <a:xfrm rot="0" flipH="false" flipV="false">
            <a:off x="1524000" y="1460500"/>
            <a:ext cx="10160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200">
                <a:solidFill>
                  <a:srgbClr val="536174"/>
                </a:solidFill>
                <a:latin typeface="Noto Sans SC"/>
                <a:ea typeface="Noto Sans SC"/>
                <a:cs typeface="Noto Sans SC"/>
                <a:sym typeface="Noto Sans SC"/>
              </a:rPr>
              <a:t>使用会员账号（zhangsan@example.com）登录，搜索中文关键词"数据库"，展示搜索结果和文章跳转</a:t>
            </a:r>
            <a:endParaRPr lang="en-US" sz="1100"/>
          </a:p>
        </p:txBody>
      </p:sp>
      <p:cxnSp>
        <p:nvCxnSpPr>
          <p:cNvPr name="Connector 9" id="9"/>
          <p:cNvCxnSpPr/>
          <p:nvPr/>
        </p:nvCxnSpPr>
        <p:spPr>
          <a:xfrm rot="5262563" flipH="false" flipV="false">
            <a:off x="730250" y="2057527"/>
            <a:ext cx="317500" cy="12700"/>
          </a:xfrm>
          <a:prstGeom prst="straightConnector1">
            <a:avLst/>
          </a:prstGeom>
          <a:solidFill>
            <a:srgbClr val="DEE0E3">
              <a:alpha val="100000"/>
            </a:srgbClr>
          </a:solidFill>
          <a:ln w="25400" cmpd="sng" cap="flat">
            <a:solidFill>
              <a:srgbClr val="BFD7FF">
                <a:alpha val="100000"/>
              </a:srgbClr>
            </a:solidFill>
            <a:prstDash val="solid"/>
            <a:round/>
            <a:headEnd type="none" w="lg" len="lg"/>
            <a:tailEnd type="none" w="lg" len="lg"/>
          </a:ln>
        </p:spPr>
      </p:cxnSp>
      <p:sp>
        <p:nvSpPr>
          <p:cNvPr name="AutoShape 10" id="10"/>
          <p:cNvSpPr/>
          <p:nvPr/>
        </p:nvSpPr>
        <p:spPr>
          <a:xfrm rot="0" flipH="false" flipV="false">
            <a:off x="508000" y="2222500"/>
            <a:ext cx="762000" cy="762000"/>
          </a:xfrm>
          <a:prstGeom prst="roundRect">
            <a:avLst>
              <a:gd name="adj" fmla="val 0"/>
            </a:avLst>
          </a:prstGeom>
          <a:solidFill>
            <a:srgbClr val="0D132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508000" y="2349500"/>
            <a:ext cx="762000" cy="508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2800">
                <a:solidFill>
                  <a:srgbClr val="FFFFFF"/>
                </a:solidFill>
                <a:latin typeface="Noto Sans SC"/>
                <a:ea typeface="Noto Sans SC"/>
                <a:cs typeface="Noto Sans SC"/>
                <a:sym typeface="Noto Sans SC"/>
              </a:rPr>
              <a:t>2</a:t>
            </a:r>
            <a:endParaRPr lang="en-US" sz="1100"/>
          </a:p>
        </p:txBody>
      </p:sp>
      <p:sp>
        <p:nvSpPr>
          <p:cNvPr name="AutoShape 12" id="12"/>
          <p:cNvSpPr/>
          <p:nvPr/>
        </p:nvSpPr>
        <p:spPr>
          <a:xfrm rot="0" flipH="false" flipV="false">
            <a:off x="1524000" y="2286000"/>
            <a:ext cx="10160000" cy="317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0D1326"/>
                </a:solidFill>
                <a:latin typeface="Noto Sans SC"/>
                <a:ea typeface="Noto Sans SC"/>
                <a:cs typeface="Noto Sans SC"/>
                <a:sym typeface="Noto Sans SC"/>
              </a:rPr>
              <a:t>管理员发布文章（约2分钟）</a:t>
            </a:r>
            <a:endParaRPr lang="en-US" sz="1100"/>
          </a:p>
        </p:txBody>
      </p:sp>
      <p:sp>
        <p:nvSpPr>
          <p:cNvPr name="AutoShape 13" id="13"/>
          <p:cNvSpPr/>
          <p:nvPr/>
        </p:nvSpPr>
        <p:spPr>
          <a:xfrm rot="0" flipH="false" flipV="false">
            <a:off x="1524000" y="2603500"/>
            <a:ext cx="10160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200">
                <a:solidFill>
                  <a:srgbClr val="536174"/>
                </a:solidFill>
                <a:latin typeface="Noto Sans SC"/>
                <a:ea typeface="Noto Sans SC"/>
                <a:cs typeface="Noto Sans SC"/>
                <a:sym typeface="Noto Sans SC"/>
              </a:rPr>
              <a:t>切换到管理员（admin@example.com）发布一篇带标签的新文章，返回前台验证文章显示和标签筛选</a:t>
            </a:r>
            <a:endParaRPr lang="en-US" sz="1100"/>
          </a:p>
        </p:txBody>
      </p:sp>
      <p:cxnSp>
        <p:nvCxnSpPr>
          <p:cNvPr name="Connector 14" id="14"/>
          <p:cNvCxnSpPr/>
          <p:nvPr/>
        </p:nvCxnSpPr>
        <p:spPr>
          <a:xfrm rot="5262563" flipH="false" flipV="false">
            <a:off x="730250" y="3200527"/>
            <a:ext cx="317500" cy="12700"/>
          </a:xfrm>
          <a:prstGeom prst="straightConnector1">
            <a:avLst/>
          </a:prstGeom>
          <a:solidFill>
            <a:srgbClr val="DEE0E3">
              <a:alpha val="100000"/>
            </a:srgbClr>
          </a:solidFill>
          <a:ln w="25400" cmpd="sng" cap="flat">
            <a:solidFill>
              <a:srgbClr val="BFD7FF">
                <a:alpha val="100000"/>
              </a:srgbClr>
            </a:solidFill>
            <a:prstDash val="solid"/>
            <a:round/>
            <a:headEnd type="none" w="lg" len="lg"/>
            <a:tailEnd type="none" w="lg" len="lg"/>
          </a:ln>
        </p:spPr>
      </p:cxnSp>
      <p:sp>
        <p:nvSpPr>
          <p:cNvPr name="AutoShape 15" id="15"/>
          <p:cNvSpPr/>
          <p:nvPr/>
        </p:nvSpPr>
        <p:spPr>
          <a:xfrm rot="0" flipH="false" flipV="false">
            <a:off x="508000" y="3365500"/>
            <a:ext cx="762000" cy="762000"/>
          </a:xfrm>
          <a:prstGeom prst="roundRect">
            <a:avLst>
              <a:gd name="adj" fmla="val 0"/>
            </a:avLst>
          </a:prstGeom>
          <a:solidFill>
            <a:srgbClr val="2563E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508000" y="3492500"/>
            <a:ext cx="762000" cy="508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2800">
                <a:solidFill>
                  <a:srgbClr val="FFFFFF"/>
                </a:solidFill>
                <a:latin typeface="Noto Sans SC"/>
                <a:ea typeface="Noto Sans SC"/>
                <a:cs typeface="Noto Sans SC"/>
                <a:sym typeface="Noto Sans SC"/>
              </a:rPr>
              <a:t>3</a:t>
            </a:r>
            <a:endParaRPr lang="en-US" sz="1100"/>
          </a:p>
        </p:txBody>
      </p:sp>
      <p:sp>
        <p:nvSpPr>
          <p:cNvPr name="AutoShape 17" id="17"/>
          <p:cNvSpPr/>
          <p:nvPr/>
        </p:nvSpPr>
        <p:spPr>
          <a:xfrm rot="0" flipH="false" flipV="false">
            <a:off x="1524000" y="3429000"/>
            <a:ext cx="10160000" cy="317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0D1326"/>
                </a:solidFill>
                <a:latin typeface="Noto Sans SC"/>
                <a:ea typeface="Noto Sans SC"/>
                <a:cs typeface="Noto Sans SC"/>
                <a:sym typeface="Noto Sans SC"/>
              </a:rPr>
              <a:t>会员评论与权限展示（约1分钟）</a:t>
            </a:r>
            <a:endParaRPr lang="en-US" sz="1100"/>
          </a:p>
        </p:txBody>
      </p:sp>
      <p:sp>
        <p:nvSpPr>
          <p:cNvPr name="AutoShape 18" id="18"/>
          <p:cNvSpPr/>
          <p:nvPr/>
        </p:nvSpPr>
        <p:spPr>
          <a:xfrm rot="0" flipH="false" flipV="false">
            <a:off x="1524000" y="3746500"/>
            <a:ext cx="10160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200">
                <a:solidFill>
                  <a:srgbClr val="536174"/>
                </a:solidFill>
                <a:latin typeface="Noto Sans SC"/>
                <a:ea typeface="Noto Sans SC"/>
                <a:cs typeface="Noto Sans SC"/>
                <a:sym typeface="Noto Sans SC"/>
              </a:rPr>
              <a:t>会员发表评论，展示评论权限控制；演示匿名用户无法评论的错误状态提示</a:t>
            </a:r>
            <a:endParaRPr lang="en-US" sz="1100"/>
          </a:p>
        </p:txBody>
      </p:sp>
      <p:cxnSp>
        <p:nvCxnSpPr>
          <p:cNvPr name="Connector 19" id="19"/>
          <p:cNvCxnSpPr/>
          <p:nvPr/>
        </p:nvCxnSpPr>
        <p:spPr>
          <a:xfrm rot="5262563" flipH="false" flipV="false">
            <a:off x="730250" y="4343527"/>
            <a:ext cx="317500" cy="12700"/>
          </a:xfrm>
          <a:prstGeom prst="straightConnector1">
            <a:avLst/>
          </a:prstGeom>
          <a:solidFill>
            <a:srgbClr val="DEE0E3">
              <a:alpha val="100000"/>
            </a:srgbClr>
          </a:solidFill>
          <a:ln w="25400" cmpd="sng" cap="flat">
            <a:solidFill>
              <a:srgbClr val="BFD7FF">
                <a:alpha val="100000"/>
              </a:srgbClr>
            </a:solidFill>
            <a:prstDash val="solid"/>
            <a:round/>
            <a:headEnd type="none" w="lg" len="lg"/>
            <a:tailEnd type="none" w="lg" len="lg"/>
          </a:ln>
        </p:spPr>
      </p:cxnSp>
      <p:sp>
        <p:nvSpPr>
          <p:cNvPr name="AutoShape 20" id="20"/>
          <p:cNvSpPr/>
          <p:nvPr/>
        </p:nvSpPr>
        <p:spPr>
          <a:xfrm rot="0" flipH="false" flipV="false">
            <a:off x="508000" y="4508500"/>
            <a:ext cx="762000" cy="762000"/>
          </a:xfrm>
          <a:prstGeom prst="roundRect">
            <a:avLst>
              <a:gd name="adj" fmla="val 0"/>
            </a:avLst>
          </a:prstGeom>
          <a:solidFill>
            <a:srgbClr val="0D132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1" id="21"/>
          <p:cNvSpPr/>
          <p:nvPr/>
        </p:nvSpPr>
        <p:spPr>
          <a:xfrm rot="0" flipH="false" flipV="false">
            <a:off x="508000" y="4635500"/>
            <a:ext cx="762000" cy="508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2800">
                <a:solidFill>
                  <a:srgbClr val="FFFFFF"/>
                </a:solidFill>
                <a:latin typeface="Noto Sans SC"/>
                <a:ea typeface="Noto Sans SC"/>
                <a:cs typeface="Noto Sans SC"/>
                <a:sym typeface="Noto Sans SC"/>
              </a:rPr>
              <a:t>4</a:t>
            </a:r>
            <a:endParaRPr lang="en-US" sz="1100"/>
          </a:p>
        </p:txBody>
      </p:sp>
      <p:sp>
        <p:nvSpPr>
          <p:cNvPr name="AutoShape 22" id="22"/>
          <p:cNvSpPr/>
          <p:nvPr/>
        </p:nvSpPr>
        <p:spPr>
          <a:xfrm rot="0" flipH="false" flipV="false">
            <a:off x="1524000" y="4572000"/>
            <a:ext cx="10160000" cy="317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0D1326"/>
                </a:solidFill>
                <a:latin typeface="Noto Sans SC"/>
                <a:ea typeface="Noto Sans SC"/>
                <a:cs typeface="Noto Sans SC"/>
                <a:sym typeface="Noto Sans SC"/>
              </a:rPr>
              <a:t>自主功能展示（约2分钟）</a:t>
            </a:r>
            <a:endParaRPr lang="en-US" sz="1100"/>
          </a:p>
        </p:txBody>
      </p:sp>
      <p:sp>
        <p:nvSpPr>
          <p:cNvPr name="AutoShape 23" id="23"/>
          <p:cNvSpPr/>
          <p:nvPr/>
        </p:nvSpPr>
        <p:spPr>
          <a:xfrm rot="0" flipH="false" flipV="false">
            <a:off x="1524000" y="4889500"/>
            <a:ext cx="10160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200">
                <a:solidFill>
                  <a:srgbClr val="536174"/>
                </a:solidFill>
                <a:latin typeface="Noto Sans SC"/>
                <a:ea typeface="Noto Sans SC"/>
                <a:cs typeface="Noto Sans SC"/>
                <a:sym typeface="Noto Sans SC"/>
              </a:rPr>
              <a:t>触发相关文章推荐和阅读进度条功能，展示对应Issue、核心代码和测试结果</a:t>
            </a:r>
            <a:endParaRPr lang="en-US" sz="1100"/>
          </a:p>
        </p:txBody>
      </p:sp>
      <p:cxnSp>
        <p:nvCxnSpPr>
          <p:cNvPr name="Connector 24" id="24"/>
          <p:cNvCxnSpPr/>
          <p:nvPr/>
        </p:nvCxnSpPr>
        <p:spPr>
          <a:xfrm rot="5262563" flipH="false" flipV="false">
            <a:off x="730250" y="5486527"/>
            <a:ext cx="317500" cy="12700"/>
          </a:xfrm>
          <a:prstGeom prst="straightConnector1">
            <a:avLst/>
          </a:prstGeom>
          <a:solidFill>
            <a:srgbClr val="DEE0E3">
              <a:alpha val="100000"/>
            </a:srgbClr>
          </a:solidFill>
          <a:ln w="25400" cmpd="sng" cap="flat">
            <a:solidFill>
              <a:srgbClr val="BFD7FF">
                <a:alpha val="100000"/>
              </a:srgbClr>
            </a:solidFill>
            <a:prstDash val="solid"/>
            <a:round/>
            <a:headEnd type="none" w="lg" len="lg"/>
            <a:tailEnd type="none" w="lg" len="lg"/>
          </a:ln>
        </p:spPr>
      </p:cxnSp>
      <p:sp>
        <p:nvSpPr>
          <p:cNvPr name="AutoShape 25" id="25"/>
          <p:cNvSpPr/>
          <p:nvPr/>
        </p:nvSpPr>
        <p:spPr>
          <a:xfrm rot="0" flipH="false" flipV="false">
            <a:off x="508000" y="5651500"/>
            <a:ext cx="762000" cy="762000"/>
          </a:xfrm>
          <a:prstGeom prst="roundRect">
            <a:avLst>
              <a:gd name="adj" fmla="val 0"/>
            </a:avLst>
          </a:prstGeom>
          <a:solidFill>
            <a:srgbClr val="2563E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6" id="26"/>
          <p:cNvSpPr/>
          <p:nvPr/>
        </p:nvSpPr>
        <p:spPr>
          <a:xfrm rot="0" flipH="false" flipV="false">
            <a:off x="508000" y="5778500"/>
            <a:ext cx="762000" cy="508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2800">
                <a:solidFill>
                  <a:srgbClr val="FFFFFF"/>
                </a:solidFill>
                <a:latin typeface="Noto Sans SC"/>
                <a:ea typeface="Noto Sans SC"/>
                <a:cs typeface="Noto Sans SC"/>
                <a:sym typeface="Noto Sans SC"/>
              </a:rPr>
              <a:t>5</a:t>
            </a:r>
            <a:endParaRPr lang="en-US" sz="1100"/>
          </a:p>
        </p:txBody>
      </p:sp>
      <p:sp>
        <p:nvSpPr>
          <p:cNvPr name="AutoShape 27" id="27"/>
          <p:cNvSpPr/>
          <p:nvPr/>
        </p:nvSpPr>
        <p:spPr>
          <a:xfrm rot="0" flipH="false" flipV="false">
            <a:off x="1524000" y="5715000"/>
            <a:ext cx="10160000" cy="317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0D1326"/>
                </a:solidFill>
                <a:latin typeface="Noto Sans SC"/>
                <a:ea typeface="Noto Sans SC"/>
                <a:cs typeface="Noto Sans SC"/>
                <a:sym typeface="Noto Sans SC"/>
              </a:rPr>
              <a:t>Git证据与备份说明（约1分钟）</a:t>
            </a:r>
            <a:endParaRPr lang="en-US" sz="1100"/>
          </a:p>
        </p:txBody>
      </p:sp>
      <p:sp>
        <p:nvSpPr>
          <p:cNvPr name="AutoShape 28" id="28"/>
          <p:cNvSpPr/>
          <p:nvPr/>
        </p:nvSpPr>
        <p:spPr>
          <a:xfrm rot="0" flipH="false" flipV="false">
            <a:off x="1524000" y="6032500"/>
            <a:ext cx="10160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200">
                <a:solidFill>
                  <a:srgbClr val="536174"/>
                </a:solidFill>
                <a:latin typeface="Noto Sans SC"/>
                <a:ea typeface="Noto Sans SC"/>
                <a:cs typeface="Noto Sans SC"/>
                <a:sym typeface="Noto Sans SC"/>
              </a:rPr>
              <a:t>查看Git PR与个人贡献证据，说明数据库备份位置和内容导出恢复方法</a:t>
            </a:r>
            <a:endParaRPr lang="en-US" sz="1100"/>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2F4F8">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762000"/>
          </a:xfrm>
          <a:prstGeom prst="roundRect">
            <a:avLst>
              <a:gd name="adj" fmla="val 0"/>
            </a:avLst>
          </a:prstGeom>
          <a:solidFill>
            <a:srgbClr val="0D132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508000" y="152400"/>
            <a:ext cx="7620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200">
                <a:solidFill>
                  <a:srgbClr val="FFFFFF"/>
                </a:solidFill>
                <a:latin typeface="Noto Sans SC"/>
                <a:ea typeface="Noto Sans SC"/>
                <a:cs typeface="Noto Sans SC"/>
                <a:sym typeface="Noto Sans SC"/>
              </a:rPr>
              <a:t>技术取舍与未解决风险</a:t>
            </a:r>
            <a:endParaRPr lang="en-US" sz="1100"/>
          </a:p>
        </p:txBody>
      </p:sp>
      <p:sp>
        <p:nvSpPr>
          <p:cNvPr name="AutoShape 4" id="4"/>
          <p:cNvSpPr/>
          <p:nvPr/>
        </p:nvSpPr>
        <p:spPr>
          <a:xfrm rot="0" flipH="false" flipV="false">
            <a:off x="9525000" y="228600"/>
            <a:ext cx="2159000" cy="381000"/>
          </a:xfrm>
          <a:prstGeom prst="rect">
            <a:avLst/>
          </a:prstGeom>
          <a:noFill/>
          <a:ln w="12700" cmpd="sng" cap="flat">
            <a:noFill/>
            <a:prstDash val="solid"/>
            <a:round/>
          </a:ln>
        </p:spPr>
        <p:txBody>
          <a:bodyPr anchor="ctr" rtlCol="false" anchorCtr="false" vert="horz" wrap="square" lIns="0" rIns="0" tIns="0" bIns="0"/>
          <a:lstStyle/>
          <a:p>
            <a:pPr algn="r" marL="0" indent="0">
              <a:lnSpc>
                <a:spcPct val="125000"/>
              </a:lnSpc>
              <a:defRPr/>
            </a:pPr>
            <a:r>
              <a:rPr lang="en-US" b="false" i="false" strike="noStrike" u="none" sz="1200">
                <a:solidFill>
                  <a:srgbClr val="BFD7FF"/>
                </a:solidFill>
                <a:latin typeface="Noto Sans SC"/>
                <a:ea typeface="Noto Sans SC"/>
                <a:cs typeface="Noto Sans SC"/>
                <a:sym typeface="Noto Sans SC"/>
              </a:rPr>
              <a:t>实验01 / 共17页</a:t>
            </a:r>
            <a:endParaRPr lang="en-US" sz="1100"/>
          </a:p>
        </p:txBody>
      </p:sp>
      <p:sp>
        <p:nvSpPr>
          <p:cNvPr name="AutoShape 5" id="5"/>
          <p:cNvSpPr/>
          <p:nvPr/>
        </p:nvSpPr>
        <p:spPr>
          <a:xfrm rot="0" flipH="false" flipV="false">
            <a:off x="508000" y="1016000"/>
            <a:ext cx="5334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563EB"/>
                </a:solidFill>
                <a:latin typeface="Noto Sans SC"/>
                <a:ea typeface="Noto Sans SC"/>
                <a:cs typeface="Noto Sans SC"/>
                <a:sym typeface="Noto Sans SC"/>
              </a:rPr>
              <a:t>关键技术取舍</a:t>
            </a:r>
            <a:endParaRPr lang="en-US" sz="1100"/>
          </a:p>
        </p:txBody>
      </p:sp>
      <p:graphicFrame>
        <p:nvGraphicFramePr>
          <p:cNvPr name="Table 6" id="6"/>
          <p:cNvGraphicFramePr>
            <a:graphicFrameLocks noGrp="true"/>
          </p:cNvGraphicFramePr>
          <p:nvPr/>
        </p:nvGraphicFramePr>
        <p:xfrm>
          <a:off x="508000" y="1460500"/>
          <a:ext cx="5334000" cy="2540000"/>
        </p:xfrm>
        <a:graphic>
          <a:graphicData uri="http://schemas.openxmlformats.org/drawingml/2006/table">
            <a:tbl>
              <a:tblPr>
                <a:effectLst/>
              </a:tblPr>
              <a:tblGrid>
                <a:gridCol w="1270000"/>
                <a:gridCol w="2032000"/>
                <a:gridCol w="2032000"/>
              </a:tblGrid>
              <a:tr h="419100">
                <a:tc>
                  <a:txBody>
                    <a:bodyPr anchor="t" rtlCol="false"/>
                    <a:lstStyle/>
                    <a:p>
                      <a:pPr algn="ctr" marL="0" indent="0">
                        <a:lnSpc>
                          <a:spcPct val="100000"/>
                        </a:lnSpc>
                        <a:defRPr/>
                      </a:pPr>
                      <a:r>
                        <a:rPr lang="en-US" b="true" i="false" strike="noStrike" u="none" sz="1100">
                          <a:solidFill>
                            <a:srgbClr val="FFFFFF"/>
                          </a:solidFill>
                          <a:latin typeface="Noto Sans SC"/>
                          <a:ea typeface="Noto Sans SC"/>
                          <a:cs typeface="Noto Sans SC"/>
                          <a:sym typeface="Noto Sans SC"/>
                        </a:rPr>
                        <a:t>决策点</a:t>
                      </a:r>
                      <a:endParaRPr lang="en-US" sz="1100"/>
                    </a:p>
                  </a:txBody>
                  <a:tcPr anchor="ctr" anchorCtr="false" marL="101600" marR="101600" marT="101600" marB="101600">
                    <a:lnL>
                      <a:noFill/>
                    </a:lnL>
                    <a:lnR>
                      <a:noFill/>
                    </a:lnR>
                    <a:lnT>
                      <a:noFill/>
                    </a:lnT>
                    <a:lnB>
                      <a:noFill/>
                    </a:lnB>
                    <a:solidFill>
                      <a:srgbClr val="0D1326">
                        <a:alpha val="100000"/>
                      </a:srgbClr>
                    </a:solidFill>
                  </a:tcPr>
                </a:tc>
                <a:tc>
                  <a:txBody>
                    <a:bodyPr anchor="t" rtlCol="false"/>
                    <a:lstStyle/>
                    <a:p>
                      <a:pPr algn="ctr" marL="0" indent="0">
                        <a:lnSpc>
                          <a:spcPct val="100000"/>
                        </a:lnSpc>
                        <a:defRPr/>
                      </a:pPr>
                      <a:r>
                        <a:rPr lang="en-US" b="true" i="false" strike="noStrike" u="none" sz="1100">
                          <a:solidFill>
                            <a:srgbClr val="FFFFFF"/>
                          </a:solidFill>
                          <a:latin typeface="Noto Sans SC"/>
                          <a:ea typeface="Noto Sans SC"/>
                          <a:cs typeface="Noto Sans SC"/>
                          <a:sym typeface="Noto Sans SC"/>
                        </a:rPr>
                        <a:t>选择方案</a:t>
                      </a:r>
                      <a:endParaRPr lang="en-US" sz="1100"/>
                    </a:p>
                  </a:txBody>
                  <a:tcPr anchor="ctr" anchorCtr="false" marL="101600" marR="101600" marT="101600" marB="101600">
                    <a:lnL>
                      <a:noFill/>
                    </a:lnL>
                    <a:lnR>
                      <a:noFill/>
                    </a:lnR>
                    <a:lnT>
                      <a:noFill/>
                    </a:lnT>
                    <a:lnB>
                      <a:noFill/>
                    </a:lnB>
                    <a:solidFill>
                      <a:srgbClr val="0D1326">
                        <a:alpha val="100000"/>
                      </a:srgbClr>
                    </a:solidFill>
                  </a:tcPr>
                </a:tc>
                <a:tc>
                  <a:txBody>
                    <a:bodyPr anchor="t" rtlCol="false"/>
                    <a:lstStyle/>
                    <a:p>
                      <a:pPr algn="ctr" marL="0" indent="0">
                        <a:lnSpc>
                          <a:spcPct val="100000"/>
                        </a:lnSpc>
                        <a:defRPr/>
                      </a:pPr>
                      <a:r>
                        <a:rPr lang="en-US" b="true" i="false" strike="noStrike" u="none" sz="1100">
                          <a:solidFill>
                            <a:srgbClr val="FFFFFF"/>
                          </a:solidFill>
                          <a:latin typeface="Noto Sans SC"/>
                          <a:ea typeface="Noto Sans SC"/>
                          <a:cs typeface="Noto Sans SC"/>
                          <a:sym typeface="Noto Sans SC"/>
                        </a:rPr>
                        <a:t>放弃方案</a:t>
                      </a:r>
                      <a:endParaRPr lang="en-US" sz="1100"/>
                    </a:p>
                  </a:txBody>
                  <a:tcPr anchor="ctr" anchorCtr="false" marL="101600" marR="101600" marT="101600" marB="101600">
                    <a:lnL>
                      <a:noFill/>
                    </a:lnL>
                    <a:lnR>
                      <a:noFill/>
                    </a:lnR>
                    <a:lnT>
                      <a:noFill/>
                    </a:lnT>
                    <a:lnB>
                      <a:noFill/>
                    </a:lnB>
                    <a:solidFill>
                      <a:srgbClr val="0D1326">
                        <a:alpha val="100000"/>
                      </a:srgbClr>
                    </a:solidFill>
                  </a:tcPr>
                </a:tc>
              </a:tr>
              <a:tr h="533400">
                <a:tc>
                  <a:txBody>
                    <a:bodyPr anchor="t" rtlCol="false"/>
                    <a:lstStyle/>
                    <a:p>
                      <a:pPr algn="ctr" marL="0" indent="0">
                        <a:lnSpc>
                          <a:spcPct val="100000"/>
                        </a:lnSpc>
                        <a:defRPr/>
                      </a:pPr>
                      <a:r>
                        <a:rPr lang="en-US" b="true" i="false" strike="noStrike" u="none" sz="1000">
                          <a:solidFill>
                            <a:srgbClr val="1F2329"/>
                          </a:solidFill>
                          <a:latin typeface="Noto Sans SC"/>
                          <a:ea typeface="Noto Sans SC"/>
                          <a:cs typeface="Noto Sans SC"/>
                          <a:sym typeface="Noto Sans SC"/>
                        </a:rPr>
                        <a:t>开发路线</a:t>
                      </a:r>
                      <a:endParaRPr lang="en-US" sz="1100"/>
                    </a:p>
                  </a:txBody>
                  <a:tcPr anchor="ctr" anchorCtr="false" marL="101600" marR="101600" marT="101600" marB="101600">
                    <a:lnL>
                      <a:noFill/>
                    </a:lnL>
                    <a:lnR>
                      <a:noFill/>
                    </a:lnR>
                    <a:lnT>
                      <a:noFill/>
                    </a:lnT>
                    <a:lnB>
                      <a:noFill/>
                    </a:lnB>
                    <a:noFill/>
                  </a:tcPr>
                </a:tc>
                <a:tc>
                  <a:txBody>
                    <a:bodyPr anchor="t" rtlCol="false"/>
                    <a:lstStyle/>
                    <a:p>
                      <a:pPr algn="ctr" marL="0" indent="0">
                        <a:lnSpc>
                          <a:spcPct val="100000"/>
                        </a:lnSpc>
                        <a:defRPr/>
                      </a:pPr>
                      <a:r>
                        <a:rPr lang="en-US" b="true" i="false" strike="noStrike" u="none" sz="1000">
                          <a:solidFill>
                            <a:srgbClr val="2563EB"/>
                          </a:solidFill>
                          <a:latin typeface="Noto Sans SC"/>
                          <a:ea typeface="Noto Sans SC"/>
                          <a:cs typeface="Noto Sans SC"/>
                          <a:sym typeface="Noto Sans SC"/>
                        </a:rPr>
                        <a:t>Ghost主题层</a:t>
                      </a:r>
                      <a:endParaRPr lang="en-US" sz="1100"/>
                    </a:p>
                  </a:txBody>
                  <a:tcPr anchor="ctr" anchorCtr="false" marL="101600" marR="101600" marT="101600" marB="101600">
                    <a:lnL>
                      <a:noFill/>
                    </a:lnL>
                    <a:lnR>
                      <a:noFill/>
                    </a:lnR>
                    <a:lnT>
                      <a:noFill/>
                    </a:lnT>
                    <a:lnB>
                      <a:noFill/>
                    </a:lnB>
                    <a:noFill/>
                  </a:tcPr>
                </a:tc>
                <a:tc>
                  <a:txBody>
                    <a:bodyPr anchor="t" rtlCol="false"/>
                    <a:lstStyle/>
                    <a:p>
                      <a:pPr algn="ctr" marL="0" indent="0">
                        <a:lnSpc>
                          <a:spcPct val="100000"/>
                        </a:lnSpc>
                        <a:defRPr/>
                      </a:pPr>
                      <a:r>
                        <a:rPr lang="en-US" b="false" i="false" strike="noStrike" u="none" sz="1000">
                          <a:solidFill>
                            <a:srgbClr val="536174"/>
                          </a:solidFill>
                          <a:latin typeface="Noto Sans SC"/>
                          <a:ea typeface="Noto Sans SC"/>
                          <a:cs typeface="Noto Sans SC"/>
                          <a:sym typeface="Noto Sans SC"/>
                        </a:rPr>
                        <a:t>修改Ghost核心</a:t>
                      </a:r>
                      <a:endParaRPr lang="en-US" sz="1100"/>
                    </a:p>
                  </a:txBody>
                  <a:tcPr anchor="ctr" anchorCtr="false" marL="101600" marR="101600" marT="101600" marB="101600">
                    <a:lnL>
                      <a:noFill/>
                    </a:lnL>
                    <a:lnR>
                      <a:noFill/>
                    </a:lnR>
                    <a:lnT>
                      <a:noFill/>
                    </a:lnT>
                    <a:lnB>
                      <a:noFill/>
                    </a:lnB>
                    <a:noFill/>
                  </a:tcPr>
                </a:tc>
              </a:tr>
              <a:tr h="533400">
                <a:tc>
                  <a:txBody>
                    <a:bodyPr anchor="t" rtlCol="false"/>
                    <a:lstStyle/>
                    <a:p>
                      <a:pPr algn="ctr" marL="0" indent="0">
                        <a:lnSpc>
                          <a:spcPct val="100000"/>
                        </a:lnSpc>
                        <a:defRPr/>
                      </a:pPr>
                      <a:r>
                        <a:rPr lang="en-US" b="true" i="false" strike="noStrike" u="none" sz="1000">
                          <a:solidFill>
                            <a:srgbClr val="1F2329"/>
                          </a:solidFill>
                          <a:latin typeface="Noto Sans SC"/>
                          <a:ea typeface="Noto Sans SC"/>
                          <a:cs typeface="Noto Sans SC"/>
                          <a:sym typeface="Noto Sans SC"/>
                        </a:rPr>
                        <a:t>数据库</a:t>
                      </a:r>
                      <a:endParaRPr lang="en-US" sz="1100"/>
                    </a:p>
                  </a:txBody>
                  <a:tcPr anchor="ctr" anchorCtr="false" marL="101600" marR="101600" marT="101600" marB="101600">
                    <a:lnL>
                      <a:noFill/>
                    </a:lnL>
                    <a:lnR>
                      <a:noFill/>
                    </a:lnR>
                    <a:lnT>
                      <a:noFill/>
                    </a:lnT>
                    <a:lnB>
                      <a:noFill/>
                    </a:lnB>
                    <a:noFill/>
                  </a:tcPr>
                </a:tc>
                <a:tc>
                  <a:txBody>
                    <a:bodyPr anchor="t" rtlCol="false"/>
                    <a:lstStyle/>
                    <a:p>
                      <a:pPr algn="ctr" marL="0" indent="0">
                        <a:lnSpc>
                          <a:spcPct val="100000"/>
                        </a:lnSpc>
                        <a:defRPr/>
                      </a:pPr>
                      <a:r>
                        <a:rPr lang="en-US" b="true" i="false" strike="noStrike" u="none" sz="1000">
                          <a:solidFill>
                            <a:srgbClr val="2563EB"/>
                          </a:solidFill>
                          <a:latin typeface="Noto Sans SC"/>
                          <a:ea typeface="Noto Sans SC"/>
                          <a:cs typeface="Noto Sans SC"/>
                          <a:sym typeface="Noto Sans SC"/>
                        </a:rPr>
                        <a:t>SQLite本地</a:t>
                      </a:r>
                      <a:endParaRPr lang="en-US" sz="1100"/>
                    </a:p>
                  </a:txBody>
                  <a:tcPr anchor="ctr" anchorCtr="false" marL="101600" marR="101600" marT="101600" marB="101600">
                    <a:lnL>
                      <a:noFill/>
                    </a:lnL>
                    <a:lnR>
                      <a:noFill/>
                    </a:lnR>
                    <a:lnT>
                      <a:noFill/>
                    </a:lnT>
                    <a:lnB>
                      <a:noFill/>
                    </a:lnB>
                    <a:noFill/>
                  </a:tcPr>
                </a:tc>
                <a:tc>
                  <a:txBody>
                    <a:bodyPr anchor="t" rtlCol="false"/>
                    <a:lstStyle/>
                    <a:p>
                      <a:pPr algn="ctr" marL="0" indent="0">
                        <a:lnSpc>
                          <a:spcPct val="100000"/>
                        </a:lnSpc>
                        <a:defRPr/>
                      </a:pPr>
                      <a:r>
                        <a:rPr lang="en-US" b="false" i="false" strike="noStrike" u="none" sz="1000">
                          <a:solidFill>
                            <a:srgbClr val="536174"/>
                          </a:solidFill>
                          <a:latin typeface="Noto Sans SC"/>
                          <a:ea typeface="Noto Sans SC"/>
                          <a:cs typeface="Noto Sans SC"/>
                          <a:sym typeface="Noto Sans SC"/>
                        </a:rPr>
                        <a:t>MySQL远程</a:t>
                      </a:r>
                      <a:endParaRPr lang="en-US" sz="1100"/>
                    </a:p>
                  </a:txBody>
                  <a:tcPr anchor="ctr" anchorCtr="false" marL="101600" marR="101600" marT="101600" marB="101600">
                    <a:lnL>
                      <a:noFill/>
                    </a:lnL>
                    <a:lnR>
                      <a:noFill/>
                    </a:lnR>
                    <a:lnT>
                      <a:noFill/>
                    </a:lnT>
                    <a:lnB>
                      <a:noFill/>
                    </a:lnB>
                    <a:noFill/>
                  </a:tcPr>
                </a:tc>
              </a:tr>
              <a:tr h="533400">
                <a:tc>
                  <a:txBody>
                    <a:bodyPr anchor="t" rtlCol="false"/>
                    <a:lstStyle/>
                    <a:p>
                      <a:pPr algn="ctr" marL="0" indent="0">
                        <a:lnSpc>
                          <a:spcPct val="100000"/>
                        </a:lnSpc>
                        <a:defRPr/>
                      </a:pPr>
                      <a:r>
                        <a:rPr lang="en-US" b="true" i="false" strike="noStrike" u="none" sz="1000">
                          <a:solidFill>
                            <a:srgbClr val="1F2329"/>
                          </a:solidFill>
                          <a:latin typeface="Noto Sans SC"/>
                          <a:ea typeface="Noto Sans SC"/>
                          <a:cs typeface="Noto Sans SC"/>
                          <a:sym typeface="Noto Sans SC"/>
                        </a:rPr>
                        <a:t>搜索实现</a:t>
                      </a:r>
                      <a:endParaRPr lang="en-US" sz="1100"/>
                    </a:p>
                  </a:txBody>
                  <a:tcPr anchor="ctr" anchorCtr="false" marL="101600" marR="101600" marT="101600" marB="101600">
                    <a:lnL>
                      <a:noFill/>
                    </a:lnL>
                    <a:lnR>
                      <a:noFill/>
                    </a:lnR>
                    <a:lnT>
                      <a:noFill/>
                    </a:lnT>
                    <a:lnB>
                      <a:noFill/>
                    </a:lnB>
                    <a:noFill/>
                  </a:tcPr>
                </a:tc>
                <a:tc>
                  <a:txBody>
                    <a:bodyPr anchor="t" rtlCol="false"/>
                    <a:lstStyle/>
                    <a:p>
                      <a:pPr algn="ctr" marL="0" indent="0">
                        <a:lnSpc>
                          <a:spcPct val="100000"/>
                        </a:lnSpc>
                        <a:defRPr/>
                      </a:pPr>
                      <a:r>
                        <a:rPr lang="en-US" b="true" i="false" strike="noStrike" u="none" sz="1000">
                          <a:solidFill>
                            <a:srgbClr val="2563EB"/>
                          </a:solidFill>
                          <a:latin typeface="Noto Sans SC"/>
                          <a:ea typeface="Noto Sans SC"/>
                          <a:cs typeface="Noto Sans SC"/>
                          <a:sym typeface="Noto Sans SC"/>
                        </a:rPr>
                        <a:t>Ghost原生搜索</a:t>
                      </a:r>
                      <a:endParaRPr lang="en-US" sz="1100"/>
                    </a:p>
                  </a:txBody>
                  <a:tcPr anchor="ctr" anchorCtr="false" marL="101600" marR="101600" marT="101600" marB="101600">
                    <a:lnL>
                      <a:noFill/>
                    </a:lnL>
                    <a:lnR>
                      <a:noFill/>
                    </a:lnR>
                    <a:lnT>
                      <a:noFill/>
                    </a:lnT>
                    <a:lnB>
                      <a:noFill/>
                    </a:lnB>
                    <a:noFill/>
                  </a:tcPr>
                </a:tc>
                <a:tc>
                  <a:txBody>
                    <a:bodyPr anchor="t" rtlCol="false"/>
                    <a:lstStyle/>
                    <a:p>
                      <a:pPr algn="ctr" marL="0" indent="0">
                        <a:lnSpc>
                          <a:spcPct val="100000"/>
                        </a:lnSpc>
                        <a:defRPr/>
                      </a:pPr>
                      <a:r>
                        <a:rPr lang="en-US" b="false" i="false" strike="noStrike" u="none" sz="1000">
                          <a:solidFill>
                            <a:srgbClr val="536174"/>
                          </a:solidFill>
                          <a:latin typeface="Noto Sans SC"/>
                          <a:ea typeface="Noto Sans SC"/>
                          <a:cs typeface="Noto Sans SC"/>
                          <a:sym typeface="Noto Sans SC"/>
                        </a:rPr>
                        <a:t>自建全文索引</a:t>
                      </a:r>
                      <a:endParaRPr lang="en-US" sz="1100"/>
                    </a:p>
                  </a:txBody>
                  <a:tcPr anchor="ctr" anchorCtr="false" marL="101600" marR="101600" marT="101600" marB="101600">
                    <a:lnL>
                      <a:noFill/>
                    </a:lnL>
                    <a:lnR>
                      <a:noFill/>
                    </a:lnR>
                    <a:lnT>
                      <a:noFill/>
                    </a:lnT>
                    <a:lnB>
                      <a:noFill/>
                    </a:lnB>
                    <a:noFill/>
                  </a:tcPr>
                </a:tc>
              </a:tr>
              <a:tr h="520700">
                <a:tc>
                  <a:txBody>
                    <a:bodyPr anchor="t" rtlCol="false"/>
                    <a:lstStyle/>
                    <a:p>
                      <a:pPr algn="ctr" marL="0" indent="0">
                        <a:lnSpc>
                          <a:spcPct val="100000"/>
                        </a:lnSpc>
                        <a:defRPr/>
                      </a:pPr>
                      <a:r>
                        <a:rPr lang="en-US" b="true" i="false" strike="noStrike" u="none" sz="1000">
                          <a:solidFill>
                            <a:srgbClr val="1F2329"/>
                          </a:solidFill>
                          <a:latin typeface="Noto Sans SC"/>
                          <a:ea typeface="Noto Sans SC"/>
                          <a:cs typeface="Noto Sans SC"/>
                          <a:sym typeface="Noto Sans SC"/>
                        </a:rPr>
                        <a:t>邮件服务</a:t>
                      </a:r>
                      <a:endParaRPr lang="en-US" sz="1100"/>
                    </a:p>
                  </a:txBody>
                  <a:tcPr anchor="ctr" anchorCtr="false" marL="101600" marR="101600" marT="101600" marB="101600">
                    <a:lnL>
                      <a:noFill/>
                    </a:lnL>
                    <a:lnR>
                      <a:noFill/>
                    </a:lnR>
                    <a:lnT>
                      <a:noFill/>
                    </a:lnT>
                    <a:lnB>
                      <a:noFill/>
                    </a:lnB>
                    <a:noFill/>
                  </a:tcPr>
                </a:tc>
                <a:tc>
                  <a:txBody>
                    <a:bodyPr anchor="t" rtlCol="false"/>
                    <a:lstStyle/>
                    <a:p>
                      <a:pPr algn="ctr" marL="0" indent="0">
                        <a:lnSpc>
                          <a:spcPct val="100000"/>
                        </a:lnSpc>
                        <a:defRPr/>
                      </a:pPr>
                      <a:r>
                        <a:rPr lang="en-US" b="true" i="false" strike="noStrike" u="none" sz="1000">
                          <a:solidFill>
                            <a:srgbClr val="2563EB"/>
                          </a:solidFill>
                          <a:latin typeface="Noto Sans SC"/>
                          <a:ea typeface="Noto Sans SC"/>
                          <a:cs typeface="Noto Sans SC"/>
                          <a:sym typeface="Noto Sans SC"/>
                        </a:rPr>
                        <a:t>本地假SMTP</a:t>
                      </a:r>
                      <a:endParaRPr lang="en-US" sz="1100"/>
                    </a:p>
                  </a:txBody>
                  <a:tcPr anchor="ctr" anchorCtr="false" marL="101600" marR="101600" marT="101600" marB="101600">
                    <a:lnL>
                      <a:noFill/>
                    </a:lnL>
                    <a:lnR>
                      <a:noFill/>
                    </a:lnR>
                    <a:lnT>
                      <a:noFill/>
                    </a:lnT>
                    <a:lnB>
                      <a:noFill/>
                    </a:lnB>
                    <a:noFill/>
                  </a:tcPr>
                </a:tc>
                <a:tc>
                  <a:txBody>
                    <a:bodyPr anchor="t" rtlCol="false"/>
                    <a:lstStyle/>
                    <a:p>
                      <a:pPr algn="ctr" marL="0" indent="0">
                        <a:lnSpc>
                          <a:spcPct val="100000"/>
                        </a:lnSpc>
                        <a:defRPr/>
                      </a:pPr>
                      <a:r>
                        <a:rPr lang="en-US" b="false" i="false" strike="noStrike" u="none" sz="1000">
                          <a:solidFill>
                            <a:srgbClr val="536174"/>
                          </a:solidFill>
                          <a:latin typeface="Noto Sans SC"/>
                          <a:ea typeface="Noto Sans SC"/>
                          <a:cs typeface="Noto Sans SC"/>
                          <a:sym typeface="Noto Sans SC"/>
                        </a:rPr>
                        <a:t>真实SMTP服务</a:t>
                      </a:r>
                      <a:endParaRPr lang="en-US" sz="1100"/>
                    </a:p>
                  </a:txBody>
                  <a:tcPr anchor="ctr" anchorCtr="false" marL="101600" marR="101600" marT="101600" marB="101600">
                    <a:lnL>
                      <a:noFill/>
                    </a:lnL>
                    <a:lnR>
                      <a:noFill/>
                    </a:lnR>
                    <a:lnT>
                      <a:noFill/>
                    </a:lnT>
                    <a:lnB>
                      <a:noFill/>
                    </a:lnB>
                    <a:noFill/>
                  </a:tcPr>
                </a:tc>
              </a:tr>
            </a:tbl>
          </a:graphicData>
        </a:graphic>
      </p:graphicFrame>
      <p:sp>
        <p:nvSpPr>
          <p:cNvPr name="AutoShape 7" id="7"/>
          <p:cNvSpPr/>
          <p:nvPr/>
        </p:nvSpPr>
        <p:spPr>
          <a:xfrm rot="0" flipH="false" flipV="false">
            <a:off x="6350000" y="1016000"/>
            <a:ext cx="5334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C83232"/>
                </a:solidFill>
                <a:latin typeface="Noto Sans SC"/>
                <a:ea typeface="Noto Sans SC"/>
                <a:cs typeface="Noto Sans SC"/>
                <a:sym typeface="Noto Sans SC"/>
              </a:rPr>
              <a:t>未解决风险与限制</a:t>
            </a:r>
            <a:endParaRPr lang="en-US" sz="1100"/>
          </a:p>
        </p:txBody>
      </p:sp>
      <p:sp>
        <p:nvSpPr>
          <p:cNvPr name="AutoShape 8" id="8"/>
          <p:cNvSpPr/>
          <p:nvPr/>
        </p:nvSpPr>
        <p:spPr>
          <a:xfrm rot="0" flipH="false" flipV="false">
            <a:off x="6350000" y="1460500"/>
            <a:ext cx="5334000" cy="2540000"/>
          </a:xfrm>
          <a:prstGeom prst="roundRect">
            <a:avLst>
              <a:gd name="adj" fmla="val 0"/>
            </a:avLst>
          </a:prstGeom>
          <a:solidFill>
            <a:srgbClr val="FFFFFF">
              <a:alpha val="100000"/>
            </a:srgbClr>
          </a:solidFill>
          <a:ln w="12700" cmpd="sng" cap="flat">
            <a:solidFill>
              <a:srgbClr val="C83232">
                <a:alpha val="30000"/>
              </a:srgbClr>
            </a:solid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6604000" y="1651000"/>
            <a:ext cx="4826000" cy="2159000"/>
          </a:xfrm>
          <a:prstGeom prst="rect">
            <a:avLst/>
          </a:prstGeom>
          <a:noFill/>
          <a:ln w="12700" cmpd="sng" cap="flat">
            <a:noFill/>
            <a:prstDash val="solid"/>
            <a:round/>
          </a:ln>
        </p:spPr>
        <p:txBody>
          <a:bodyPr anchor="ctr" rtlCol="false" anchorCtr="false" vert="horz" wrap="square" lIns="0" rIns="0" tIns="0" bIns="0"/>
          <a:lstStyle/>
          <a:p>
            <a:pPr algn="l" indent="-139700" marL="139700">
              <a:lnSpc>
                <a:spcPct val="125000"/>
              </a:lnSpc>
              <a:buClr>
                <a:srgbClr val="C83232"/>
              </a:buClr>
              <a:buChar char="•"/>
              <a:defRPr/>
            </a:pPr>
            <a:r>
              <a:rPr lang="en-US" b="true" i="false" strike="noStrike" u="none" sz="1100">
                <a:solidFill>
                  <a:srgbClr val="C83232"/>
                </a:solidFill>
                <a:latin typeface="Noto Sans SC"/>
                <a:ea typeface="Noto Sans SC"/>
                <a:cs typeface="Noto Sans SC"/>
                <a:sym typeface="Noto Sans SC"/>
              </a:rPr>
              <a:t>node_modules手动修改</a:t>
            </a:r>
            <a:r>
              <a:rPr lang="en-US" b="false" i="false" strike="noStrike" u="none" sz="1100">
                <a:solidFill>
                  <a:srgbClr val="536174"/>
                </a:solidFill>
                <a:latin typeface="Noto Sans SC"/>
                <a:ea typeface="Noto Sans SC"/>
                <a:cs typeface="Noto Sans SC"/>
                <a:sym typeface="Noto Sans SC"/>
              </a:rPr>
              <a:t>：express-hbs和sqlite3的修复在重新安装依赖后会丢失，需记录修复步骤</a:t>
            </a:r>
            <a:endParaRPr lang="en-US" sz="1100"/>
          </a:p>
          <a:p>
            <a:pPr algn="l" indent="-139700" marL="139700">
              <a:lnSpc>
                <a:spcPct val="125000"/>
              </a:lnSpc>
              <a:buClr>
                <a:srgbClr val="C83232"/>
              </a:buClr>
              <a:buChar char="•"/>
            </a:pPr>
            <a:r>
              <a:rPr lang="en-US" b="true" i="false" strike="noStrike" u="none" sz="1100">
                <a:solidFill>
                  <a:srgbClr val="C83232"/>
                </a:solidFill>
                <a:latin typeface="Noto Sans SC"/>
                <a:ea typeface="Noto Sans SC"/>
                <a:cs typeface="Noto Sans SC"/>
                <a:sym typeface="Noto Sans SC"/>
              </a:rPr>
              <a:t>会员注册流程</a:t>
            </a:r>
            <a:r>
              <a:rPr lang="en-US" b="false" i="false" strike="noStrike" u="none" sz="1100">
                <a:solidFill>
                  <a:srgbClr val="536174"/>
                </a:solidFill>
                <a:latin typeface="Noto Sans SC"/>
                <a:ea typeface="Noto Sans SC"/>
                <a:cs typeface="Noto Sans SC"/>
                <a:sym typeface="Noto Sans SC"/>
              </a:rPr>
              <a:t>：Ghost会员默认魔法链接登录，无传统用户名密码注册，演示时需说明</a:t>
            </a:r>
          </a:p>
          <a:p>
            <a:pPr algn="l" indent="-139700" marL="139700">
              <a:lnSpc>
                <a:spcPct val="125000"/>
              </a:lnSpc>
              <a:buClr>
                <a:srgbClr val="C83232"/>
              </a:buClr>
              <a:buChar char="•"/>
            </a:pPr>
            <a:r>
              <a:rPr lang="en-US" b="true" i="false" strike="noStrike" u="none" sz="1100">
                <a:solidFill>
                  <a:srgbClr val="C83232"/>
                </a:solidFill>
                <a:latin typeface="Noto Sans SC"/>
                <a:ea typeface="Noto Sans SC"/>
                <a:cs typeface="Noto Sans SC"/>
                <a:sym typeface="Noto Sans SC"/>
              </a:rPr>
              <a:t>搜索中文分词</a:t>
            </a:r>
            <a:r>
              <a:rPr lang="en-US" b="false" i="false" strike="noStrike" u="none" sz="1100">
                <a:solidFill>
                  <a:srgbClr val="536174"/>
                </a:solidFill>
                <a:latin typeface="Noto Sans SC"/>
                <a:ea typeface="Noto Sans SC"/>
                <a:cs typeface="Noto Sans SC"/>
                <a:sym typeface="Noto Sans SC"/>
              </a:rPr>
              <a:t>：Ghost原生搜索对中文分词支持有限，长句搜索可能漏匹配</a:t>
            </a:r>
          </a:p>
          <a:p>
            <a:pPr algn="l" indent="-139700" marL="139700">
              <a:lnSpc>
                <a:spcPct val="125000"/>
              </a:lnSpc>
              <a:buClr>
                <a:srgbClr val="C83232"/>
              </a:buClr>
              <a:buChar char="•"/>
            </a:pPr>
            <a:r>
              <a:rPr lang="en-US" b="true" i="false" strike="noStrike" u="none" sz="1100">
                <a:solidFill>
                  <a:srgbClr val="C83232"/>
                </a:solidFill>
                <a:latin typeface="Noto Sans SC"/>
                <a:ea typeface="Noto Sans SC"/>
                <a:cs typeface="Noto Sans SC"/>
                <a:sym typeface="Noto Sans SC"/>
              </a:rPr>
              <a:t>生产环境未验证</a:t>
            </a:r>
            <a:r>
              <a:rPr lang="en-US" b="false" i="false" strike="noStrike" u="none" sz="1100">
                <a:solidFill>
                  <a:srgbClr val="536174"/>
                </a:solidFill>
                <a:latin typeface="Noto Sans SC"/>
                <a:ea typeface="Noto Sans SC"/>
                <a:cs typeface="Noto Sans SC"/>
                <a:sym typeface="Noto Sans SC"/>
              </a:rPr>
              <a:t>：当前仅在本地开发环境验证，生产部署需额外配置SSL和反向代理</a:t>
            </a:r>
          </a:p>
          <a:p>
            <a:pPr algn="l" indent="-139700" marL="139700">
              <a:lnSpc>
                <a:spcPct val="125000"/>
              </a:lnSpc>
              <a:buClr>
                <a:srgbClr val="C83232"/>
              </a:buClr>
              <a:buChar char="•"/>
            </a:pPr>
            <a:r>
              <a:rPr lang="en-US" b="true" i="false" strike="noStrike" u="none" sz="1100">
                <a:solidFill>
                  <a:srgbClr val="C83232"/>
                </a:solidFill>
                <a:latin typeface="Noto Sans SC"/>
                <a:ea typeface="Noto Sans SC"/>
                <a:cs typeface="Noto Sans SC"/>
                <a:sym typeface="Noto Sans SC"/>
              </a:rPr>
              <a:t>GitHub远程未推送</a:t>
            </a:r>
            <a:r>
              <a:rPr lang="en-US" b="false" i="false" strike="noStrike" u="none" sz="1100">
                <a:solidFill>
                  <a:srgbClr val="536174"/>
                </a:solidFill>
                <a:latin typeface="Noto Sans SC"/>
                <a:ea typeface="Noto Sans SC"/>
                <a:cs typeface="Noto Sans SC"/>
                <a:sym typeface="Noto Sans SC"/>
              </a:rPr>
              <a:t>：当前仅有本地Git仓库，需创建远程仓库并推送完整历史</a:t>
            </a:r>
          </a:p>
        </p:txBody>
      </p:sp>
      <p:sp>
        <p:nvSpPr>
          <p:cNvPr name="AutoShape 10" id="10"/>
          <p:cNvSpPr/>
          <p:nvPr/>
        </p:nvSpPr>
        <p:spPr>
          <a:xfrm rot="0" flipH="false" flipV="false">
            <a:off x="508000" y="4318000"/>
            <a:ext cx="11176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0D1326"/>
                </a:solidFill>
                <a:latin typeface="Noto Sans SC"/>
                <a:ea typeface="Noto Sans SC"/>
                <a:cs typeface="Noto Sans SC"/>
                <a:sym typeface="Noto Sans SC"/>
              </a:rPr>
              <a:t>取舍理由说明</a:t>
            </a:r>
            <a:endParaRPr lang="en-US" sz="1100"/>
          </a:p>
        </p:txBody>
      </p:sp>
      <p:sp>
        <p:nvSpPr>
          <p:cNvPr name="AutoShape 11" id="11"/>
          <p:cNvSpPr/>
          <p:nvPr/>
        </p:nvSpPr>
        <p:spPr>
          <a:xfrm rot="0" flipH="false" flipV="false">
            <a:off x="508000" y="4762500"/>
            <a:ext cx="11176000" cy="1778000"/>
          </a:xfrm>
          <a:prstGeom prst="roundRect">
            <a:avLst>
              <a:gd name="adj" fmla="val 0"/>
            </a:avLst>
          </a:prstGeom>
          <a:solidFill>
            <a:srgbClr val="FFFFFF">
              <a:alpha val="100000"/>
            </a:srgbClr>
          </a:solidFill>
          <a:ln w="12700" cmpd="sng" cap="flat">
            <a:solidFill>
              <a:srgbClr val="BFD7FF">
                <a:alpha val="100000"/>
              </a:srgbClr>
            </a:solid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762000" y="4953000"/>
            <a:ext cx="10668000" cy="1397000"/>
          </a:xfrm>
          <a:prstGeom prst="rect">
            <a:avLst/>
          </a:prstGeom>
          <a:noFill/>
          <a:ln w="12700" cmpd="sng" cap="flat">
            <a:noFill/>
            <a:prstDash val="solid"/>
            <a:round/>
          </a:ln>
        </p:spPr>
        <p:txBody>
          <a:bodyPr anchor="ctr" rtlCol="false" anchorCtr="false" vert="horz" wrap="square" lIns="0" rIns="0" tIns="0" bIns="0"/>
          <a:lstStyle/>
          <a:p>
            <a:pPr algn="l" marL="0" indent="0">
              <a:lnSpc>
                <a:spcPct val="150000"/>
              </a:lnSpc>
              <a:defRPr/>
            </a:pPr>
            <a:r>
              <a:rPr lang="en-US" b="true" i="false" strike="noStrike" u="none" sz="1200">
                <a:solidFill>
                  <a:srgbClr val="0D1326"/>
                </a:solidFill>
                <a:latin typeface="Noto Sans SC"/>
                <a:ea typeface="Noto Sans SC"/>
                <a:cs typeface="Noto Sans SC"/>
                <a:sym typeface="Noto Sans SC"/>
              </a:rPr>
              <a:t>为什么选择主题层开发而非修改核心？</a:t>
            </a:r>
            <a:r>
              <a:rPr lang="en-US" b="false" i="false" strike="noStrike" u="none" sz="1200">
                <a:solidFill>
                  <a:srgbClr val="536174"/>
                </a:solidFill>
                <a:latin typeface="Noto Sans SC"/>
                <a:ea typeface="Noto Sans SC"/>
                <a:cs typeface="Noto Sans SC"/>
                <a:sym typeface="Noto Sans SC"/>
              </a:rPr>
              <a:t> Ghost核心代码庞大且频繁更新，修改核心会导致升级困难和维护成本高。主题层开发通过Handlebars模板和Content API访问内容，完全符合Ghost官方推荐的扩展方式，保证了未来升级Ghost版本时的兼容性。</a:t>
            </a:r>
            <a:endParaRPr lang="en-US" sz="1100"/>
          </a:p>
          <a:p>
            <a:pPr algn="l" marL="0" indent="0">
              <a:lnSpc>
                <a:spcPct val="150000"/>
              </a:lnSpc>
            </a:pPr>
            <a:r>
              <a:rPr lang="en-US" b="true" i="false" strike="noStrike" u="none" sz="1200">
                <a:solidFill>
                  <a:srgbClr val="0D1326"/>
                </a:solidFill>
                <a:latin typeface="Noto Sans SC"/>
                <a:ea typeface="Noto Sans SC"/>
                <a:cs typeface="Noto Sans SC"/>
                <a:sym typeface="Noto Sans SC"/>
              </a:rPr>
              <a:t>为什么选择SQLite而非MySQL？</a:t>
            </a:r>
            <a:r>
              <a:rPr lang="en-US" b="false" i="false" strike="noStrike" u="none" sz="1200">
                <a:solidFill>
                  <a:srgbClr val="536174"/>
                </a:solidFill>
                <a:latin typeface="Noto Sans SC"/>
                <a:ea typeface="Noto Sans SC"/>
                <a:cs typeface="Noto Sans SC"/>
                <a:sym typeface="Noto Sans SC"/>
              </a:rPr>
              <a:t> 实验环境为本地单机，SQLite零配置、文件级备份简单，完全满足演示需求。MySQL需要额外安装和配置，增加了环境复杂度，不符合实验"可复现交付"的目标。</a:t>
            </a:r>
          </a:p>
        </p:txBody>
      </p:sp>
      <p:pic>
        <p:nvPicPr>
          <p:cNvPr name="Picture 13" id="13"/>
          <p:cNvPicPr>
            <a:picLocks noChangeAspect="true"/>
          </p:cNvPicPr>
          <p:nvPr/>
        </p:nvPicPr>
        <p:blipFill>
          <a:blip r:embed="rId3"/>
          <a:stretch>
            <a:fillRect/>
          </a:stretch>
        </p:blipFill>
        <p:spPr>
          <a:xfrm>
            <a:off x="10668000" y="6190112"/>
            <a:ext cx="1524000" cy="667888"/>
          </a:xfrm>
          <a:prstGeom prst="rect">
            <a:avLst/>
          </a:prstGeom>
        </p:spPr>
      </p:pic>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file>